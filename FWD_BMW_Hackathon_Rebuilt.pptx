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01 — FWD
TARGET: 20 seconds
SPEAKING NOTES
FWD connects customer evidence to product decisions. The idea is simple: every proposed requirement should come with the customer need, the evidence behind it, and a clear decision owned by the product manager. We are building that workflow for the BMW challenge.
PRESENTER / ACCURACY CUES
This is an independent challenge submission, not an official BMW product. The supplied car image is AI-generated BMW-inspired artwork, not an exact i5 M60 or i7 M70 photograph. Present this deck as concept plus prototype; do not imply completed end-to-end integration.
SOURCE BASIS — NOT SPOKEN
https://github.com/indkhan/vehicle-requirements-ai/blob/a605cee429cb86b4959de425dd818de534ced317/doc/more.md
https://github.com/indkhan/vehicle-requirements-ai/blob/a605cee429cb86b4959de425dd818de534ced317/plan.md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02 — The product planning problem
TARGET: 30 seconds
SPEAKING NOTES
BMW asks teams to turn heterogeneous inputs into actionable customer requirements. Feedback, studies, equipment and market context each play a different role. A complaint does not automatically mean a feature is missing: the feature may exist in another package, or customers may struggle to find it. We need to establish which interpretation the evidence supports before proposing a change.
PRESENTER / ACCURACY CUES
The challenge requires a concept/prototype, structured requirements, an end-to-end workflow and a demonstrable audit trail. The three interpretations are reasoning categories in the plan, not findings from BMW data. Customer requirements are in scope; detailed engineering, homologation and pricing are not.
SOURCE BASIS — NOT SPOKEN
https://github.com/indkhan/vehicle-requirements-ai/blob/a605cee429cb86b4959de425dd818de534ced317/doc/more.md
https://github.com/indkhan/vehicle-requirements-ai/blob/12c1ade5dd3829cd6f48d7336091f954207f161f/backend_plan.md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03 — The FWD workspace
TARGET: 40 seconds
SPEAKING NOTES
The PM starts in one workspace: choose the vehicle, upload the evidence and decide whether to enable Deep Dive. Findings appear around the vehicle and in the evidence graph. Selecting a finding opens its sources, applicability and proposed requirement. The PM can then compare alternatives, edit proposals and explicitly launch Reimagine. Analysis can finish autonomously, but a proposal is not an approval.
PRESENTER / ACCURACY CUES
This slide is an editable concept mockup recreated for the presentation, not an application screenshot. Its panel content is synthetic. The frontend branch documents a G60 i5 M60 exterior reference; the supplied deck artwork is not that exact asset. F1–F5 feature work uses synthetic fixtures. Do not claim that uploaded data has been analyzed.
SOURCE BASIS — NOT SPOKEN
https://github.com/indkhan/vehicle-requirements-ai/blob/a605cee429cb86b4959de425dd818de534ced317/plan.md
https://github.com/indkhan/vehicle-requirements-ai/blob/7f6020d13391bb243741534d8ec18ca2dfe8f2b5/frontend/README.md
https://github.com/indkhan/vehicle-requirements-ai/blob/eca4e883077de5dc33d17dbfaa1d6eef62081bdc/frontend/README.md
https://github.com/indkhan/vehicle-requirements-ai/blob/7f6020d13391bb243741534d8ec18ca2dfe8f2b5/frontend_plan.md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04 — Evidence-to-proposal workflow
TARGET: 30 seconds
SPEAKING NOTES
The run freezes the vehicle context and source snapshot. We normalize evidence, extract findings, optionally investigate the underlying needs and form coherent alternatives. Requirements are drafted and prioritized against the applicable baseline. Reimagine is a separate action on completed proposals. The PM can refine and export selected versions without rewriting the original evidence.
PRESENTER / ACCURACY CUES
This is the target workflow, not a claim that all processing stages are live. Deep Dive defaults to off. Autonomous mode does not require intermediate PM decisions for ordinary preference conflicts. Guided mode is optional. PM approval binds an exact proposal version. Analysis and rendering have separate status.
SOURCE BASIS — NOT SPOKEN
https://github.com/indkhan/vehicle-requirements-ai/blob/a605cee429cb86b4959de425dd818de534ced317/plan.md
https://github.com/indkhan/vehicle-requirements-ai/blob/12c1ade5dd3829cd6f48d7336091f954207f161f/backend_plan.md
https://github.com/indkhan/vehicle-requirements-ai/blob/a605cee429cb86b4959de425dd818de534ced317/backlog.md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05 — Vehicle findings and source detail
TARGET: 35 seconds
SPEAKING NOTES
The vehicle makes the finding easier to locate, while the evidence panel makes it defensible. A tag leads back to exact source records, the applicable equipment baseline, coverage and uncertainty. Negative feedback volume drives the red markers, but the denominator matters. A frequently mentioned issue in a small sample is not automatically a population-wide problem.
PRESENTER / ACCURACY CUES
All labels on this slide are synthetic; no numerical counts have been invented. Counts represent distinct feedback records unless respondent identity supports a people-based measure. One record may mention several parts, so per-part totals cannot be added. External research never increases uploaded-feedback counts or red intensity. The UI must retain list access for non-spatial or unsupported findings.
SOURCE BASIS — NOT SPOKEN
https://github.com/indkhan/vehicle-requirements-ai/blob/7f6020d13391bb243741534d8ec18ca2dfe8f2b5/frontend_plan.md
https://github.com/indkhan/vehicle-requirements-ai/blob/12c1ade5dd3829cd6f48d7336091f954207f161f/backend_plan.md
https://github.com/indkhan/vehicle-requirements-ai/blob/eca4e883077de5dc33d17dbfaa1d6eef62081bdc/frontend/README.md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06 — Deep Dive
TARGET: 30 seconds
SPEAKING NOTES
Deep Dive starts from the underlying customer task rather than blindly implementing a requested feature. It separates capability facts from public experience, checks vehicle and market applicability, and returns approaches with citations, counterevidence and gaps. If research is incomplete, the system should preserve the useful evidence and make the limitation visible.
PRESENTER / ACCURACY CUES
The question is illustrative, not a real BMW finding. No competitor claim is asserted here. Deep Dive is planned backend work with frontend fixture coverage, not live research demonstrated by this review. A source being official does not establish user preference; public opinions do not establish population prevalence.
SOURCE BASIS — NOT SPOKEN
https://github.com/indkhan/vehicle-requirements-ai/blob/12c1ade5dd3829cd6f48d7336091f954207f161f/backend_plan.md
https://github.com/indkhan/vehicle-requirements-ai/blob/7f6020d13391bb243741534d8ec18ca2dfe8f2b5/frontend_plan.md
https://github.com/indkhan/vehicle-requirements-ai/blob/eca4e883077de5dc33d17dbfaa1d6eef62081bdc/frontend/README.md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07 — Coherent alternatives
TARGET: 30 seconds
SPEAKING NOTES
Different users may need different approaches. Before treating feedback as contradictory, the system checks equipment, software, customer tasks and the source context. Where a meaningful difference remains, FWD can propose coherent alternatives with shared needs and explicit tradeoffs. The PM can inspect or regroup the alternatives without changing what customers originally said.
PRESENTER / ACCURACY CUES
These two alternatives are synthetic concepts, not measured regional preferences. Never assign a preference to a geography by stereotype. Autonomous mode can complete alternatives; guided mode can offer a version-bound checkpoint. The original provisional four-variant suggestion is not presented as an implemented limit because the frontend ledger says the backend limit metadata is absent.
SOURCE BASIS — NOT SPOKEN
https://github.com/indkhan/vehicle-requirements-ai/blob/a605cee429cb86b4959de425dd818de534ced317/plan.md
https://github.com/indkhan/vehicle-requirements-ai/blob/12c1ade5dd3829cd6f48d7336091f954207f161f/backend_plan.md
https://github.com/indkhan/vehicle-requirements-ai/blob/7f6020d13391bb243741534d8ec18ca2dfe8f2b5/frontend_plan.md
https://github.com/indkhan/vehicle-requirements-ai/blob/eca4e883077de5dc33d17dbfaa1d6eef62081bdc/doc/frontend/ACCEPTANCE.md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08 — Explainable prioritization
TARGET: 35 seconds
SPEAKING NOTES
Priority has four explicit factors: impact, breadth, the gap in the current offering and future relevance. Our provisional weights are 35, 25, 20 and 20 percent. In this synthetic example, ratings of four, three, four and four produce a score of 75 out of 100. Application code calculates that result. Evidence strength and PM approval remain separate.
PRESENTER / ACCURACY CUES
Formula: 35×I/5 + 25×B/5 + 20×G/5 + 20×F/5. With I=4, B=3, G=4 and F=4, the contributions are 28+15+16+16=75. These weights are a provisional project policy, not a BMW standard. This is not a 75% probability. An unknown factor remains unknown, not zero. Evidence E0 is unsupported for a real decision. No real data has been scored.
SOURCE BASIS — NOT SPOKEN
https://github.com/indkhan/vehicle-requirements-ai/blob/12c1ade5dd3829cd6f48d7336091f954207f161f/backend_plan.md
https://github.com/indkhan/vehicle-requirements-ai/blob/a605cee429cb86b4959de425dd818de534ced317/doc/more.md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09 — A requirement the PM can inspect
TARGET: 40 seconds
SPEAKING NOTES
The requirement card makes the logic inspectable. In this example, the first interpretation assumes a missing control shortcut. A baseline check changes that interpretation: the opportunity becomes discoverability and personalization rather than a completely missing capability. Reducing the gap rating from four to two changes the score from 75 to 67. The requirement still needs real evidence and a usability study before a real decision.
PRESENTER / ACCURACY CUES
This is the supplied brief’s synthetic walkthrough, not a BMW equipment finding. Formula after correction: 35×4/5 + 25×3/5 + 20×2/5 + 20×4/5 = 67. Keep factor rationales, evidence level, assumptions, uncertainty and decision status separate. Future relevance F=3 would yield 63 only as a separately recorded scenario. No validated task-time target is invented. The illustrated assumption needs testing in the selected vehicle/market/horizon.
SOURCE BASIS — NOT SPOKEN
https://github.com/indkhan/vehicle-requirements-ai/blob/a605cee429cb86b4959de425dd818de534ced317/doc/more.md
https://github.com/indkhan/vehicle-requirements-ai/blob/12c1ade5dd3829cd6f48d7336091f954207f161f/backend_plan.md
https://github.com/indkhan/vehicle-requirements-ai/blob/a605cee429cb86b4959de425dd818de534ced317/plan.md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PM review and decision ownership
TARGET: 35 seconds
SPEAKING NOTES
The PM can challenge the interpretation, edit a requirement, or approve, reject or defer it. Each change should preserve who initiated it, when it happened, why it was made and which exact version was affected. An approval of version two must not silently become approval of version three. The audit trail follows the requirement from source evidence through scoring to that decision.
PRESENTER / ACCURACY CUES
This is an illustrative workflow, not an actual recorded PM decision. The challenge requires traceability of content, score, evidence, priority and status changes. The product plan includes version binding, and frontend feature branches exercise these interactions with fixtures. Do not claim tamper-proof storage or fully demonstrated production audit.
SOURCE BASIS — NOT SPOKEN
https://github.com/indkhan/vehicle-requirements-ai/blob/a605cee429cb86b4959de425dd818de534ced317/doc/more.md
https://github.com/indkhan/vehicle-requirements-ai/blob/a605cee429cb86b4959de425dd818de534ced317/plan.md
https://github.com/indkhan/vehicle-requirements-ai/blob/eca4e883077de5dc33d17dbfaa1d6eef62081bdc/doc/frontend/ACCEPTANCE.md
https://github.com/indkhan/vehicle-requirements-ai/blob/eca4e883077de5dc33d17dbfaa1d6eef62081bdc/frontend/README.md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Reimagine
TARGET: 35 seconds
SPEAKING NOTES
Reimagine makes a proposed change easier to discuss while keeping the evidence attached. It is explicitly launched for a selected proposal version. A digital change may be best communicated through an interface preview or annotation rather than new body geometry. Here, the same illustrative exterior is retained and a comfort-control proposal is explained through a synthetic interface comparison.
PRESENTER / ACCURACY CUES
Do not describe the supplied BMW-style image as a generated output of the application. These are presentation mockups. F5 documents static, synthetic annotation assets and version-bound render handling, not geometry generation. The baseline menu and proposed direct entry are not actual BMW interface screenshots or verified product behavior. Renderer failures must not erase proposals; late renders must retain their original version label.
SOURCE BASIS — NOT SPOKEN
https://github.com/indkhan/vehicle-requirements-ai/blob/a605cee429cb86b4959de425dd818de534ced317/plan.md
https://github.com/indkhan/vehicle-requirements-ai/blob/7f6020d13391bb243741534d8ec18ca2dfe8f2b5/frontend_plan.md
https://github.com/indkhan/vehicle-requirements-ai/blob/eca4e883077de5dc33d17dbfaa1d6eef62081bdc/frontend/README.md
https://github.com/indkhan/vehicle-requirements-ai/blob/eca4e883077de5dc33d17dbfaa1d6eef62081bdc/doc/frontend/ACCEPTANCE.md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Architecture
TARGET: 25 seconds
SPEAKING NOTES
The architecture separates responsibilities. The workspace shows the vehicle, evidence and PM actions. FastAPI and PostgreSQL own authorization, identities, counts, scoring and version checks. Temporal coordinates durable stages and bounded AI tasks. The renderer is a separate, version-bound integration. AI can interpret and draft, but cannot change arithmetic rules or approve on behalf of a PM.
PRESENTER / ACCURACY CUES
This is the target architecture, with only parts implemented at the reviewed snapshot. React/TypeScript are in the frontend package. Backend S1 provides the foundation; live downstream routes remain pending. Private S3 and production identity are deployment plans, not configured live services. No separate graph database or autonomous approval is implied.
SOURCE BASIS — NOT SPOKEN
https://github.com/indkhan/vehicle-requirements-ai/blob/12c1ade5dd3829cd6f48d7336091f954207f161f/backend_execution_plan.md
https://github.com/indkhan/vehicle-requirements-ai/blob/12c1ade5dd3829cd6f48d7336091f954207f161f/backend_plan.md
https://github.com/indkhan/vehicle-requirements-ai/blob/12c1ade5dd3829cd6f48d7336091f954207f161f/backend/delivery_status.json
https://github.com/indkhan/vehicle-requirements-ai/blob/12c1ade5dd3829cd6f48d7336091f954207f161f/backend/README.md
https://github.com/indkhan/vehicle-requirements-ai/blob/eca4e883077de5dc33d17dbfaa1d6eef62081bdc/frontend/package.json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Prototype status and demo gate
TARGET: 35 seconds
SPEAKING NOTES
The repository separates what exists from what still needs integration. Frontend feature branches exercise the vehicle workspace, evidence panels, PM interactions and render states with synthetic fixtures. The backend has an API, persistence and durable-workflow foundation. The next meaningful proof is one real derivative in one supported market: a source-backed finding, an inspectable requirement, and a PM decision preserved in the audit and export.
PRESENTER / ACCURACY CUES
Status is derived from repository files, not a fresh execution of its application tests. Main a605cee; frontend 7f6020d; backend 12c1ade; cumulative frontend F5 eca4e88; ingestion branch e128bf8. F5 acceptance distinguishes frontend verification from unavailable live dependencies. Backend status reports S1 merged, S2 in progress and S3–S6 not started; the inspected activity still stops at foundation_ready. Select the real demonstration vehicle/market from the actual evidence. The deck uses no inferred customer totals or real findings.
SOURCE BASIS — NOT SPOKEN
https://github.com/indkhan/vehicle-requirements-ai/blob/7f6020d13391bb243741534d8ec18ca2dfe8f2b5/frontend/README.md
https://github.com/indkhan/vehicle-requirements-ai/blob/eca4e883077de5dc33d17dbfaa1d6eef62081bdc/frontend/README.md
https://github.com/indkhan/vehicle-requirements-ai/blob/eca4e883077de5dc33d17dbfaa1d6eef62081bdc/doc/frontend/ACCEPTANCE.md
https://github.com/indkhan/vehicle-requirements-ai/blob/12c1ade5dd3829cd6f48d7336091f954207f161f/backend/delivery_status.json
https://github.com/indkhan/vehicle-requirements-ai/blob/12c1ade5dd3829cd6f48d7336091f954207f161f/backend/README.md
https://github.com/indkhan/vehicle-requirements-ai/blob/e128bf8364c93bd73c2f60388583993202950bb2/backend/app/activities.py
https://github.com/indkhan/vehicle-requirements-ai/blob/a605cee429cb86b4959de425dd818de534ced317/doc/more.md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Closing
TARGET: 25 seconds
SPEAKING NOTES
The value of FWD is the connected chain: understand the customer need, compare defensible alternatives, make the proposal tangible and record the PM decision. A requirement should not arrive as an isolated AI answer. It should arrive with its evidence attached. Our next proof is one real vehicle case, one traceable requirement and one accountable PM decision.
PRESENTER / ACCURACY CUES
Close on intended value, not invented time savings, customer traction or completed integrations. This is an independent BMW challenge submission. Continuous monitoring, source refresh and a separate comparison dashboard remain deferred. SOURCE REVIEW LIMITATION: the readable Markdown challenge brief, plans, status/acceptance files and selected branch code were reviewed. The binary BMW_Hackathon_Briefing_Short.pdf, BMW keynote PPTX, annual-report PDF and source workbooks were not retrieved or analyzed. No claims in this deck are based on those unread binaries.
SOURCE BASIS — NOT SPOKEN
https://github.com/indkhan/vehicle-requirements-ai/blob/a605cee429cb86b4959de425dd818de534ced317/doc/more.md
https://github.com/indkhan/vehicle-requirements-ai/blob/a605cee429cb86b4959de425dd818de534ced317/plan.md
https://github.com/indkhan/vehicle-requirements-ai/blob/a605cee429cb86b4959de425dd818de534ced317/backlog.md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7F8F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21B"/>
        </a:solidFill>
      </p:bgPr>
    </p:bg>
    <p:spTree>
      <p:nvGrpSpPr>
        <p:cNvPr id="1" name=""/>
        <p:cNvGrpSpPr/>
        <p:nvPr/>
      </p:nvGrpSpPr>
      <p:grpSpPr>
        <a:xfrm>
          <a:off x="0" y="0"/>
          <a:ext cx="0" cy="0"/>
          <a:chOff x="0" y="0"/>
          <a:chExt cx="0" cy="0"/>
        </a:xfrm>
      </p:grpSpPr>
      <p:pic>
        <p:nvPicPr>
          <p:cNvPr id="2" name="Image 0" descr="/mnt/data/fwd_rebuild/assets/cover_background.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Inter" pitchFamily="34" charset="0"/>
                <a:ea typeface="Inter" pitchFamily="34" charset="-122"/>
                <a:cs typeface="Inter" pitchFamily="34" charset="-120"/>
              </a:rPr>
              <a:t>FWD</a:t>
            </a:r>
            <a:endParaRPr lang="en-US" sz="1500" dirty="0"/>
          </a:p>
        </p:txBody>
      </p:sp>
      <p:sp>
        <p:nvSpPr>
          <p:cNvPr id="4" name="Shape 1"/>
          <p:cNvSpPr/>
          <p:nvPr/>
        </p:nvSpPr>
        <p:spPr>
          <a:xfrm>
            <a:off x="1280160" y="228600"/>
            <a:ext cx="100584" cy="219456"/>
          </a:xfrm>
          <a:prstGeom prst="line">
            <a:avLst/>
          </a:prstGeom>
          <a:noFill/>
          <a:ln w="35560">
            <a:solidFill>
              <a:srgbClr val="2863EB"/>
            </a:solidFill>
            <a:prstDash val="solid"/>
          </a:ln>
        </p:spPr>
      </p:sp>
      <p:sp>
        <p:nvSpPr>
          <p:cNvPr id="5" name="Shape 2"/>
          <p:cNvSpPr/>
          <p:nvPr/>
        </p:nvSpPr>
        <p:spPr>
          <a:xfrm>
            <a:off x="1408176" y="228600"/>
            <a:ext cx="100584" cy="219456"/>
          </a:xfrm>
          <a:prstGeom prst="line">
            <a:avLst/>
          </a:prstGeom>
          <a:noFill/>
          <a:ln w="35560">
            <a:solidFill>
              <a:srgbClr val="2863EB"/>
            </a:solidFill>
            <a:prstDash val="solid"/>
          </a:ln>
        </p:spPr>
      </p:sp>
      <p:sp>
        <p:nvSpPr>
          <p:cNvPr id="6"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A9B7CB"/>
                </a:solidFill>
                <a:latin typeface="Inter" pitchFamily="34" charset="0"/>
                <a:ea typeface="Inter" pitchFamily="34" charset="-122"/>
                <a:cs typeface="Inter" pitchFamily="34" charset="-120"/>
              </a:rPr>
              <a:t>AI VEHICLE REQUIREMENTS LAB</a:t>
            </a:r>
            <a:endParaRPr lang="en-US" sz="940" dirty="0"/>
          </a:p>
        </p:txBody>
      </p:sp>
      <p:sp>
        <p:nvSpPr>
          <p:cNvPr id="7" name="Text 4"/>
          <p:cNvSpPr/>
          <p:nvPr/>
        </p:nvSpPr>
        <p:spPr>
          <a:xfrm>
            <a:off x="539496" y="1042416"/>
            <a:ext cx="5852160" cy="1133856"/>
          </a:xfrm>
          <a:prstGeom prst="rect">
            <a:avLst/>
          </a:prstGeom>
          <a:noFill/>
          <a:ln/>
        </p:spPr>
        <p:txBody>
          <a:bodyPr wrap="square" lIns="0" tIns="0" rIns="0" bIns="0" rtlCol="0" anchor="ctr">
            <a:normAutofit/>
          </a:bodyPr>
          <a:lstStyle/>
          <a:p>
            <a:pPr indent="0" marL="0">
              <a:buNone/>
            </a:pPr>
            <a:r>
              <a:rPr lang="en-US" sz="8600" b="1" spc="-200" kern="0" dirty="0">
                <a:solidFill>
                  <a:srgbClr val="FFFFFF"/>
                </a:solidFill>
                <a:latin typeface="Inter" pitchFamily="34" charset="0"/>
                <a:ea typeface="Inter" pitchFamily="34" charset="-122"/>
                <a:cs typeface="Inter" pitchFamily="34" charset="-120"/>
              </a:rPr>
              <a:t>FWD</a:t>
            </a:r>
            <a:endParaRPr lang="en-US" sz="8600" dirty="0"/>
          </a:p>
        </p:txBody>
      </p:sp>
      <p:sp>
        <p:nvSpPr>
          <p:cNvPr id="8" name="Text 5"/>
          <p:cNvSpPr/>
          <p:nvPr/>
        </p:nvSpPr>
        <p:spPr>
          <a:xfrm>
            <a:off x="594360" y="2468880"/>
            <a:ext cx="4983480" cy="1152144"/>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Inter" pitchFamily="34" charset="0"/>
                <a:ea typeface="Inter" pitchFamily="34" charset="-122"/>
                <a:cs typeface="Inter" pitchFamily="34" charset="-120"/>
              </a:rPr>
              <a:t>From customer evidence</a:t>
            </a:r>
            <a:endParaRPr lang="en-US" sz="2900" dirty="0"/>
          </a:p>
          <a:p>
            <a:pPr indent="0" marL="0">
              <a:buNone/>
            </a:pPr>
            <a:r>
              <a:rPr lang="en-US" sz="2900" b="1" dirty="0">
                <a:solidFill>
                  <a:srgbClr val="FFFFFF"/>
                </a:solidFill>
                <a:latin typeface="Inter" pitchFamily="34" charset="0"/>
                <a:ea typeface="Inter" pitchFamily="34" charset="-122"/>
                <a:cs typeface="Inter" pitchFamily="34" charset="-120"/>
              </a:rPr>
              <a:t>to product decisions.</a:t>
            </a:r>
            <a:endParaRPr lang="en-US" sz="2900" dirty="0"/>
          </a:p>
        </p:txBody>
      </p:sp>
      <p:sp>
        <p:nvSpPr>
          <p:cNvPr id="9" name="Text 6"/>
          <p:cNvSpPr/>
          <p:nvPr/>
        </p:nvSpPr>
        <p:spPr>
          <a:xfrm>
            <a:off x="612648" y="4005072"/>
            <a:ext cx="3931920" cy="713232"/>
          </a:xfrm>
          <a:prstGeom prst="rect">
            <a:avLst/>
          </a:prstGeom>
          <a:noFill/>
          <a:ln/>
        </p:spPr>
        <p:txBody>
          <a:bodyPr wrap="square" lIns="0" tIns="0" rIns="0" bIns="0" rtlCol="0" anchor="ctr">
            <a:normAutofit/>
          </a:bodyPr>
          <a:lstStyle/>
          <a:p>
            <a:pPr indent="0" marL="0">
              <a:buNone/>
            </a:pPr>
            <a:r>
              <a:rPr lang="en-US" sz="1850" dirty="0">
                <a:solidFill>
                  <a:srgbClr val="B9C8DC"/>
                </a:solidFill>
                <a:latin typeface="Inter" pitchFamily="34" charset="0"/>
                <a:ea typeface="Inter" pitchFamily="34" charset="-122"/>
                <a:cs typeface="Inter" pitchFamily="34" charset="-120"/>
              </a:rPr>
              <a:t>Explainable proposals.</a:t>
            </a:r>
            <a:endParaRPr lang="en-US" sz="1850" dirty="0"/>
          </a:p>
          <a:p>
            <a:pPr indent="0" marL="0">
              <a:buNone/>
            </a:pPr>
            <a:r>
              <a:rPr lang="en-US" sz="1850" dirty="0">
                <a:solidFill>
                  <a:srgbClr val="B9C8DC"/>
                </a:solidFill>
                <a:latin typeface="Inter" pitchFamily="34" charset="0"/>
                <a:ea typeface="Inter" pitchFamily="34" charset="-122"/>
                <a:cs typeface="Inter" pitchFamily="34" charset="-120"/>
              </a:rPr>
              <a:t>Product manager ownership.</a:t>
            </a:r>
            <a:endParaRPr lang="en-US" sz="1850" dirty="0"/>
          </a:p>
        </p:txBody>
      </p:sp>
      <p:sp>
        <p:nvSpPr>
          <p:cNvPr id="10" name="Shape 7"/>
          <p:cNvSpPr/>
          <p:nvPr/>
        </p:nvSpPr>
        <p:spPr>
          <a:xfrm>
            <a:off x="612648" y="5166360"/>
            <a:ext cx="1307592" cy="0"/>
          </a:xfrm>
          <a:prstGeom prst="line">
            <a:avLst/>
          </a:prstGeom>
          <a:noFill/>
          <a:ln w="50800">
            <a:solidFill>
              <a:srgbClr val="2863EB"/>
            </a:solidFill>
            <a:prstDash val="solid"/>
          </a:ln>
        </p:spPr>
      </p:sp>
      <p:sp>
        <p:nvSpPr>
          <p:cNvPr id="11" name="Text 8"/>
          <p:cNvSpPr/>
          <p:nvPr/>
        </p:nvSpPr>
        <p:spPr>
          <a:xfrm>
            <a:off x="612648" y="5431536"/>
            <a:ext cx="3931920" cy="265176"/>
          </a:xfrm>
          <a:prstGeom prst="rect">
            <a:avLst/>
          </a:prstGeom>
          <a:noFill/>
          <a:ln/>
        </p:spPr>
        <p:txBody>
          <a:bodyPr wrap="square" lIns="0" tIns="0" rIns="0" bIns="0" rtlCol="0" anchor="ctr">
            <a:normAutofit/>
          </a:bodyPr>
          <a:lstStyle/>
          <a:p>
            <a:pPr indent="0" marL="0">
              <a:buNone/>
            </a:pPr>
            <a:r>
              <a:rPr lang="en-US" sz="1200" b="1" spc="170" kern="0" dirty="0">
                <a:solidFill>
                  <a:srgbClr val="D7E0ED"/>
                </a:solidFill>
                <a:latin typeface="Inter" pitchFamily="34" charset="0"/>
                <a:ea typeface="Inter" pitchFamily="34" charset="-122"/>
                <a:cs typeface="Inter" pitchFamily="34" charset="-120"/>
              </a:rPr>
              <a:t>BMW HACKATHON</a:t>
            </a:r>
            <a:endParaRPr lang="en-US" sz="1200" dirty="0"/>
          </a:p>
        </p:txBody>
      </p:sp>
      <p:pic>
        <p:nvPicPr>
          <p:cNvPr id="12" name="Image 1" descr="/mnt/data/fwd_rebuild/assets/bmw_illustrative_cutout.png">    </p:cNvPr>
          <p:cNvPicPr>
            <a:picLocks noChangeAspect="1"/>
          </p:cNvPicPr>
          <p:nvPr/>
        </p:nvPicPr>
        <p:blipFill>
          <a:blip r:embed="rId2"/>
          <a:stretch>
            <a:fillRect/>
          </a:stretch>
        </p:blipFill>
        <p:spPr>
          <a:xfrm>
            <a:off x="4334256" y="2221992"/>
            <a:ext cx="7562088" cy="3576805"/>
          </a:xfrm>
          <a:prstGeom prst="rect">
            <a:avLst/>
          </a:prstGeom>
        </p:spPr>
      </p:pic>
      <p:sp>
        <p:nvSpPr>
          <p:cNvPr id="13" name="Text 9"/>
          <p:cNvSpPr/>
          <p:nvPr/>
        </p:nvSpPr>
        <p:spPr>
          <a:xfrm>
            <a:off x="7269480" y="6044184"/>
            <a:ext cx="4279392" cy="201168"/>
          </a:xfrm>
          <a:prstGeom prst="rect">
            <a:avLst/>
          </a:prstGeom>
          <a:noFill/>
          <a:ln/>
        </p:spPr>
        <p:txBody>
          <a:bodyPr wrap="square" lIns="0" tIns="0" rIns="0" bIns="0" rtlCol="0" anchor="ctr">
            <a:normAutofit/>
          </a:bodyPr>
          <a:lstStyle/>
          <a:p>
            <a:pPr algn="r" indent="0" marL="0">
              <a:buNone/>
            </a:pPr>
            <a:r>
              <a:rPr lang="en-US" sz="890" dirty="0">
                <a:solidFill>
                  <a:srgbClr val="91A2B9"/>
                </a:solidFill>
                <a:latin typeface="Inter" pitchFamily="34" charset="0"/>
                <a:ea typeface="Inter" pitchFamily="34" charset="-122"/>
                <a:cs typeface="Inter" pitchFamily="34" charset="-120"/>
              </a:rPr>
              <a:t>BMW-inspired AI illustration • not an exact vehicle model</a:t>
            </a:r>
            <a:endParaRPr lang="en-US" sz="890" dirty="0"/>
          </a:p>
        </p:txBody>
      </p:sp>
      <p:sp>
        <p:nvSpPr>
          <p:cNvPr id="14" name="Shape 10"/>
          <p:cNvSpPr/>
          <p:nvPr/>
        </p:nvSpPr>
        <p:spPr>
          <a:xfrm>
            <a:off x="548640" y="6409944"/>
            <a:ext cx="11091672" cy="0"/>
          </a:xfrm>
          <a:prstGeom prst="line">
            <a:avLst/>
          </a:prstGeom>
          <a:noFill/>
          <a:ln w="9525">
            <a:solidFill>
              <a:srgbClr val="2B394B"/>
            </a:solidFill>
            <a:prstDash val="solid"/>
          </a:ln>
        </p:spPr>
      </p:sp>
      <p:sp>
        <p:nvSpPr>
          <p:cNvPr id="15" name="Text 11"/>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90A0B7"/>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6" name="Text 12"/>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90A0B7"/>
                </a:solidFill>
                <a:latin typeface="Inter" pitchFamily="34" charset="0"/>
                <a:ea typeface="Inter" pitchFamily="34" charset="-122"/>
                <a:cs typeface="Inter" pitchFamily="34" charset="-120"/>
              </a:rPr>
              <a:t>01 / 14</a:t>
            </a:r>
            <a:endParaRPr lang="en-US" sz="8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THE CHALLENGE</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A complaint is not yet a requirement.</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The same feedback can point to very different product decisions.</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02 / 14</a:t>
            </a:r>
            <a:endParaRPr lang="en-US" sz="890" dirty="0"/>
          </a:p>
        </p:txBody>
      </p:sp>
      <p:sp>
        <p:nvSpPr>
          <p:cNvPr id="12" name="Shape 10"/>
          <p:cNvSpPr/>
          <p:nvPr/>
        </p:nvSpPr>
        <p:spPr>
          <a:xfrm>
            <a:off x="685800" y="2514600"/>
            <a:ext cx="438912" cy="557784"/>
          </a:xfrm>
          <a:prstGeom prst="rect">
            <a:avLst/>
          </a:prstGeom>
          <a:solidFill>
            <a:srgbClr val="FFFFFF"/>
          </a:solidFill>
          <a:ln w="10160">
            <a:solidFill>
              <a:srgbClr val="DCE3EC"/>
            </a:solidFill>
            <a:prstDash val="solid"/>
          </a:ln>
        </p:spPr>
      </p:sp>
      <p:sp>
        <p:nvSpPr>
          <p:cNvPr id="13" name="Shape 11"/>
          <p:cNvSpPr/>
          <p:nvPr/>
        </p:nvSpPr>
        <p:spPr>
          <a:xfrm>
            <a:off x="786384" y="2679192"/>
            <a:ext cx="228600" cy="0"/>
          </a:xfrm>
          <a:prstGeom prst="line">
            <a:avLst/>
          </a:prstGeom>
          <a:noFill/>
          <a:ln w="17780">
            <a:solidFill>
              <a:srgbClr val="2863EB"/>
            </a:solidFill>
            <a:prstDash val="solid"/>
          </a:ln>
        </p:spPr>
      </p:sp>
      <p:sp>
        <p:nvSpPr>
          <p:cNvPr id="14" name="Shape 12"/>
          <p:cNvSpPr/>
          <p:nvPr/>
        </p:nvSpPr>
        <p:spPr>
          <a:xfrm>
            <a:off x="786384" y="2788920"/>
            <a:ext cx="210312" cy="0"/>
          </a:xfrm>
          <a:prstGeom prst="line">
            <a:avLst/>
          </a:prstGeom>
          <a:noFill/>
          <a:ln w="15240">
            <a:solidFill>
              <a:srgbClr val="DCE3EC"/>
            </a:solidFill>
            <a:prstDash val="solid"/>
          </a:ln>
        </p:spPr>
      </p:sp>
      <p:sp>
        <p:nvSpPr>
          <p:cNvPr id="15" name="Shape 13"/>
          <p:cNvSpPr/>
          <p:nvPr/>
        </p:nvSpPr>
        <p:spPr>
          <a:xfrm>
            <a:off x="786384" y="2889504"/>
            <a:ext cx="164592" cy="0"/>
          </a:xfrm>
          <a:prstGeom prst="line">
            <a:avLst/>
          </a:prstGeom>
          <a:noFill/>
          <a:ln w="15240">
            <a:solidFill>
              <a:srgbClr val="DCE3EC"/>
            </a:solidFill>
            <a:prstDash val="solid"/>
          </a:ln>
        </p:spPr>
      </p:sp>
      <p:sp>
        <p:nvSpPr>
          <p:cNvPr id="16" name="Text 14"/>
          <p:cNvSpPr/>
          <p:nvPr/>
        </p:nvSpPr>
        <p:spPr>
          <a:xfrm>
            <a:off x="1280160" y="2551176"/>
            <a:ext cx="1828800" cy="502920"/>
          </a:xfrm>
          <a:prstGeom prst="rect">
            <a:avLst/>
          </a:prstGeom>
          <a:noFill/>
          <a:ln/>
        </p:spPr>
        <p:txBody>
          <a:bodyPr wrap="square" lIns="0" tIns="0" rIns="0" bIns="0" rtlCol="0" anchor="ctr">
            <a:normAutofit/>
          </a:bodyPr>
          <a:lstStyle/>
          <a:p>
            <a:pPr indent="0" marL="0">
              <a:buNone/>
            </a:pPr>
            <a:r>
              <a:rPr lang="en-US" sz="1800" b="1" dirty="0">
                <a:solidFill>
                  <a:srgbClr val="131C29"/>
                </a:solidFill>
                <a:latin typeface="Inter" pitchFamily="34" charset="0"/>
                <a:ea typeface="Inter" pitchFamily="34" charset="-122"/>
                <a:cs typeface="Inter" pitchFamily="34" charset="-120"/>
              </a:rPr>
              <a:t>Customer</a:t>
            </a:r>
            <a:endParaRPr lang="en-US" sz="1800" dirty="0"/>
          </a:p>
          <a:p>
            <a:pPr indent="0" marL="0">
              <a:buNone/>
            </a:pPr>
            <a:r>
              <a:rPr lang="en-US" sz="1800" b="1" dirty="0">
                <a:solidFill>
                  <a:srgbClr val="131C29"/>
                </a:solidFill>
                <a:latin typeface="Inter" pitchFamily="34" charset="0"/>
                <a:ea typeface="Inter" pitchFamily="34" charset="-122"/>
                <a:cs typeface="Inter" pitchFamily="34" charset="-120"/>
              </a:rPr>
              <a:t>feedback</a:t>
            </a:r>
            <a:endParaRPr lang="en-US" sz="1800" dirty="0"/>
          </a:p>
        </p:txBody>
      </p:sp>
      <p:sp>
        <p:nvSpPr>
          <p:cNvPr id="17" name="Shape 15"/>
          <p:cNvSpPr/>
          <p:nvPr/>
        </p:nvSpPr>
        <p:spPr>
          <a:xfrm>
            <a:off x="1719072" y="3200400"/>
            <a:ext cx="0" cy="365760"/>
          </a:xfrm>
          <a:prstGeom prst="line">
            <a:avLst/>
          </a:prstGeom>
          <a:noFill/>
          <a:ln w="16510">
            <a:solidFill>
              <a:srgbClr val="DCE3EC"/>
            </a:solidFill>
            <a:prstDash val="solid"/>
          </a:ln>
        </p:spPr>
      </p:sp>
      <p:sp>
        <p:nvSpPr>
          <p:cNvPr id="18" name="Shape 16"/>
          <p:cNvSpPr/>
          <p:nvPr/>
        </p:nvSpPr>
        <p:spPr>
          <a:xfrm>
            <a:off x="3429000" y="2514600"/>
            <a:ext cx="438912" cy="557784"/>
          </a:xfrm>
          <a:prstGeom prst="rect">
            <a:avLst/>
          </a:prstGeom>
          <a:solidFill>
            <a:srgbClr val="FFFFFF"/>
          </a:solidFill>
          <a:ln w="10160">
            <a:solidFill>
              <a:srgbClr val="DCE3EC"/>
            </a:solidFill>
            <a:prstDash val="solid"/>
          </a:ln>
        </p:spPr>
      </p:sp>
      <p:sp>
        <p:nvSpPr>
          <p:cNvPr id="19" name="Shape 17"/>
          <p:cNvSpPr/>
          <p:nvPr/>
        </p:nvSpPr>
        <p:spPr>
          <a:xfrm>
            <a:off x="3529584" y="2679192"/>
            <a:ext cx="228600" cy="0"/>
          </a:xfrm>
          <a:prstGeom prst="line">
            <a:avLst/>
          </a:prstGeom>
          <a:noFill/>
          <a:ln w="17780">
            <a:solidFill>
              <a:srgbClr val="2863EB"/>
            </a:solidFill>
            <a:prstDash val="solid"/>
          </a:ln>
        </p:spPr>
      </p:sp>
      <p:sp>
        <p:nvSpPr>
          <p:cNvPr id="20" name="Shape 18"/>
          <p:cNvSpPr/>
          <p:nvPr/>
        </p:nvSpPr>
        <p:spPr>
          <a:xfrm>
            <a:off x="3529584" y="2788920"/>
            <a:ext cx="210312" cy="0"/>
          </a:xfrm>
          <a:prstGeom prst="line">
            <a:avLst/>
          </a:prstGeom>
          <a:noFill/>
          <a:ln w="15240">
            <a:solidFill>
              <a:srgbClr val="DCE3EC"/>
            </a:solidFill>
            <a:prstDash val="solid"/>
          </a:ln>
        </p:spPr>
      </p:sp>
      <p:sp>
        <p:nvSpPr>
          <p:cNvPr id="21" name="Shape 19"/>
          <p:cNvSpPr/>
          <p:nvPr/>
        </p:nvSpPr>
        <p:spPr>
          <a:xfrm>
            <a:off x="3529584" y="2889504"/>
            <a:ext cx="164592" cy="0"/>
          </a:xfrm>
          <a:prstGeom prst="line">
            <a:avLst/>
          </a:prstGeom>
          <a:noFill/>
          <a:ln w="15240">
            <a:solidFill>
              <a:srgbClr val="DCE3EC"/>
            </a:solidFill>
            <a:prstDash val="solid"/>
          </a:ln>
        </p:spPr>
      </p:sp>
      <p:sp>
        <p:nvSpPr>
          <p:cNvPr id="22" name="Text 20"/>
          <p:cNvSpPr/>
          <p:nvPr/>
        </p:nvSpPr>
        <p:spPr>
          <a:xfrm>
            <a:off x="4023360" y="2551176"/>
            <a:ext cx="1828800" cy="502920"/>
          </a:xfrm>
          <a:prstGeom prst="rect">
            <a:avLst/>
          </a:prstGeom>
          <a:noFill/>
          <a:ln/>
        </p:spPr>
        <p:txBody>
          <a:bodyPr wrap="square" lIns="0" tIns="0" rIns="0" bIns="0" rtlCol="0" anchor="ctr">
            <a:normAutofit/>
          </a:bodyPr>
          <a:lstStyle/>
          <a:p>
            <a:pPr indent="0" marL="0">
              <a:buNone/>
            </a:pPr>
            <a:r>
              <a:rPr lang="en-US" sz="1800" b="1" dirty="0">
                <a:solidFill>
                  <a:srgbClr val="131C29"/>
                </a:solidFill>
                <a:latin typeface="Inter" pitchFamily="34" charset="0"/>
                <a:ea typeface="Inter" pitchFamily="34" charset="-122"/>
                <a:cs typeface="Inter" pitchFamily="34" charset="-120"/>
              </a:rPr>
              <a:t>Customer</a:t>
            </a:r>
            <a:endParaRPr lang="en-US" sz="1800" dirty="0"/>
          </a:p>
          <a:p>
            <a:pPr indent="0" marL="0">
              <a:buNone/>
            </a:pPr>
            <a:r>
              <a:rPr lang="en-US" sz="1800" b="1" dirty="0">
                <a:solidFill>
                  <a:srgbClr val="131C29"/>
                </a:solidFill>
                <a:latin typeface="Inter" pitchFamily="34" charset="0"/>
                <a:ea typeface="Inter" pitchFamily="34" charset="-122"/>
                <a:cs typeface="Inter" pitchFamily="34" charset="-120"/>
              </a:rPr>
              <a:t>studies</a:t>
            </a:r>
            <a:endParaRPr lang="en-US" sz="1800" dirty="0"/>
          </a:p>
        </p:txBody>
      </p:sp>
      <p:sp>
        <p:nvSpPr>
          <p:cNvPr id="23" name="Shape 21"/>
          <p:cNvSpPr/>
          <p:nvPr/>
        </p:nvSpPr>
        <p:spPr>
          <a:xfrm>
            <a:off x="4462272" y="3200400"/>
            <a:ext cx="0" cy="365760"/>
          </a:xfrm>
          <a:prstGeom prst="line">
            <a:avLst/>
          </a:prstGeom>
          <a:noFill/>
          <a:ln w="16510">
            <a:solidFill>
              <a:srgbClr val="DCE3EC"/>
            </a:solidFill>
            <a:prstDash val="solid"/>
          </a:ln>
        </p:spPr>
      </p:sp>
      <p:sp>
        <p:nvSpPr>
          <p:cNvPr id="24" name="Shape 22"/>
          <p:cNvSpPr/>
          <p:nvPr/>
        </p:nvSpPr>
        <p:spPr>
          <a:xfrm>
            <a:off x="6172200" y="2514600"/>
            <a:ext cx="438912" cy="557784"/>
          </a:xfrm>
          <a:prstGeom prst="rect">
            <a:avLst/>
          </a:prstGeom>
          <a:solidFill>
            <a:srgbClr val="FFFFFF"/>
          </a:solidFill>
          <a:ln w="10160">
            <a:solidFill>
              <a:srgbClr val="DCE3EC"/>
            </a:solidFill>
            <a:prstDash val="solid"/>
          </a:ln>
        </p:spPr>
      </p:sp>
      <p:sp>
        <p:nvSpPr>
          <p:cNvPr id="25" name="Shape 23"/>
          <p:cNvSpPr/>
          <p:nvPr/>
        </p:nvSpPr>
        <p:spPr>
          <a:xfrm>
            <a:off x="6272784" y="2679192"/>
            <a:ext cx="228600" cy="0"/>
          </a:xfrm>
          <a:prstGeom prst="line">
            <a:avLst/>
          </a:prstGeom>
          <a:noFill/>
          <a:ln w="17780">
            <a:solidFill>
              <a:srgbClr val="2863EB"/>
            </a:solidFill>
            <a:prstDash val="solid"/>
          </a:ln>
        </p:spPr>
      </p:sp>
      <p:sp>
        <p:nvSpPr>
          <p:cNvPr id="26" name="Shape 24"/>
          <p:cNvSpPr/>
          <p:nvPr/>
        </p:nvSpPr>
        <p:spPr>
          <a:xfrm>
            <a:off x="6272784" y="2788920"/>
            <a:ext cx="210312" cy="0"/>
          </a:xfrm>
          <a:prstGeom prst="line">
            <a:avLst/>
          </a:prstGeom>
          <a:noFill/>
          <a:ln w="15240">
            <a:solidFill>
              <a:srgbClr val="DCE3EC"/>
            </a:solidFill>
            <a:prstDash val="solid"/>
          </a:ln>
        </p:spPr>
      </p:sp>
      <p:sp>
        <p:nvSpPr>
          <p:cNvPr id="27" name="Shape 25"/>
          <p:cNvSpPr/>
          <p:nvPr/>
        </p:nvSpPr>
        <p:spPr>
          <a:xfrm>
            <a:off x="6272784" y="2889504"/>
            <a:ext cx="164592" cy="0"/>
          </a:xfrm>
          <a:prstGeom prst="line">
            <a:avLst/>
          </a:prstGeom>
          <a:noFill/>
          <a:ln w="15240">
            <a:solidFill>
              <a:srgbClr val="DCE3EC"/>
            </a:solidFill>
            <a:prstDash val="solid"/>
          </a:ln>
        </p:spPr>
      </p:sp>
      <p:sp>
        <p:nvSpPr>
          <p:cNvPr id="28" name="Text 26"/>
          <p:cNvSpPr/>
          <p:nvPr/>
        </p:nvSpPr>
        <p:spPr>
          <a:xfrm>
            <a:off x="6766560" y="2551176"/>
            <a:ext cx="1828800" cy="502920"/>
          </a:xfrm>
          <a:prstGeom prst="rect">
            <a:avLst/>
          </a:prstGeom>
          <a:noFill/>
          <a:ln/>
        </p:spPr>
        <p:txBody>
          <a:bodyPr wrap="square" lIns="0" tIns="0" rIns="0" bIns="0" rtlCol="0" anchor="ctr">
            <a:normAutofit/>
          </a:bodyPr>
          <a:lstStyle/>
          <a:p>
            <a:pPr indent="0" marL="0">
              <a:buNone/>
            </a:pPr>
            <a:r>
              <a:rPr lang="en-US" sz="1800" b="1" dirty="0">
                <a:solidFill>
                  <a:srgbClr val="131C29"/>
                </a:solidFill>
                <a:latin typeface="Inter" pitchFamily="34" charset="0"/>
                <a:ea typeface="Inter" pitchFamily="34" charset="-122"/>
                <a:cs typeface="Inter" pitchFamily="34" charset="-120"/>
              </a:rPr>
              <a:t>Equipment</a:t>
            </a:r>
            <a:endParaRPr lang="en-US" sz="1800" dirty="0"/>
          </a:p>
          <a:p>
            <a:pPr indent="0" marL="0">
              <a:buNone/>
            </a:pPr>
            <a:r>
              <a:rPr lang="en-US" sz="1800" b="1" dirty="0">
                <a:solidFill>
                  <a:srgbClr val="131C29"/>
                </a:solidFill>
                <a:latin typeface="Inter" pitchFamily="34" charset="0"/>
                <a:ea typeface="Inter" pitchFamily="34" charset="-122"/>
                <a:cs typeface="Inter" pitchFamily="34" charset="-120"/>
              </a:rPr>
              <a:t>baseline</a:t>
            </a:r>
            <a:endParaRPr lang="en-US" sz="1800" dirty="0"/>
          </a:p>
        </p:txBody>
      </p:sp>
      <p:sp>
        <p:nvSpPr>
          <p:cNvPr id="29" name="Shape 27"/>
          <p:cNvSpPr/>
          <p:nvPr/>
        </p:nvSpPr>
        <p:spPr>
          <a:xfrm>
            <a:off x="7205472" y="3200400"/>
            <a:ext cx="0" cy="365760"/>
          </a:xfrm>
          <a:prstGeom prst="line">
            <a:avLst/>
          </a:prstGeom>
          <a:noFill/>
          <a:ln w="16510">
            <a:solidFill>
              <a:srgbClr val="DCE3EC"/>
            </a:solidFill>
            <a:prstDash val="solid"/>
          </a:ln>
        </p:spPr>
      </p:sp>
      <p:sp>
        <p:nvSpPr>
          <p:cNvPr id="30" name="Shape 28"/>
          <p:cNvSpPr/>
          <p:nvPr/>
        </p:nvSpPr>
        <p:spPr>
          <a:xfrm>
            <a:off x="8915400" y="2514600"/>
            <a:ext cx="438912" cy="557784"/>
          </a:xfrm>
          <a:prstGeom prst="rect">
            <a:avLst/>
          </a:prstGeom>
          <a:solidFill>
            <a:srgbClr val="FFFFFF"/>
          </a:solidFill>
          <a:ln w="10160">
            <a:solidFill>
              <a:srgbClr val="DCE3EC"/>
            </a:solidFill>
            <a:prstDash val="solid"/>
          </a:ln>
        </p:spPr>
      </p:sp>
      <p:sp>
        <p:nvSpPr>
          <p:cNvPr id="31" name="Shape 29"/>
          <p:cNvSpPr/>
          <p:nvPr/>
        </p:nvSpPr>
        <p:spPr>
          <a:xfrm>
            <a:off x="9015984" y="2679192"/>
            <a:ext cx="228600" cy="0"/>
          </a:xfrm>
          <a:prstGeom prst="line">
            <a:avLst/>
          </a:prstGeom>
          <a:noFill/>
          <a:ln w="17780">
            <a:solidFill>
              <a:srgbClr val="2863EB"/>
            </a:solidFill>
            <a:prstDash val="solid"/>
          </a:ln>
        </p:spPr>
      </p:sp>
      <p:sp>
        <p:nvSpPr>
          <p:cNvPr id="32" name="Shape 30"/>
          <p:cNvSpPr/>
          <p:nvPr/>
        </p:nvSpPr>
        <p:spPr>
          <a:xfrm>
            <a:off x="9015984" y="2788920"/>
            <a:ext cx="210312" cy="0"/>
          </a:xfrm>
          <a:prstGeom prst="line">
            <a:avLst/>
          </a:prstGeom>
          <a:noFill/>
          <a:ln w="15240">
            <a:solidFill>
              <a:srgbClr val="DCE3EC"/>
            </a:solidFill>
            <a:prstDash val="solid"/>
          </a:ln>
        </p:spPr>
      </p:sp>
      <p:sp>
        <p:nvSpPr>
          <p:cNvPr id="33" name="Shape 31"/>
          <p:cNvSpPr/>
          <p:nvPr/>
        </p:nvSpPr>
        <p:spPr>
          <a:xfrm>
            <a:off x="9015984" y="2889504"/>
            <a:ext cx="164592" cy="0"/>
          </a:xfrm>
          <a:prstGeom prst="line">
            <a:avLst/>
          </a:prstGeom>
          <a:noFill/>
          <a:ln w="15240">
            <a:solidFill>
              <a:srgbClr val="DCE3EC"/>
            </a:solidFill>
            <a:prstDash val="solid"/>
          </a:ln>
        </p:spPr>
      </p:sp>
      <p:sp>
        <p:nvSpPr>
          <p:cNvPr id="34" name="Text 32"/>
          <p:cNvSpPr/>
          <p:nvPr/>
        </p:nvSpPr>
        <p:spPr>
          <a:xfrm>
            <a:off x="9509760" y="2551176"/>
            <a:ext cx="1828800" cy="502920"/>
          </a:xfrm>
          <a:prstGeom prst="rect">
            <a:avLst/>
          </a:prstGeom>
          <a:noFill/>
          <a:ln/>
        </p:spPr>
        <p:txBody>
          <a:bodyPr wrap="square" lIns="0" tIns="0" rIns="0" bIns="0" rtlCol="0" anchor="ctr">
            <a:normAutofit/>
          </a:bodyPr>
          <a:lstStyle/>
          <a:p>
            <a:pPr indent="0" marL="0">
              <a:buNone/>
            </a:pPr>
            <a:r>
              <a:rPr lang="en-US" sz="1800" b="1" dirty="0">
                <a:solidFill>
                  <a:srgbClr val="131C29"/>
                </a:solidFill>
                <a:latin typeface="Inter" pitchFamily="34" charset="0"/>
                <a:ea typeface="Inter" pitchFamily="34" charset="-122"/>
                <a:cs typeface="Inter" pitchFamily="34" charset="-120"/>
              </a:rPr>
              <a:t>Market</a:t>
            </a:r>
            <a:endParaRPr lang="en-US" sz="1800" dirty="0"/>
          </a:p>
          <a:p>
            <a:pPr indent="0" marL="0">
              <a:buNone/>
            </a:pPr>
            <a:r>
              <a:rPr lang="en-US" sz="1800" b="1" dirty="0">
                <a:solidFill>
                  <a:srgbClr val="131C29"/>
                </a:solidFill>
                <a:latin typeface="Inter" pitchFamily="34" charset="0"/>
                <a:ea typeface="Inter" pitchFamily="34" charset="-122"/>
                <a:cs typeface="Inter" pitchFamily="34" charset="-120"/>
              </a:rPr>
              <a:t>context</a:t>
            </a:r>
            <a:endParaRPr lang="en-US" sz="1800" dirty="0"/>
          </a:p>
        </p:txBody>
      </p:sp>
      <p:sp>
        <p:nvSpPr>
          <p:cNvPr id="35" name="Shape 33"/>
          <p:cNvSpPr/>
          <p:nvPr/>
        </p:nvSpPr>
        <p:spPr>
          <a:xfrm>
            <a:off x="9948672" y="3200400"/>
            <a:ext cx="0" cy="365760"/>
          </a:xfrm>
          <a:prstGeom prst="line">
            <a:avLst/>
          </a:prstGeom>
          <a:noFill/>
          <a:ln w="16510">
            <a:solidFill>
              <a:srgbClr val="DCE3EC"/>
            </a:solidFill>
            <a:prstDash val="solid"/>
          </a:ln>
        </p:spPr>
      </p:sp>
      <p:sp>
        <p:nvSpPr>
          <p:cNvPr id="36" name="Shape 34"/>
          <p:cNvSpPr/>
          <p:nvPr/>
        </p:nvSpPr>
        <p:spPr>
          <a:xfrm>
            <a:off x="1719072" y="3566160"/>
            <a:ext cx="8229600" cy="0"/>
          </a:xfrm>
          <a:prstGeom prst="line">
            <a:avLst/>
          </a:prstGeom>
          <a:noFill/>
          <a:ln w="16510">
            <a:solidFill>
              <a:srgbClr val="DCE3EC"/>
            </a:solidFill>
            <a:prstDash val="solid"/>
          </a:ln>
        </p:spPr>
      </p:sp>
      <p:sp>
        <p:nvSpPr>
          <p:cNvPr id="37" name="Shape 35"/>
          <p:cNvSpPr/>
          <p:nvPr/>
        </p:nvSpPr>
        <p:spPr>
          <a:xfrm>
            <a:off x="5833872" y="3566160"/>
            <a:ext cx="0" cy="338328"/>
          </a:xfrm>
          <a:prstGeom prst="line">
            <a:avLst/>
          </a:prstGeom>
          <a:noFill/>
          <a:ln w="21590">
            <a:solidFill>
              <a:srgbClr val="2863EB"/>
            </a:solidFill>
            <a:prstDash val="solid"/>
            <a:tailEnd type="triangle"/>
          </a:ln>
        </p:spPr>
      </p:sp>
      <p:sp>
        <p:nvSpPr>
          <p:cNvPr id="38" name="Shape 36"/>
          <p:cNvSpPr/>
          <p:nvPr/>
        </p:nvSpPr>
        <p:spPr>
          <a:xfrm>
            <a:off x="667512" y="4096512"/>
            <a:ext cx="10844784" cy="1572768"/>
          </a:xfrm>
          <a:prstGeom prst="rect">
            <a:avLst/>
          </a:prstGeom>
          <a:solidFill>
            <a:srgbClr val="FFFFFF"/>
          </a:solidFill>
          <a:ln w="10160">
            <a:solidFill>
              <a:srgbClr val="DCE3EC"/>
            </a:solidFill>
            <a:prstDash val="solid"/>
          </a:ln>
        </p:spPr>
      </p:sp>
      <p:sp>
        <p:nvSpPr>
          <p:cNvPr id="39" name="Text 37"/>
          <p:cNvSpPr/>
          <p:nvPr/>
        </p:nvSpPr>
        <p:spPr>
          <a:xfrm>
            <a:off x="896112" y="4306824"/>
            <a:ext cx="9966960" cy="338328"/>
          </a:xfrm>
          <a:prstGeom prst="rect">
            <a:avLst/>
          </a:prstGeom>
          <a:noFill/>
          <a:ln/>
        </p:spPr>
        <p:txBody>
          <a:bodyPr wrap="square" lIns="0" tIns="0" rIns="0" bIns="0" rtlCol="0" anchor="ctr">
            <a:normAutofit/>
          </a:bodyPr>
          <a:lstStyle/>
          <a:p>
            <a:pPr indent="0" marL="0">
              <a:buNone/>
            </a:pPr>
            <a:r>
              <a:rPr lang="en-US" sz="2200" b="1" dirty="0">
                <a:solidFill>
                  <a:srgbClr val="131C29"/>
                </a:solidFill>
                <a:latin typeface="Inter" pitchFamily="34" charset="0"/>
                <a:ea typeface="Inter" pitchFamily="34" charset="-122"/>
                <a:cs typeface="Inter" pitchFamily="34" charset="-120"/>
              </a:rPr>
              <a:t>What does the evidence actually support?</a:t>
            </a:r>
            <a:endParaRPr lang="en-US" sz="2200" dirty="0"/>
          </a:p>
        </p:txBody>
      </p:sp>
      <p:sp>
        <p:nvSpPr>
          <p:cNvPr id="40" name="Text 38"/>
          <p:cNvSpPr/>
          <p:nvPr/>
        </p:nvSpPr>
        <p:spPr>
          <a:xfrm>
            <a:off x="905256" y="4928616"/>
            <a:ext cx="393192" cy="310896"/>
          </a:xfrm>
          <a:prstGeom prst="rect">
            <a:avLst/>
          </a:prstGeom>
          <a:noFill/>
          <a:ln/>
        </p:spPr>
        <p:txBody>
          <a:bodyPr wrap="square" lIns="0" tIns="0" rIns="0" bIns="0" rtlCol="0" anchor="ctr">
            <a:normAutofit/>
          </a:bodyPr>
          <a:lstStyle/>
          <a:p>
            <a:pPr indent="0" marL="0">
              <a:buNone/>
            </a:pPr>
            <a:r>
              <a:rPr lang="en-US" sz="1300" b="1" dirty="0">
                <a:solidFill>
                  <a:srgbClr val="2863EB"/>
                </a:solidFill>
                <a:latin typeface="Inter" pitchFamily="34" charset="0"/>
                <a:ea typeface="Inter" pitchFamily="34" charset="-122"/>
                <a:cs typeface="Inter" pitchFamily="34" charset="-120"/>
              </a:rPr>
              <a:t>01</a:t>
            </a:r>
            <a:endParaRPr lang="en-US" sz="1300" dirty="0"/>
          </a:p>
        </p:txBody>
      </p:sp>
      <p:sp>
        <p:nvSpPr>
          <p:cNvPr id="41" name="Text 39"/>
          <p:cNvSpPr/>
          <p:nvPr/>
        </p:nvSpPr>
        <p:spPr>
          <a:xfrm>
            <a:off x="1353312" y="4919472"/>
            <a:ext cx="2834640" cy="365760"/>
          </a:xfrm>
          <a:prstGeom prst="rect">
            <a:avLst/>
          </a:prstGeom>
          <a:noFill/>
          <a:ln/>
        </p:spPr>
        <p:txBody>
          <a:bodyPr wrap="square" lIns="0" tIns="0" rIns="0" bIns="0" rtlCol="0" anchor="ctr">
            <a:normAutofit/>
          </a:bodyPr>
          <a:lstStyle/>
          <a:p>
            <a:pPr indent="0" marL="0">
              <a:buNone/>
            </a:pPr>
            <a:r>
              <a:rPr lang="en-US" sz="1700" b="1" dirty="0">
                <a:solidFill>
                  <a:srgbClr val="131C29"/>
                </a:solidFill>
                <a:latin typeface="Inter" pitchFamily="34" charset="0"/>
                <a:ea typeface="Inter" pitchFamily="34" charset="-122"/>
                <a:cs typeface="Inter" pitchFamily="34" charset="-120"/>
              </a:rPr>
              <a:t>A missing capability</a:t>
            </a:r>
            <a:endParaRPr lang="en-US" sz="1700" dirty="0"/>
          </a:p>
        </p:txBody>
      </p:sp>
      <p:sp>
        <p:nvSpPr>
          <p:cNvPr id="42" name="Text 40"/>
          <p:cNvSpPr/>
          <p:nvPr/>
        </p:nvSpPr>
        <p:spPr>
          <a:xfrm>
            <a:off x="4489704" y="4928616"/>
            <a:ext cx="393192" cy="310896"/>
          </a:xfrm>
          <a:prstGeom prst="rect">
            <a:avLst/>
          </a:prstGeom>
          <a:noFill/>
          <a:ln/>
        </p:spPr>
        <p:txBody>
          <a:bodyPr wrap="square" lIns="0" tIns="0" rIns="0" bIns="0" rtlCol="0" anchor="ctr">
            <a:normAutofit/>
          </a:bodyPr>
          <a:lstStyle/>
          <a:p>
            <a:pPr indent="0" marL="0">
              <a:buNone/>
            </a:pPr>
            <a:r>
              <a:rPr lang="en-US" sz="1300" b="1" dirty="0">
                <a:solidFill>
                  <a:srgbClr val="2863EB"/>
                </a:solidFill>
                <a:latin typeface="Inter" pitchFamily="34" charset="0"/>
                <a:ea typeface="Inter" pitchFamily="34" charset="-122"/>
                <a:cs typeface="Inter" pitchFamily="34" charset="-120"/>
              </a:rPr>
              <a:t>02</a:t>
            </a:r>
            <a:endParaRPr lang="en-US" sz="1300" dirty="0"/>
          </a:p>
        </p:txBody>
      </p:sp>
      <p:sp>
        <p:nvSpPr>
          <p:cNvPr id="43" name="Text 41"/>
          <p:cNvSpPr/>
          <p:nvPr/>
        </p:nvSpPr>
        <p:spPr>
          <a:xfrm>
            <a:off x="4937760" y="4919472"/>
            <a:ext cx="2834640" cy="365760"/>
          </a:xfrm>
          <a:prstGeom prst="rect">
            <a:avLst/>
          </a:prstGeom>
          <a:noFill/>
          <a:ln/>
        </p:spPr>
        <p:txBody>
          <a:bodyPr wrap="square" lIns="0" tIns="0" rIns="0" bIns="0" rtlCol="0" anchor="ctr">
            <a:normAutofit/>
          </a:bodyPr>
          <a:lstStyle/>
          <a:p>
            <a:pPr indent="0" marL="0">
              <a:buNone/>
            </a:pPr>
            <a:r>
              <a:rPr lang="en-US" sz="1700" b="1" dirty="0">
                <a:solidFill>
                  <a:srgbClr val="131C29"/>
                </a:solidFill>
                <a:latin typeface="Inter" pitchFamily="34" charset="0"/>
                <a:ea typeface="Inter" pitchFamily="34" charset="-122"/>
                <a:cs typeface="Inter" pitchFamily="34" charset="-120"/>
              </a:rPr>
              <a:t>An availability gap</a:t>
            </a:r>
            <a:endParaRPr lang="en-US" sz="1700" dirty="0"/>
          </a:p>
        </p:txBody>
      </p:sp>
      <p:sp>
        <p:nvSpPr>
          <p:cNvPr id="44" name="Text 42"/>
          <p:cNvSpPr/>
          <p:nvPr/>
        </p:nvSpPr>
        <p:spPr>
          <a:xfrm>
            <a:off x="7872984" y="4928616"/>
            <a:ext cx="393192" cy="310896"/>
          </a:xfrm>
          <a:prstGeom prst="rect">
            <a:avLst/>
          </a:prstGeom>
          <a:noFill/>
          <a:ln/>
        </p:spPr>
        <p:txBody>
          <a:bodyPr wrap="square" lIns="0" tIns="0" rIns="0" bIns="0" rtlCol="0" anchor="ctr">
            <a:normAutofit/>
          </a:bodyPr>
          <a:lstStyle/>
          <a:p>
            <a:pPr indent="0" marL="0">
              <a:buNone/>
            </a:pPr>
            <a:r>
              <a:rPr lang="en-US" sz="1300" b="1" dirty="0">
                <a:solidFill>
                  <a:srgbClr val="2863EB"/>
                </a:solidFill>
                <a:latin typeface="Inter" pitchFamily="34" charset="0"/>
                <a:ea typeface="Inter" pitchFamily="34" charset="-122"/>
                <a:cs typeface="Inter" pitchFamily="34" charset="-120"/>
              </a:rPr>
              <a:t>03</a:t>
            </a:r>
            <a:endParaRPr lang="en-US" sz="1300" dirty="0"/>
          </a:p>
        </p:txBody>
      </p:sp>
      <p:sp>
        <p:nvSpPr>
          <p:cNvPr id="45" name="Text 43"/>
          <p:cNvSpPr/>
          <p:nvPr/>
        </p:nvSpPr>
        <p:spPr>
          <a:xfrm>
            <a:off x="8321040" y="4919472"/>
            <a:ext cx="2834640" cy="365760"/>
          </a:xfrm>
          <a:prstGeom prst="rect">
            <a:avLst/>
          </a:prstGeom>
          <a:noFill/>
          <a:ln/>
        </p:spPr>
        <p:txBody>
          <a:bodyPr wrap="square" lIns="0" tIns="0" rIns="0" bIns="0" rtlCol="0" anchor="ctr">
            <a:normAutofit/>
          </a:bodyPr>
          <a:lstStyle/>
          <a:p>
            <a:pPr indent="0" marL="0">
              <a:buNone/>
            </a:pPr>
            <a:r>
              <a:rPr lang="en-US" sz="1700" b="1" dirty="0">
                <a:solidFill>
                  <a:srgbClr val="131C29"/>
                </a:solidFill>
                <a:latin typeface="Inter" pitchFamily="34" charset="0"/>
                <a:ea typeface="Inter" pitchFamily="34" charset="-122"/>
                <a:cs typeface="Inter" pitchFamily="34" charset="-120"/>
              </a:rPr>
              <a:t>A usability problem</a:t>
            </a:r>
            <a:endParaRPr lang="en-US" sz="1700" dirty="0"/>
          </a:p>
        </p:txBody>
      </p:sp>
      <p:sp>
        <p:nvSpPr>
          <p:cNvPr id="46" name="Shape 44"/>
          <p:cNvSpPr/>
          <p:nvPr/>
        </p:nvSpPr>
        <p:spPr>
          <a:xfrm>
            <a:off x="4142232" y="4864608"/>
            <a:ext cx="0" cy="612648"/>
          </a:xfrm>
          <a:prstGeom prst="line">
            <a:avLst/>
          </a:prstGeom>
          <a:noFill/>
          <a:ln w="12700">
            <a:solidFill>
              <a:srgbClr val="DCE3EC"/>
            </a:solidFill>
            <a:prstDash val="solid"/>
          </a:ln>
        </p:spPr>
      </p:sp>
      <p:sp>
        <p:nvSpPr>
          <p:cNvPr id="47" name="Shape 45"/>
          <p:cNvSpPr/>
          <p:nvPr/>
        </p:nvSpPr>
        <p:spPr>
          <a:xfrm>
            <a:off x="7525512" y="4864608"/>
            <a:ext cx="0" cy="612648"/>
          </a:xfrm>
          <a:prstGeom prst="line">
            <a:avLst/>
          </a:prstGeom>
          <a:noFill/>
          <a:ln w="12700">
            <a:solidFill>
              <a:srgbClr val="DCE3EC"/>
            </a:solidFill>
            <a:prstDash val="solid"/>
          </a:ln>
        </p:spPr>
      </p:sp>
      <p:sp>
        <p:nvSpPr>
          <p:cNvPr id="48" name="Text 46"/>
          <p:cNvSpPr/>
          <p:nvPr/>
        </p:nvSpPr>
        <p:spPr>
          <a:xfrm>
            <a:off x="685800" y="5989320"/>
            <a:ext cx="10789920" cy="228600"/>
          </a:xfrm>
          <a:prstGeom prst="rect">
            <a:avLst/>
          </a:prstGeom>
          <a:noFill/>
          <a:ln/>
        </p:spPr>
        <p:txBody>
          <a:bodyPr wrap="square" lIns="0" tIns="0" rIns="0" bIns="0" rtlCol="0" anchor="ctr">
            <a:normAutofit/>
          </a:bodyPr>
          <a:lstStyle/>
          <a:p>
            <a:pPr indent="0" marL="0">
              <a:buNone/>
            </a:pPr>
            <a:r>
              <a:rPr lang="en-US" sz="1250" dirty="0">
                <a:solidFill>
                  <a:srgbClr val="596779"/>
                </a:solidFill>
                <a:latin typeface="Inter" pitchFamily="34" charset="0"/>
                <a:ea typeface="Inter" pitchFamily="34" charset="-122"/>
                <a:cs typeface="Inter" pitchFamily="34" charset="-120"/>
              </a:rPr>
              <a:t>Scope: customer-facing product needs — not detailed engineering, homologation or pricing.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THE PRODUCT CONCEPT</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See the need. Open the evidence.</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One vehicle workspace connects findings, alternatives and PM decisions.</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03 / 14</a:t>
            </a:r>
            <a:endParaRPr lang="en-US" sz="890" dirty="0"/>
          </a:p>
        </p:txBody>
      </p:sp>
      <p:sp>
        <p:nvSpPr>
          <p:cNvPr id="12" name="Shape 10"/>
          <p:cNvSpPr/>
          <p:nvPr/>
        </p:nvSpPr>
        <p:spPr>
          <a:xfrm>
            <a:off x="548640" y="2350008"/>
            <a:ext cx="11091672" cy="3502152"/>
          </a:xfrm>
          <a:prstGeom prst="rect">
            <a:avLst/>
          </a:prstGeom>
          <a:solidFill>
            <a:srgbClr val="FFFFFF"/>
          </a:solidFill>
          <a:ln w="10160">
            <a:solidFill>
              <a:srgbClr val="DCE3EC"/>
            </a:solidFill>
            <a:prstDash val="solid"/>
          </a:ln>
        </p:spPr>
      </p:sp>
      <p:sp>
        <p:nvSpPr>
          <p:cNvPr id="13" name="Shape 11"/>
          <p:cNvSpPr/>
          <p:nvPr/>
        </p:nvSpPr>
        <p:spPr>
          <a:xfrm>
            <a:off x="548640" y="2350008"/>
            <a:ext cx="11091672" cy="448056"/>
          </a:xfrm>
          <a:prstGeom prst="rect">
            <a:avLst/>
          </a:prstGeom>
          <a:solidFill>
            <a:srgbClr val="EEF2F7"/>
          </a:solidFill>
          <a:ln w="12700">
            <a:solidFill>
              <a:srgbClr val="EEF2F7"/>
            </a:solidFill>
            <a:prstDash val="solid"/>
          </a:ln>
        </p:spPr>
      </p:sp>
      <p:sp>
        <p:nvSpPr>
          <p:cNvPr id="14" name="Text 12"/>
          <p:cNvSpPr/>
          <p:nvPr/>
        </p:nvSpPr>
        <p:spPr>
          <a:xfrm>
            <a:off x="731520" y="2468880"/>
            <a:ext cx="594360" cy="201168"/>
          </a:xfrm>
          <a:prstGeom prst="rect">
            <a:avLst/>
          </a:prstGeom>
          <a:noFill/>
          <a:ln/>
        </p:spPr>
        <p:txBody>
          <a:bodyPr wrap="square" lIns="0" tIns="0" rIns="0" bIns="0" rtlCol="0" anchor="ctr">
            <a:normAutofit/>
          </a:bodyPr>
          <a:lstStyle/>
          <a:p>
            <a:pPr indent="0" marL="0">
              <a:buNone/>
            </a:pPr>
            <a:r>
              <a:rPr lang="en-US" sz="1200" b="1" dirty="0">
                <a:solidFill>
                  <a:srgbClr val="131C29"/>
                </a:solidFill>
                <a:latin typeface="Inter" pitchFamily="34" charset="0"/>
                <a:ea typeface="Inter" pitchFamily="34" charset="-122"/>
                <a:cs typeface="Inter" pitchFamily="34" charset="-120"/>
              </a:rPr>
              <a:t>FWD</a:t>
            </a:r>
            <a:endParaRPr lang="en-US" sz="1200" dirty="0"/>
          </a:p>
        </p:txBody>
      </p:sp>
      <p:sp>
        <p:nvSpPr>
          <p:cNvPr id="15" name="Text 13"/>
          <p:cNvSpPr/>
          <p:nvPr/>
        </p:nvSpPr>
        <p:spPr>
          <a:xfrm>
            <a:off x="1463040" y="2459736"/>
            <a:ext cx="2834640" cy="219456"/>
          </a:xfrm>
          <a:prstGeom prst="rect">
            <a:avLst/>
          </a:prstGeom>
          <a:noFill/>
          <a:ln/>
        </p:spPr>
        <p:txBody>
          <a:bodyPr wrap="square" lIns="0" tIns="0" rIns="0" bIns="0" rtlCol="0" anchor="ctr">
            <a:normAutofit/>
          </a:bodyPr>
          <a:lstStyle/>
          <a:p>
            <a:pPr indent="0" marL="0">
              <a:buNone/>
            </a:pPr>
            <a:r>
              <a:rPr lang="en-US" sz="1150" b="1" dirty="0">
                <a:solidFill>
                  <a:srgbClr val="131C29"/>
                </a:solidFill>
                <a:latin typeface="Inter" pitchFamily="34" charset="0"/>
                <a:ea typeface="Inter" pitchFamily="34" charset="-122"/>
                <a:cs typeface="Inter" pitchFamily="34" charset="-120"/>
              </a:rPr>
              <a:t>G60 i5 M60 workspace</a:t>
            </a:r>
            <a:endParaRPr lang="en-US" sz="1150" dirty="0"/>
          </a:p>
        </p:txBody>
      </p:sp>
      <p:sp>
        <p:nvSpPr>
          <p:cNvPr id="16" name="Shape 14"/>
          <p:cNvSpPr/>
          <p:nvPr/>
        </p:nvSpPr>
        <p:spPr>
          <a:xfrm>
            <a:off x="7754112" y="2446020"/>
            <a:ext cx="1508760" cy="256032"/>
          </a:xfrm>
          <a:prstGeom prst="roundRect">
            <a:avLst>
              <a:gd name="adj" fmla="val 42857"/>
            </a:avLst>
          </a:prstGeom>
          <a:solidFill>
            <a:srgbClr val="E1E7F0"/>
          </a:solidFill>
          <a:ln w="12700">
            <a:solidFill>
              <a:srgbClr val="E1E7F0"/>
            </a:solidFill>
            <a:prstDash val="solid"/>
          </a:ln>
        </p:spPr>
      </p:sp>
      <p:sp>
        <p:nvSpPr>
          <p:cNvPr id="17" name="Text 15"/>
          <p:cNvSpPr/>
          <p:nvPr/>
        </p:nvSpPr>
        <p:spPr>
          <a:xfrm>
            <a:off x="7845552" y="2455164"/>
            <a:ext cx="1325880" cy="237744"/>
          </a:xfrm>
          <a:prstGeom prst="rect">
            <a:avLst/>
          </a:prstGeom>
          <a:noFill/>
          <a:ln/>
        </p:spPr>
        <p:txBody>
          <a:bodyPr wrap="square" lIns="0" tIns="0" rIns="0" bIns="0" rtlCol="0" anchor="ctr">
            <a:normAutofit/>
          </a:bodyPr>
          <a:lstStyle/>
          <a:p>
            <a:pPr algn="ctr" indent="0" marL="0">
              <a:buNone/>
            </a:pPr>
            <a:r>
              <a:rPr lang="en-US" sz="940" b="1" dirty="0">
                <a:solidFill>
                  <a:srgbClr val="596779"/>
                </a:solidFill>
                <a:latin typeface="Inter" pitchFamily="34" charset="0"/>
                <a:ea typeface="Inter" pitchFamily="34" charset="-122"/>
                <a:cs typeface="Inter" pitchFamily="34" charset="-120"/>
              </a:rPr>
              <a:t>Deep Dive: off</a:t>
            </a:r>
            <a:endParaRPr lang="en-US" sz="940" dirty="0"/>
          </a:p>
        </p:txBody>
      </p:sp>
      <p:sp>
        <p:nvSpPr>
          <p:cNvPr id="18" name="Shape 16"/>
          <p:cNvSpPr/>
          <p:nvPr/>
        </p:nvSpPr>
        <p:spPr>
          <a:xfrm>
            <a:off x="9500616" y="2446020"/>
            <a:ext cx="1371600" cy="256032"/>
          </a:xfrm>
          <a:prstGeom prst="roundRect">
            <a:avLst>
              <a:gd name="adj" fmla="val 42857"/>
            </a:avLst>
          </a:prstGeom>
          <a:solidFill>
            <a:srgbClr val="2863EB"/>
          </a:solidFill>
          <a:ln w="12700">
            <a:solidFill>
              <a:srgbClr val="2863EB"/>
            </a:solidFill>
            <a:prstDash val="solid"/>
          </a:ln>
        </p:spPr>
      </p:sp>
      <p:sp>
        <p:nvSpPr>
          <p:cNvPr id="19" name="Text 17"/>
          <p:cNvSpPr/>
          <p:nvPr/>
        </p:nvSpPr>
        <p:spPr>
          <a:xfrm>
            <a:off x="9592056" y="2455164"/>
            <a:ext cx="1188720" cy="237744"/>
          </a:xfrm>
          <a:prstGeom prst="rect">
            <a:avLst/>
          </a:prstGeom>
          <a:noFill/>
          <a:ln/>
        </p:spPr>
        <p:txBody>
          <a:bodyPr wrap="square" lIns="0" tIns="0" rIns="0" bIns="0" rtlCol="0" anchor="ctr">
            <a:normAutofit/>
          </a:bodyPr>
          <a:lstStyle/>
          <a:p>
            <a:pPr algn="ctr" indent="0" marL="0">
              <a:buNone/>
            </a:pPr>
            <a:r>
              <a:rPr lang="en-US" sz="1010" b="1" dirty="0">
                <a:solidFill>
                  <a:srgbClr val="FFFFFF"/>
                </a:solidFill>
                <a:latin typeface="Inter" pitchFamily="34" charset="0"/>
                <a:ea typeface="Inter" pitchFamily="34" charset="-122"/>
                <a:cs typeface="Inter" pitchFamily="34" charset="-120"/>
              </a:rPr>
              <a:t>Reimagine</a:t>
            </a:r>
            <a:endParaRPr lang="en-US" sz="1010" dirty="0"/>
          </a:p>
        </p:txBody>
      </p:sp>
      <p:sp>
        <p:nvSpPr>
          <p:cNvPr id="20" name="Shape 18"/>
          <p:cNvSpPr/>
          <p:nvPr/>
        </p:nvSpPr>
        <p:spPr>
          <a:xfrm>
            <a:off x="548640" y="2798064"/>
            <a:ext cx="2103120" cy="3054096"/>
          </a:xfrm>
          <a:prstGeom prst="rect">
            <a:avLst/>
          </a:prstGeom>
          <a:solidFill>
            <a:srgbClr val="F0F3F8"/>
          </a:solidFill>
          <a:ln w="12700">
            <a:solidFill>
              <a:srgbClr val="F0F3F8"/>
            </a:solidFill>
            <a:prstDash val="solid"/>
          </a:ln>
        </p:spPr>
      </p:sp>
      <p:sp>
        <p:nvSpPr>
          <p:cNvPr id="21" name="Text 19"/>
          <p:cNvSpPr/>
          <p:nvPr/>
        </p:nvSpPr>
        <p:spPr>
          <a:xfrm>
            <a:off x="713232" y="3008376"/>
            <a:ext cx="1783080" cy="274320"/>
          </a:xfrm>
          <a:prstGeom prst="rect">
            <a:avLst/>
          </a:prstGeom>
          <a:noFill/>
          <a:ln/>
        </p:spPr>
        <p:txBody>
          <a:bodyPr wrap="square" lIns="0" tIns="0" rIns="0" bIns="0" rtlCol="0" anchor="ctr">
            <a:normAutofit/>
          </a:bodyPr>
          <a:lstStyle/>
          <a:p>
            <a:pPr indent="0" marL="0">
              <a:buNone/>
            </a:pPr>
            <a:r>
              <a:rPr lang="en-US" sz="1300" b="1" dirty="0">
                <a:solidFill>
                  <a:srgbClr val="131C29"/>
                </a:solidFill>
                <a:latin typeface="Inter" pitchFamily="34" charset="0"/>
                <a:ea typeface="Inter" pitchFamily="34" charset="-122"/>
                <a:cs typeface="Inter" pitchFamily="34" charset="-120"/>
              </a:rPr>
              <a:t>Evidence graph</a:t>
            </a:r>
            <a:endParaRPr lang="en-US" sz="1300" dirty="0"/>
          </a:p>
        </p:txBody>
      </p:sp>
      <p:sp>
        <p:nvSpPr>
          <p:cNvPr id="22" name="Shape 20"/>
          <p:cNvSpPr/>
          <p:nvPr/>
        </p:nvSpPr>
        <p:spPr>
          <a:xfrm>
            <a:off x="1335024" y="3840480"/>
            <a:ext cx="402336" cy="548640"/>
          </a:xfrm>
          <a:prstGeom prst="line">
            <a:avLst/>
          </a:prstGeom>
          <a:noFill/>
          <a:ln w="17780">
            <a:solidFill>
              <a:srgbClr val="99B2DC"/>
            </a:solidFill>
            <a:prstDash val="solid"/>
          </a:ln>
        </p:spPr>
      </p:sp>
      <p:sp>
        <p:nvSpPr>
          <p:cNvPr id="23" name="Shape 21"/>
          <p:cNvSpPr/>
          <p:nvPr/>
        </p:nvSpPr>
        <p:spPr>
          <a:xfrm flipH="1">
            <a:off x="1453896" y="4434840"/>
            <a:ext cx="283464" cy="566928"/>
          </a:xfrm>
          <a:prstGeom prst="line">
            <a:avLst/>
          </a:prstGeom>
          <a:noFill/>
          <a:ln w="17780">
            <a:solidFill>
              <a:srgbClr val="99B2DC"/>
            </a:solidFill>
            <a:prstDash val="solid"/>
          </a:ln>
        </p:spPr>
      </p:sp>
      <p:sp>
        <p:nvSpPr>
          <p:cNvPr id="24" name="Shape 22"/>
          <p:cNvSpPr/>
          <p:nvPr/>
        </p:nvSpPr>
        <p:spPr>
          <a:xfrm>
            <a:off x="868680" y="3593592"/>
            <a:ext cx="1380744" cy="365760"/>
          </a:xfrm>
          <a:prstGeom prst="roundRect">
            <a:avLst>
              <a:gd name="adj" fmla="val 17500"/>
            </a:avLst>
          </a:prstGeom>
          <a:solidFill>
            <a:srgbClr val="FFFFFF"/>
          </a:solidFill>
          <a:ln w="10160">
            <a:solidFill>
              <a:srgbClr val="DCE3EC"/>
            </a:solidFill>
            <a:prstDash val="solid"/>
          </a:ln>
        </p:spPr>
      </p:sp>
      <p:sp>
        <p:nvSpPr>
          <p:cNvPr id="25" name="Text 23"/>
          <p:cNvSpPr/>
          <p:nvPr/>
        </p:nvSpPr>
        <p:spPr>
          <a:xfrm>
            <a:off x="932688" y="3625596"/>
            <a:ext cx="1252728" cy="283464"/>
          </a:xfrm>
          <a:prstGeom prst="rect">
            <a:avLst/>
          </a:prstGeom>
          <a:noFill/>
          <a:ln/>
        </p:spPr>
        <p:txBody>
          <a:bodyPr wrap="square" lIns="0" tIns="0" rIns="0" bIns="0" rtlCol="0" anchor="ctr">
            <a:normAutofit/>
          </a:bodyPr>
          <a:lstStyle/>
          <a:p>
            <a:pPr algn="ctr" indent="0" marL="0">
              <a:buNone/>
            </a:pPr>
            <a:r>
              <a:rPr lang="en-US" sz="1050" dirty="0">
                <a:solidFill>
                  <a:srgbClr val="131C29"/>
                </a:solidFill>
                <a:latin typeface="Inter" pitchFamily="34" charset="0"/>
                <a:ea typeface="Inter" pitchFamily="34" charset="-122"/>
                <a:cs typeface="Inter" pitchFamily="34" charset="-120"/>
              </a:rPr>
              <a:t>Source</a:t>
            </a:r>
            <a:endParaRPr lang="en-US" sz="1050" dirty="0"/>
          </a:p>
        </p:txBody>
      </p:sp>
      <p:sp>
        <p:nvSpPr>
          <p:cNvPr id="26" name="Shape 24"/>
          <p:cNvSpPr/>
          <p:nvPr/>
        </p:nvSpPr>
        <p:spPr>
          <a:xfrm>
            <a:off x="1261872" y="4215384"/>
            <a:ext cx="1380744" cy="365760"/>
          </a:xfrm>
          <a:prstGeom prst="roundRect">
            <a:avLst>
              <a:gd name="adj" fmla="val 17500"/>
            </a:avLst>
          </a:prstGeom>
          <a:solidFill>
            <a:srgbClr val="2863EB"/>
          </a:solidFill>
          <a:ln w="12700">
            <a:solidFill>
              <a:srgbClr val="2863EB"/>
            </a:solidFill>
            <a:prstDash val="solid"/>
          </a:ln>
        </p:spPr>
      </p:sp>
      <p:sp>
        <p:nvSpPr>
          <p:cNvPr id="27" name="Text 25"/>
          <p:cNvSpPr/>
          <p:nvPr/>
        </p:nvSpPr>
        <p:spPr>
          <a:xfrm>
            <a:off x="1325880" y="4247388"/>
            <a:ext cx="1252728" cy="283464"/>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Inter" pitchFamily="34" charset="0"/>
                <a:ea typeface="Inter" pitchFamily="34" charset="-122"/>
                <a:cs typeface="Inter" pitchFamily="34" charset="-120"/>
              </a:rPr>
              <a:t>Finding</a:t>
            </a:r>
            <a:endParaRPr lang="en-US" sz="1050" dirty="0"/>
          </a:p>
        </p:txBody>
      </p:sp>
      <p:sp>
        <p:nvSpPr>
          <p:cNvPr id="28" name="Shape 26"/>
          <p:cNvSpPr/>
          <p:nvPr/>
        </p:nvSpPr>
        <p:spPr>
          <a:xfrm>
            <a:off x="804672" y="4873752"/>
            <a:ext cx="1380744" cy="365760"/>
          </a:xfrm>
          <a:prstGeom prst="roundRect">
            <a:avLst>
              <a:gd name="adj" fmla="val 17500"/>
            </a:avLst>
          </a:prstGeom>
          <a:solidFill>
            <a:srgbClr val="FFFFFF"/>
          </a:solidFill>
          <a:ln w="10160">
            <a:solidFill>
              <a:srgbClr val="DCE3EC"/>
            </a:solidFill>
            <a:prstDash val="solid"/>
          </a:ln>
        </p:spPr>
      </p:sp>
      <p:sp>
        <p:nvSpPr>
          <p:cNvPr id="29" name="Text 27"/>
          <p:cNvSpPr/>
          <p:nvPr/>
        </p:nvSpPr>
        <p:spPr>
          <a:xfrm>
            <a:off x="868680" y="4905756"/>
            <a:ext cx="1252728" cy="283464"/>
          </a:xfrm>
          <a:prstGeom prst="rect">
            <a:avLst/>
          </a:prstGeom>
          <a:noFill/>
          <a:ln/>
        </p:spPr>
        <p:txBody>
          <a:bodyPr wrap="square" lIns="0" tIns="0" rIns="0" bIns="0" rtlCol="0" anchor="ctr">
            <a:normAutofit/>
          </a:bodyPr>
          <a:lstStyle/>
          <a:p>
            <a:pPr algn="ctr" indent="0" marL="0">
              <a:buNone/>
            </a:pPr>
            <a:r>
              <a:rPr lang="en-US" sz="1050" dirty="0">
                <a:solidFill>
                  <a:srgbClr val="131C29"/>
                </a:solidFill>
                <a:latin typeface="Inter" pitchFamily="34" charset="0"/>
                <a:ea typeface="Inter" pitchFamily="34" charset="-122"/>
                <a:cs typeface="Inter" pitchFamily="34" charset="-120"/>
              </a:rPr>
              <a:t>Requirement</a:t>
            </a:r>
            <a:endParaRPr lang="en-US" sz="1050" dirty="0"/>
          </a:p>
        </p:txBody>
      </p:sp>
      <p:sp>
        <p:nvSpPr>
          <p:cNvPr id="30" name="Shape 28"/>
          <p:cNvSpPr/>
          <p:nvPr/>
        </p:nvSpPr>
        <p:spPr>
          <a:xfrm>
            <a:off x="2651760" y="2798064"/>
            <a:ext cx="5815584" cy="3054096"/>
          </a:xfrm>
          <a:prstGeom prst="rect">
            <a:avLst/>
          </a:prstGeom>
          <a:solidFill>
            <a:srgbClr val="E9EEF5"/>
          </a:solidFill>
          <a:ln w="12700">
            <a:solidFill>
              <a:srgbClr val="E9EEF5"/>
            </a:solidFill>
            <a:prstDash val="solid"/>
          </a:ln>
        </p:spPr>
      </p:sp>
      <p:sp>
        <p:nvSpPr>
          <p:cNvPr id="31" name="Text 29"/>
          <p:cNvSpPr/>
          <p:nvPr/>
        </p:nvSpPr>
        <p:spPr>
          <a:xfrm>
            <a:off x="2871216" y="3063240"/>
            <a:ext cx="5303520" cy="182880"/>
          </a:xfrm>
          <a:prstGeom prst="rect">
            <a:avLst/>
          </a:prstGeom>
          <a:noFill/>
          <a:ln/>
        </p:spPr>
        <p:txBody>
          <a:bodyPr wrap="square" lIns="0" tIns="0" rIns="0" bIns="0" rtlCol="0" anchor="ctr">
            <a:normAutofit/>
          </a:bodyPr>
          <a:lstStyle/>
          <a:p>
            <a:pPr indent="0" marL="0">
              <a:buNone/>
            </a:pPr>
            <a:r>
              <a:rPr lang="en-US" sz="910" b="1" spc="80" kern="0" dirty="0">
                <a:solidFill>
                  <a:srgbClr val="596779"/>
                </a:solidFill>
                <a:latin typeface="Inter" pitchFamily="34" charset="0"/>
                <a:ea typeface="Inter" pitchFamily="34" charset="-122"/>
                <a:cs typeface="Inter" pitchFamily="34" charset="-120"/>
              </a:rPr>
              <a:t>VEHICLE + PART FINDINGS</a:t>
            </a:r>
            <a:endParaRPr lang="en-US" sz="910" dirty="0"/>
          </a:p>
        </p:txBody>
      </p:sp>
      <p:pic>
        <p:nvPicPr>
          <p:cNvPr id="32" name="Image 0" descr="/mnt/data/fwd_rebuild/assets/bmw_illustrative_cutout.png">    </p:cNvPr>
          <p:cNvPicPr>
            <a:picLocks noChangeAspect="1"/>
          </p:cNvPicPr>
          <p:nvPr/>
        </p:nvPicPr>
        <p:blipFill>
          <a:blip r:embed="rId1"/>
          <a:stretch>
            <a:fillRect/>
          </a:stretch>
        </p:blipFill>
        <p:spPr>
          <a:xfrm>
            <a:off x="2880360" y="3246120"/>
            <a:ext cx="5394960" cy="2551771"/>
          </a:xfrm>
          <a:prstGeom prst="rect">
            <a:avLst/>
          </a:prstGeom>
        </p:spPr>
      </p:pic>
      <p:sp>
        <p:nvSpPr>
          <p:cNvPr id="33" name="Shape 30"/>
          <p:cNvSpPr/>
          <p:nvPr/>
        </p:nvSpPr>
        <p:spPr>
          <a:xfrm>
            <a:off x="5239512" y="3895344"/>
            <a:ext cx="155448" cy="155448"/>
          </a:xfrm>
          <a:prstGeom prst="ellipse">
            <a:avLst/>
          </a:prstGeom>
          <a:solidFill>
            <a:srgbClr val="FFFFFF"/>
          </a:solidFill>
          <a:ln w="25400">
            <a:solidFill>
              <a:srgbClr val="2863EB"/>
            </a:solidFill>
            <a:prstDash val="solid"/>
          </a:ln>
        </p:spPr>
      </p:sp>
      <p:sp>
        <p:nvSpPr>
          <p:cNvPr id="34" name="Shape 31"/>
          <p:cNvSpPr/>
          <p:nvPr/>
        </p:nvSpPr>
        <p:spPr>
          <a:xfrm flipH="1" flipV="1">
            <a:off x="5020056" y="3410712"/>
            <a:ext cx="292608" cy="557784"/>
          </a:xfrm>
          <a:prstGeom prst="line">
            <a:avLst/>
          </a:prstGeom>
          <a:noFill/>
          <a:ln w="15240">
            <a:solidFill>
              <a:srgbClr val="2863EB"/>
            </a:solidFill>
            <a:prstDash val="solid"/>
          </a:ln>
        </p:spPr>
      </p:sp>
      <p:sp>
        <p:nvSpPr>
          <p:cNvPr id="35" name="Shape 32"/>
          <p:cNvSpPr/>
          <p:nvPr/>
        </p:nvSpPr>
        <p:spPr>
          <a:xfrm>
            <a:off x="4142232" y="3191256"/>
            <a:ext cx="1828800" cy="246888"/>
          </a:xfrm>
          <a:prstGeom prst="roundRect">
            <a:avLst>
              <a:gd name="adj" fmla="val 44444"/>
            </a:avLst>
          </a:prstGeom>
          <a:solidFill>
            <a:srgbClr val="FFFFFF"/>
          </a:solidFill>
          <a:ln w="12700">
            <a:solidFill>
              <a:srgbClr val="FFFFFF"/>
            </a:solidFill>
            <a:prstDash val="solid"/>
          </a:ln>
        </p:spPr>
      </p:sp>
      <p:sp>
        <p:nvSpPr>
          <p:cNvPr id="36" name="Text 33"/>
          <p:cNvSpPr/>
          <p:nvPr/>
        </p:nvSpPr>
        <p:spPr>
          <a:xfrm>
            <a:off x="4233672" y="3200400"/>
            <a:ext cx="1645920" cy="228600"/>
          </a:xfrm>
          <a:prstGeom prst="rect">
            <a:avLst/>
          </a:prstGeom>
          <a:noFill/>
          <a:ln/>
        </p:spPr>
        <p:txBody>
          <a:bodyPr wrap="square" lIns="0" tIns="0" rIns="0" bIns="0" rtlCol="0" anchor="ctr">
            <a:normAutofit/>
          </a:bodyPr>
          <a:lstStyle/>
          <a:p>
            <a:pPr algn="ctr" indent="0" marL="0">
              <a:buNone/>
            </a:pPr>
            <a:r>
              <a:rPr lang="en-US" sz="910" b="1" dirty="0">
                <a:solidFill>
                  <a:srgbClr val="2863EB"/>
                </a:solidFill>
                <a:latin typeface="Inter" pitchFamily="34" charset="0"/>
                <a:ea typeface="Inter" pitchFamily="34" charset="-122"/>
                <a:cs typeface="Inter" pitchFamily="34" charset="-120"/>
              </a:rPr>
              <a:t>Comfort controls</a:t>
            </a:r>
            <a:endParaRPr lang="en-US" sz="910" dirty="0"/>
          </a:p>
        </p:txBody>
      </p:sp>
      <p:sp>
        <p:nvSpPr>
          <p:cNvPr id="37" name="Shape 34"/>
          <p:cNvSpPr/>
          <p:nvPr/>
        </p:nvSpPr>
        <p:spPr>
          <a:xfrm>
            <a:off x="7013448" y="4142232"/>
            <a:ext cx="100584" cy="100584"/>
          </a:xfrm>
          <a:prstGeom prst="ellipse">
            <a:avLst/>
          </a:prstGeom>
          <a:solidFill>
            <a:srgbClr val="CF4B54"/>
          </a:solidFill>
          <a:ln w="12700">
            <a:solidFill>
              <a:srgbClr val="CF4B54"/>
            </a:solidFill>
            <a:prstDash val="solid"/>
          </a:ln>
        </p:spPr>
      </p:sp>
      <p:sp>
        <p:nvSpPr>
          <p:cNvPr id="38" name="Text 35"/>
          <p:cNvSpPr/>
          <p:nvPr/>
        </p:nvSpPr>
        <p:spPr>
          <a:xfrm>
            <a:off x="6126480" y="3072384"/>
            <a:ext cx="2029968" cy="164592"/>
          </a:xfrm>
          <a:prstGeom prst="rect">
            <a:avLst/>
          </a:prstGeom>
          <a:noFill/>
          <a:ln/>
        </p:spPr>
        <p:txBody>
          <a:bodyPr wrap="square" lIns="0" tIns="0" rIns="0" bIns="0" rtlCol="0" anchor="ctr">
            <a:normAutofit/>
          </a:bodyPr>
          <a:lstStyle/>
          <a:p>
            <a:pPr algn="r" indent="0" marL="0">
              <a:buNone/>
            </a:pPr>
            <a:r>
              <a:rPr lang="en-US" sz="860" dirty="0">
                <a:solidFill>
                  <a:srgbClr val="596779"/>
                </a:solidFill>
                <a:latin typeface="Inter" pitchFamily="34" charset="0"/>
                <a:ea typeface="Inter" pitchFamily="34" charset="-122"/>
                <a:cs typeface="Inter" pitchFamily="34" charset="-120"/>
              </a:rPr>
              <a:t>Illustrative vehicle</a:t>
            </a:r>
            <a:endParaRPr lang="en-US" sz="860" dirty="0"/>
          </a:p>
        </p:txBody>
      </p:sp>
      <p:sp>
        <p:nvSpPr>
          <p:cNvPr id="39" name="Text 36"/>
          <p:cNvSpPr/>
          <p:nvPr/>
        </p:nvSpPr>
        <p:spPr>
          <a:xfrm>
            <a:off x="8677656" y="3063240"/>
            <a:ext cx="2670048" cy="182880"/>
          </a:xfrm>
          <a:prstGeom prst="rect">
            <a:avLst/>
          </a:prstGeom>
          <a:noFill/>
          <a:ln/>
        </p:spPr>
        <p:txBody>
          <a:bodyPr wrap="square" lIns="0" tIns="0" rIns="0" bIns="0" rtlCol="0" anchor="ctr">
            <a:normAutofit/>
          </a:bodyPr>
          <a:lstStyle/>
          <a:p>
            <a:pPr indent="0" marL="0">
              <a:buNone/>
            </a:pPr>
            <a:r>
              <a:rPr lang="en-US" sz="920" b="1" spc="70" kern="0" dirty="0">
                <a:solidFill>
                  <a:srgbClr val="2863EB"/>
                </a:solidFill>
                <a:latin typeface="Inter" pitchFamily="34" charset="0"/>
                <a:ea typeface="Inter" pitchFamily="34" charset="-122"/>
                <a:cs typeface="Inter" pitchFamily="34" charset="-120"/>
              </a:rPr>
              <a:t>SELECTED FINDING</a:t>
            </a:r>
            <a:endParaRPr lang="en-US" sz="920" dirty="0"/>
          </a:p>
        </p:txBody>
      </p:sp>
      <p:sp>
        <p:nvSpPr>
          <p:cNvPr id="40" name="Text 37"/>
          <p:cNvSpPr/>
          <p:nvPr/>
        </p:nvSpPr>
        <p:spPr>
          <a:xfrm>
            <a:off x="8677656" y="3410712"/>
            <a:ext cx="2660904" cy="566928"/>
          </a:xfrm>
          <a:prstGeom prst="rect">
            <a:avLst/>
          </a:prstGeom>
          <a:noFill/>
          <a:ln/>
        </p:spPr>
        <p:txBody>
          <a:bodyPr wrap="square" lIns="0" tIns="0" rIns="0" bIns="0" rtlCol="0" anchor="ctr">
            <a:normAutofit/>
          </a:bodyPr>
          <a:lstStyle/>
          <a:p>
            <a:pPr indent="0" marL="0">
              <a:buNone/>
            </a:pPr>
            <a:r>
              <a:rPr lang="en-US" sz="1750" b="1" dirty="0">
                <a:solidFill>
                  <a:srgbClr val="131C29"/>
                </a:solidFill>
                <a:latin typeface="Inter" pitchFamily="34" charset="0"/>
                <a:ea typeface="Inter" pitchFamily="34" charset="-122"/>
                <a:cs typeface="Inter" pitchFamily="34" charset="-120"/>
              </a:rPr>
              <a:t>Comfort-control</a:t>
            </a:r>
            <a:endParaRPr lang="en-US" sz="1750" dirty="0"/>
          </a:p>
          <a:p>
            <a:pPr indent="0" marL="0">
              <a:buNone/>
            </a:pPr>
            <a:r>
              <a:rPr lang="en-US" sz="1750" b="1" dirty="0">
                <a:solidFill>
                  <a:srgbClr val="131C29"/>
                </a:solidFill>
                <a:latin typeface="Inter" pitchFamily="34" charset="0"/>
                <a:ea typeface="Inter" pitchFamily="34" charset="-122"/>
                <a:cs typeface="Inter" pitchFamily="34" charset="-120"/>
              </a:rPr>
              <a:t>discoverability</a:t>
            </a:r>
            <a:endParaRPr lang="en-US" sz="1750" dirty="0"/>
          </a:p>
        </p:txBody>
      </p:sp>
      <p:sp>
        <p:nvSpPr>
          <p:cNvPr id="41" name="Shape 38"/>
          <p:cNvSpPr/>
          <p:nvPr/>
        </p:nvSpPr>
        <p:spPr>
          <a:xfrm>
            <a:off x="8677656" y="4160520"/>
            <a:ext cx="2697480" cy="0"/>
          </a:xfrm>
          <a:prstGeom prst="line">
            <a:avLst/>
          </a:prstGeom>
          <a:noFill/>
          <a:ln w="12700">
            <a:solidFill>
              <a:srgbClr val="DCE3EC"/>
            </a:solidFill>
            <a:prstDash val="solid"/>
          </a:ln>
        </p:spPr>
      </p:sp>
      <p:sp>
        <p:nvSpPr>
          <p:cNvPr id="42" name="Text 39"/>
          <p:cNvSpPr/>
          <p:nvPr/>
        </p:nvSpPr>
        <p:spPr>
          <a:xfrm>
            <a:off x="8677656" y="4288536"/>
            <a:ext cx="2633472" cy="265176"/>
          </a:xfrm>
          <a:prstGeom prst="rect">
            <a:avLst/>
          </a:prstGeom>
          <a:noFill/>
          <a:ln/>
        </p:spPr>
        <p:txBody>
          <a:bodyPr wrap="square" lIns="0" tIns="0" rIns="0" bIns="0" rtlCol="0" anchor="ctr">
            <a:normAutofit/>
          </a:bodyPr>
          <a:lstStyle/>
          <a:p>
            <a:pPr indent="0" marL="0">
              <a:buNone/>
            </a:pPr>
            <a:r>
              <a:rPr lang="en-US" sz="1180" dirty="0">
                <a:solidFill>
                  <a:srgbClr val="596779"/>
                </a:solidFill>
                <a:latin typeface="Inter" pitchFamily="34" charset="0"/>
                <a:ea typeface="Inter" pitchFamily="34" charset="-122"/>
                <a:cs typeface="Inter" pitchFamily="34" charset="-120"/>
              </a:rPr>
              <a:t>Evidence + applicability</a:t>
            </a:r>
            <a:endParaRPr lang="en-US" sz="1180" dirty="0"/>
          </a:p>
        </p:txBody>
      </p:sp>
      <p:sp>
        <p:nvSpPr>
          <p:cNvPr id="43" name="Text 40"/>
          <p:cNvSpPr/>
          <p:nvPr/>
        </p:nvSpPr>
        <p:spPr>
          <a:xfrm>
            <a:off x="8677656" y="4672584"/>
            <a:ext cx="2633472" cy="265176"/>
          </a:xfrm>
          <a:prstGeom prst="rect">
            <a:avLst/>
          </a:prstGeom>
          <a:noFill/>
          <a:ln/>
        </p:spPr>
        <p:txBody>
          <a:bodyPr wrap="square" lIns="0" tIns="0" rIns="0" bIns="0" rtlCol="0" anchor="ctr">
            <a:normAutofit/>
          </a:bodyPr>
          <a:lstStyle/>
          <a:p>
            <a:pPr indent="0" marL="0">
              <a:buNone/>
            </a:pPr>
            <a:r>
              <a:rPr lang="en-US" sz="1180" dirty="0">
                <a:solidFill>
                  <a:srgbClr val="596779"/>
                </a:solidFill>
                <a:latin typeface="Inter" pitchFamily="34" charset="0"/>
                <a:ea typeface="Inter" pitchFamily="34" charset="-122"/>
                <a:cs typeface="Inter" pitchFamily="34" charset="-120"/>
              </a:rPr>
              <a:t>Assumptions + uncertainty</a:t>
            </a:r>
            <a:endParaRPr lang="en-US" sz="1180" dirty="0"/>
          </a:p>
        </p:txBody>
      </p:sp>
      <p:sp>
        <p:nvSpPr>
          <p:cNvPr id="44" name="Shape 41"/>
          <p:cNvSpPr/>
          <p:nvPr/>
        </p:nvSpPr>
        <p:spPr>
          <a:xfrm>
            <a:off x="8677656" y="5202936"/>
            <a:ext cx="2624328" cy="283464"/>
          </a:xfrm>
          <a:prstGeom prst="roundRect">
            <a:avLst>
              <a:gd name="adj" fmla="val 38710"/>
            </a:avLst>
          </a:prstGeom>
          <a:solidFill>
            <a:srgbClr val="EAF0FE"/>
          </a:solidFill>
          <a:ln w="12700">
            <a:solidFill>
              <a:srgbClr val="EAF0FE"/>
            </a:solidFill>
            <a:prstDash val="solid"/>
          </a:ln>
        </p:spPr>
      </p:sp>
      <p:sp>
        <p:nvSpPr>
          <p:cNvPr id="45" name="Text 42"/>
          <p:cNvSpPr/>
          <p:nvPr/>
        </p:nvSpPr>
        <p:spPr>
          <a:xfrm>
            <a:off x="8769096" y="5212080"/>
            <a:ext cx="2441448" cy="265176"/>
          </a:xfrm>
          <a:prstGeom prst="rect">
            <a:avLst/>
          </a:prstGeom>
          <a:noFill/>
          <a:ln/>
        </p:spPr>
        <p:txBody>
          <a:bodyPr wrap="square" lIns="0" tIns="0" rIns="0" bIns="0" rtlCol="0" anchor="ctr">
            <a:normAutofit/>
          </a:bodyPr>
          <a:lstStyle/>
          <a:p>
            <a:pPr algn="ctr" indent="0" marL="0">
              <a:buNone/>
            </a:pPr>
            <a:r>
              <a:rPr lang="en-US" sz="950" b="1" dirty="0">
                <a:solidFill>
                  <a:srgbClr val="2863EB"/>
                </a:solidFill>
                <a:latin typeface="Inter" pitchFamily="34" charset="0"/>
                <a:ea typeface="Inter" pitchFamily="34" charset="-122"/>
                <a:cs typeface="Inter" pitchFamily="34" charset="-120"/>
              </a:rPr>
              <a:t>Proposed • not approved</a:t>
            </a:r>
            <a:endParaRPr lang="en-US" sz="950" dirty="0"/>
          </a:p>
        </p:txBody>
      </p:sp>
      <p:sp>
        <p:nvSpPr>
          <p:cNvPr id="46" name="Text 43"/>
          <p:cNvSpPr/>
          <p:nvPr/>
        </p:nvSpPr>
        <p:spPr>
          <a:xfrm>
            <a:off x="594360" y="6044184"/>
            <a:ext cx="10972800" cy="182880"/>
          </a:xfrm>
          <a:prstGeom prst="rect">
            <a:avLst/>
          </a:prstGeom>
          <a:noFill/>
          <a:ln/>
        </p:spPr>
        <p:txBody>
          <a:bodyPr wrap="square" lIns="0" tIns="0" rIns="0" bIns="0" rtlCol="0" anchor="ctr">
            <a:normAutofit/>
          </a:bodyPr>
          <a:lstStyle/>
          <a:p>
            <a:pPr indent="0" marL="0">
              <a:buNone/>
            </a:pPr>
            <a:r>
              <a:rPr lang="en-US" sz="1020" dirty="0">
                <a:solidFill>
                  <a:srgbClr val="596779"/>
                </a:solidFill>
                <a:latin typeface="Inter" pitchFamily="34" charset="0"/>
                <a:ea typeface="Inter" pitchFamily="34" charset="-122"/>
                <a:cs typeface="Inter" pitchFamily="34" charset="-120"/>
              </a:rPr>
              <a:t>Concept mockup • recreated from the repository design • synthetic panel content, not a live screenshot</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THE END-TO-END WORKFLOW</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AI prepares proposals. The PM owns the decision.</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Each stage retains the sources and versions needed to explain the result.</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04 / 14</a:t>
            </a:r>
            <a:endParaRPr lang="en-US" sz="890" dirty="0"/>
          </a:p>
        </p:txBody>
      </p:sp>
      <p:sp>
        <p:nvSpPr>
          <p:cNvPr id="12" name="Shape 10"/>
          <p:cNvSpPr/>
          <p:nvPr/>
        </p:nvSpPr>
        <p:spPr>
          <a:xfrm>
            <a:off x="1088136" y="3081528"/>
            <a:ext cx="9601200" cy="0"/>
          </a:xfrm>
          <a:prstGeom prst="line">
            <a:avLst/>
          </a:prstGeom>
          <a:noFill/>
          <a:ln w="25400">
            <a:solidFill>
              <a:srgbClr val="B9C8DE"/>
            </a:solidFill>
            <a:prstDash val="solid"/>
          </a:ln>
        </p:spPr>
      </p:sp>
      <p:sp>
        <p:nvSpPr>
          <p:cNvPr id="13" name="Shape 11"/>
          <p:cNvSpPr/>
          <p:nvPr/>
        </p:nvSpPr>
        <p:spPr>
          <a:xfrm>
            <a:off x="731520" y="2724912"/>
            <a:ext cx="713232" cy="713232"/>
          </a:xfrm>
          <a:prstGeom prst="ellipse">
            <a:avLst/>
          </a:prstGeom>
          <a:solidFill>
            <a:srgbClr val="FFFFFF"/>
          </a:solidFill>
          <a:ln w="19050">
            <a:solidFill>
              <a:srgbClr val="2863EB"/>
            </a:solidFill>
            <a:prstDash val="solid"/>
          </a:ln>
        </p:spPr>
      </p:sp>
      <p:sp>
        <p:nvSpPr>
          <p:cNvPr id="14" name="Text 12"/>
          <p:cNvSpPr/>
          <p:nvPr/>
        </p:nvSpPr>
        <p:spPr>
          <a:xfrm>
            <a:off x="731520" y="2862072"/>
            <a:ext cx="713232" cy="283464"/>
          </a:xfrm>
          <a:prstGeom prst="rect">
            <a:avLst/>
          </a:prstGeom>
          <a:noFill/>
          <a:ln/>
        </p:spPr>
        <p:txBody>
          <a:bodyPr wrap="square" lIns="0" tIns="0" rIns="0" bIns="0" rtlCol="0" anchor="ctr">
            <a:normAutofit/>
          </a:bodyPr>
          <a:lstStyle/>
          <a:p>
            <a:pPr algn="ctr" indent="0" marL="0">
              <a:buNone/>
            </a:pPr>
            <a:r>
              <a:rPr lang="en-US" sz="2000" b="1" dirty="0">
                <a:solidFill>
                  <a:srgbClr val="2863EB"/>
                </a:solidFill>
                <a:latin typeface="Inter" pitchFamily="34" charset="0"/>
                <a:ea typeface="Inter" pitchFamily="34" charset="-122"/>
                <a:cs typeface="Inter" pitchFamily="34" charset="-120"/>
              </a:rPr>
              <a:t>01</a:t>
            </a:r>
            <a:endParaRPr lang="en-US" sz="2000" dirty="0"/>
          </a:p>
        </p:txBody>
      </p:sp>
      <p:sp>
        <p:nvSpPr>
          <p:cNvPr id="15" name="Text 13"/>
          <p:cNvSpPr/>
          <p:nvPr/>
        </p:nvSpPr>
        <p:spPr>
          <a:xfrm>
            <a:off x="457200" y="3657600"/>
            <a:ext cx="1271016" cy="640080"/>
          </a:xfrm>
          <a:prstGeom prst="rect">
            <a:avLst/>
          </a:prstGeom>
          <a:noFill/>
          <a:ln/>
        </p:spPr>
        <p:txBody>
          <a:bodyPr wrap="square" lIns="0" tIns="0" rIns="0" bIns="0" rtlCol="0" anchor="ctr">
            <a:normAutofit/>
          </a:bodyPr>
          <a:lstStyle/>
          <a:p>
            <a:pPr algn="ctr" indent="0" marL="0">
              <a:buNone/>
            </a:pPr>
            <a:r>
              <a:rPr lang="en-US" sz="1700" b="1" dirty="0">
                <a:solidFill>
                  <a:srgbClr val="596779"/>
                </a:solidFill>
                <a:latin typeface="Inter" pitchFamily="34" charset="0"/>
                <a:ea typeface="Inter" pitchFamily="34" charset="-122"/>
                <a:cs typeface="Inter" pitchFamily="34" charset="-120"/>
              </a:rPr>
              <a:t>Freeze</a:t>
            </a:r>
            <a:endParaRPr lang="en-US" sz="1700" dirty="0"/>
          </a:p>
          <a:p>
            <a:pPr algn="ctr" indent="0" marL="0">
              <a:buNone/>
            </a:pPr>
            <a:r>
              <a:rPr lang="en-US" sz="1700" b="1" dirty="0">
                <a:solidFill>
                  <a:srgbClr val="596779"/>
                </a:solidFill>
                <a:latin typeface="Inter" pitchFamily="34" charset="0"/>
                <a:ea typeface="Inter" pitchFamily="34" charset="-122"/>
                <a:cs typeface="Inter" pitchFamily="34" charset="-120"/>
              </a:rPr>
              <a:t>context</a:t>
            </a:r>
            <a:endParaRPr lang="en-US" sz="1700" dirty="0"/>
          </a:p>
        </p:txBody>
      </p:sp>
      <p:sp>
        <p:nvSpPr>
          <p:cNvPr id="16" name="Shape 14"/>
          <p:cNvSpPr/>
          <p:nvPr/>
        </p:nvSpPr>
        <p:spPr>
          <a:xfrm>
            <a:off x="2331720" y="2724912"/>
            <a:ext cx="713232" cy="713232"/>
          </a:xfrm>
          <a:prstGeom prst="ellipse">
            <a:avLst/>
          </a:prstGeom>
          <a:solidFill>
            <a:srgbClr val="FFFFFF"/>
          </a:solidFill>
          <a:ln w="19050">
            <a:solidFill>
              <a:srgbClr val="2863EB"/>
            </a:solidFill>
            <a:prstDash val="solid"/>
          </a:ln>
        </p:spPr>
      </p:sp>
      <p:sp>
        <p:nvSpPr>
          <p:cNvPr id="17" name="Text 15"/>
          <p:cNvSpPr/>
          <p:nvPr/>
        </p:nvSpPr>
        <p:spPr>
          <a:xfrm>
            <a:off x="2331720" y="2862072"/>
            <a:ext cx="713232" cy="283464"/>
          </a:xfrm>
          <a:prstGeom prst="rect">
            <a:avLst/>
          </a:prstGeom>
          <a:noFill/>
          <a:ln/>
        </p:spPr>
        <p:txBody>
          <a:bodyPr wrap="square" lIns="0" tIns="0" rIns="0" bIns="0" rtlCol="0" anchor="ctr">
            <a:normAutofit/>
          </a:bodyPr>
          <a:lstStyle/>
          <a:p>
            <a:pPr algn="ctr" indent="0" marL="0">
              <a:buNone/>
            </a:pPr>
            <a:r>
              <a:rPr lang="en-US" sz="2000" b="1" dirty="0">
                <a:solidFill>
                  <a:srgbClr val="2863EB"/>
                </a:solidFill>
                <a:latin typeface="Inter" pitchFamily="34" charset="0"/>
                <a:ea typeface="Inter" pitchFamily="34" charset="-122"/>
                <a:cs typeface="Inter" pitchFamily="34" charset="-120"/>
              </a:rPr>
              <a:t>02</a:t>
            </a:r>
            <a:endParaRPr lang="en-US" sz="2000" dirty="0"/>
          </a:p>
        </p:txBody>
      </p:sp>
      <p:sp>
        <p:nvSpPr>
          <p:cNvPr id="18" name="Text 16"/>
          <p:cNvSpPr/>
          <p:nvPr/>
        </p:nvSpPr>
        <p:spPr>
          <a:xfrm>
            <a:off x="2057400" y="3657600"/>
            <a:ext cx="1271016" cy="640080"/>
          </a:xfrm>
          <a:prstGeom prst="rect">
            <a:avLst/>
          </a:prstGeom>
          <a:noFill/>
          <a:ln/>
        </p:spPr>
        <p:txBody>
          <a:bodyPr wrap="square" lIns="0" tIns="0" rIns="0" bIns="0" rtlCol="0" anchor="ctr">
            <a:normAutofit/>
          </a:bodyPr>
          <a:lstStyle/>
          <a:p>
            <a:pPr algn="ctr" indent="0" marL="0">
              <a:buNone/>
            </a:pPr>
            <a:r>
              <a:rPr lang="en-US" sz="1700" b="1" dirty="0">
                <a:solidFill>
                  <a:srgbClr val="596779"/>
                </a:solidFill>
                <a:latin typeface="Inter" pitchFamily="34" charset="0"/>
                <a:ea typeface="Inter" pitchFamily="34" charset="-122"/>
                <a:cs typeface="Inter" pitchFamily="34" charset="-120"/>
              </a:rPr>
              <a:t>Parse &amp;</a:t>
            </a:r>
            <a:endParaRPr lang="en-US" sz="1700" dirty="0"/>
          </a:p>
          <a:p>
            <a:pPr algn="ctr" indent="0" marL="0">
              <a:buNone/>
            </a:pPr>
            <a:r>
              <a:rPr lang="en-US" sz="1700" b="1" dirty="0">
                <a:solidFill>
                  <a:srgbClr val="596779"/>
                </a:solidFill>
                <a:latin typeface="Inter" pitchFamily="34" charset="0"/>
                <a:ea typeface="Inter" pitchFamily="34" charset="-122"/>
                <a:cs typeface="Inter" pitchFamily="34" charset="-120"/>
              </a:rPr>
              <a:t>normalize</a:t>
            </a:r>
            <a:endParaRPr lang="en-US" sz="1700" dirty="0"/>
          </a:p>
        </p:txBody>
      </p:sp>
      <p:sp>
        <p:nvSpPr>
          <p:cNvPr id="19" name="Shape 17"/>
          <p:cNvSpPr/>
          <p:nvPr/>
        </p:nvSpPr>
        <p:spPr>
          <a:xfrm>
            <a:off x="3931920" y="2724912"/>
            <a:ext cx="713232" cy="713232"/>
          </a:xfrm>
          <a:prstGeom prst="ellipse">
            <a:avLst/>
          </a:prstGeom>
          <a:solidFill>
            <a:srgbClr val="FFFFFF"/>
          </a:solidFill>
          <a:ln w="19050">
            <a:solidFill>
              <a:srgbClr val="2863EB"/>
            </a:solidFill>
            <a:prstDash val="solid"/>
          </a:ln>
        </p:spPr>
      </p:sp>
      <p:sp>
        <p:nvSpPr>
          <p:cNvPr id="20" name="Text 18"/>
          <p:cNvSpPr/>
          <p:nvPr/>
        </p:nvSpPr>
        <p:spPr>
          <a:xfrm>
            <a:off x="3931920" y="2862072"/>
            <a:ext cx="713232" cy="283464"/>
          </a:xfrm>
          <a:prstGeom prst="rect">
            <a:avLst/>
          </a:prstGeom>
          <a:noFill/>
          <a:ln/>
        </p:spPr>
        <p:txBody>
          <a:bodyPr wrap="square" lIns="0" tIns="0" rIns="0" bIns="0" rtlCol="0" anchor="ctr">
            <a:normAutofit/>
          </a:bodyPr>
          <a:lstStyle/>
          <a:p>
            <a:pPr algn="ctr" indent="0" marL="0">
              <a:buNone/>
            </a:pPr>
            <a:r>
              <a:rPr lang="en-US" sz="2000" b="1" dirty="0">
                <a:solidFill>
                  <a:srgbClr val="2863EB"/>
                </a:solidFill>
                <a:latin typeface="Inter" pitchFamily="34" charset="0"/>
                <a:ea typeface="Inter" pitchFamily="34" charset="-122"/>
                <a:cs typeface="Inter" pitchFamily="34" charset="-120"/>
              </a:rPr>
              <a:t>03</a:t>
            </a:r>
            <a:endParaRPr lang="en-US" sz="2000" dirty="0"/>
          </a:p>
        </p:txBody>
      </p:sp>
      <p:sp>
        <p:nvSpPr>
          <p:cNvPr id="21" name="Text 19"/>
          <p:cNvSpPr/>
          <p:nvPr/>
        </p:nvSpPr>
        <p:spPr>
          <a:xfrm>
            <a:off x="3657600" y="3657600"/>
            <a:ext cx="1271016" cy="640080"/>
          </a:xfrm>
          <a:prstGeom prst="rect">
            <a:avLst/>
          </a:prstGeom>
          <a:noFill/>
          <a:ln/>
        </p:spPr>
        <p:txBody>
          <a:bodyPr wrap="square" lIns="0" tIns="0" rIns="0" bIns="0" rtlCol="0" anchor="ctr">
            <a:normAutofit/>
          </a:bodyPr>
          <a:lstStyle/>
          <a:p>
            <a:pPr algn="ctr" indent="0" marL="0">
              <a:buNone/>
            </a:pPr>
            <a:r>
              <a:rPr lang="en-US" sz="1700" b="1" dirty="0">
                <a:solidFill>
                  <a:srgbClr val="596779"/>
                </a:solidFill>
                <a:latin typeface="Inter" pitchFamily="34" charset="0"/>
                <a:ea typeface="Inter" pitchFamily="34" charset="-122"/>
                <a:cs typeface="Inter" pitchFamily="34" charset="-120"/>
              </a:rPr>
              <a:t>Extract</a:t>
            </a:r>
            <a:endParaRPr lang="en-US" sz="1700" dirty="0"/>
          </a:p>
          <a:p>
            <a:pPr algn="ctr" indent="0" marL="0">
              <a:buNone/>
            </a:pPr>
            <a:r>
              <a:rPr lang="en-US" sz="1700" b="1" dirty="0">
                <a:solidFill>
                  <a:srgbClr val="596779"/>
                </a:solidFill>
                <a:latin typeface="Inter" pitchFamily="34" charset="0"/>
                <a:ea typeface="Inter" pitchFamily="34" charset="-122"/>
                <a:cs typeface="Inter" pitchFamily="34" charset="-120"/>
              </a:rPr>
              <a:t>findings</a:t>
            </a:r>
            <a:endParaRPr lang="en-US" sz="1700" dirty="0"/>
          </a:p>
        </p:txBody>
      </p:sp>
      <p:sp>
        <p:nvSpPr>
          <p:cNvPr id="22" name="Shape 20"/>
          <p:cNvSpPr/>
          <p:nvPr/>
        </p:nvSpPr>
        <p:spPr>
          <a:xfrm>
            <a:off x="5532120" y="2724912"/>
            <a:ext cx="713232" cy="713232"/>
          </a:xfrm>
          <a:prstGeom prst="ellipse">
            <a:avLst/>
          </a:prstGeom>
          <a:solidFill>
            <a:srgbClr val="FFFFFF"/>
          </a:solidFill>
          <a:ln w="19050">
            <a:solidFill>
              <a:srgbClr val="2863EB"/>
            </a:solidFill>
            <a:prstDash val="solid"/>
          </a:ln>
        </p:spPr>
      </p:sp>
      <p:sp>
        <p:nvSpPr>
          <p:cNvPr id="23" name="Text 21"/>
          <p:cNvSpPr/>
          <p:nvPr/>
        </p:nvSpPr>
        <p:spPr>
          <a:xfrm>
            <a:off x="5532120" y="2862072"/>
            <a:ext cx="713232" cy="283464"/>
          </a:xfrm>
          <a:prstGeom prst="rect">
            <a:avLst/>
          </a:prstGeom>
          <a:noFill/>
          <a:ln/>
        </p:spPr>
        <p:txBody>
          <a:bodyPr wrap="square" lIns="0" tIns="0" rIns="0" bIns="0" rtlCol="0" anchor="ctr">
            <a:normAutofit/>
          </a:bodyPr>
          <a:lstStyle/>
          <a:p>
            <a:pPr algn="ctr" indent="0" marL="0">
              <a:buNone/>
            </a:pPr>
            <a:r>
              <a:rPr lang="en-US" sz="2000" b="1" dirty="0">
                <a:solidFill>
                  <a:srgbClr val="2863EB"/>
                </a:solidFill>
                <a:latin typeface="Inter" pitchFamily="34" charset="0"/>
                <a:ea typeface="Inter" pitchFamily="34" charset="-122"/>
                <a:cs typeface="Inter" pitchFamily="34" charset="-120"/>
              </a:rPr>
              <a:t>04</a:t>
            </a:r>
            <a:endParaRPr lang="en-US" sz="2000" dirty="0"/>
          </a:p>
        </p:txBody>
      </p:sp>
      <p:sp>
        <p:nvSpPr>
          <p:cNvPr id="24" name="Text 22"/>
          <p:cNvSpPr/>
          <p:nvPr/>
        </p:nvSpPr>
        <p:spPr>
          <a:xfrm>
            <a:off x="5257800" y="3657600"/>
            <a:ext cx="1271016" cy="640080"/>
          </a:xfrm>
          <a:prstGeom prst="rect">
            <a:avLst/>
          </a:prstGeom>
          <a:noFill/>
          <a:ln/>
        </p:spPr>
        <p:txBody>
          <a:bodyPr wrap="square" lIns="0" tIns="0" rIns="0" bIns="0" rtlCol="0" anchor="ctr">
            <a:normAutofit/>
          </a:bodyPr>
          <a:lstStyle/>
          <a:p>
            <a:pPr algn="ctr" indent="0" marL="0">
              <a:buNone/>
            </a:pPr>
            <a:r>
              <a:rPr lang="en-US" sz="1700" b="1" dirty="0">
                <a:solidFill>
                  <a:srgbClr val="596779"/>
                </a:solidFill>
                <a:latin typeface="Inter" pitchFamily="34" charset="0"/>
                <a:ea typeface="Inter" pitchFamily="34" charset="-122"/>
                <a:cs typeface="Inter" pitchFamily="34" charset="-120"/>
              </a:rPr>
              <a:t>Deep Dive</a:t>
            </a:r>
            <a:endParaRPr lang="en-US" sz="1700" dirty="0"/>
          </a:p>
          <a:p>
            <a:pPr algn="ctr" indent="0" marL="0">
              <a:buNone/>
            </a:pPr>
            <a:r>
              <a:rPr lang="en-US" sz="1700" b="1" dirty="0">
                <a:solidFill>
                  <a:srgbClr val="596779"/>
                </a:solidFill>
                <a:latin typeface="Inter" pitchFamily="34" charset="0"/>
                <a:ea typeface="Inter" pitchFamily="34" charset="-122"/>
                <a:cs typeface="Inter" pitchFamily="34" charset="-120"/>
              </a:rPr>
              <a:t>(optional)</a:t>
            </a:r>
            <a:endParaRPr lang="en-US" sz="1700" dirty="0"/>
          </a:p>
        </p:txBody>
      </p:sp>
      <p:sp>
        <p:nvSpPr>
          <p:cNvPr id="25" name="Shape 23"/>
          <p:cNvSpPr/>
          <p:nvPr/>
        </p:nvSpPr>
        <p:spPr>
          <a:xfrm>
            <a:off x="7132320" y="2724912"/>
            <a:ext cx="713232" cy="713232"/>
          </a:xfrm>
          <a:prstGeom prst="ellipse">
            <a:avLst/>
          </a:prstGeom>
          <a:solidFill>
            <a:srgbClr val="FFFFFF"/>
          </a:solidFill>
          <a:ln w="19050">
            <a:solidFill>
              <a:srgbClr val="2863EB"/>
            </a:solidFill>
            <a:prstDash val="solid"/>
          </a:ln>
        </p:spPr>
      </p:sp>
      <p:sp>
        <p:nvSpPr>
          <p:cNvPr id="26" name="Text 24"/>
          <p:cNvSpPr/>
          <p:nvPr/>
        </p:nvSpPr>
        <p:spPr>
          <a:xfrm>
            <a:off x="7132320" y="2862072"/>
            <a:ext cx="713232" cy="283464"/>
          </a:xfrm>
          <a:prstGeom prst="rect">
            <a:avLst/>
          </a:prstGeom>
          <a:noFill/>
          <a:ln/>
        </p:spPr>
        <p:txBody>
          <a:bodyPr wrap="square" lIns="0" tIns="0" rIns="0" bIns="0" rtlCol="0" anchor="ctr">
            <a:normAutofit/>
          </a:bodyPr>
          <a:lstStyle/>
          <a:p>
            <a:pPr algn="ctr" indent="0" marL="0">
              <a:buNone/>
            </a:pPr>
            <a:r>
              <a:rPr lang="en-US" sz="2000" b="1" dirty="0">
                <a:solidFill>
                  <a:srgbClr val="2863EB"/>
                </a:solidFill>
                <a:latin typeface="Inter" pitchFamily="34" charset="0"/>
                <a:ea typeface="Inter" pitchFamily="34" charset="-122"/>
                <a:cs typeface="Inter" pitchFamily="34" charset="-120"/>
              </a:rPr>
              <a:t>05</a:t>
            </a:r>
            <a:endParaRPr lang="en-US" sz="2000" dirty="0"/>
          </a:p>
        </p:txBody>
      </p:sp>
      <p:sp>
        <p:nvSpPr>
          <p:cNvPr id="27" name="Text 25"/>
          <p:cNvSpPr/>
          <p:nvPr/>
        </p:nvSpPr>
        <p:spPr>
          <a:xfrm>
            <a:off x="6858000" y="3657600"/>
            <a:ext cx="1271016" cy="640080"/>
          </a:xfrm>
          <a:prstGeom prst="rect">
            <a:avLst/>
          </a:prstGeom>
          <a:noFill/>
          <a:ln/>
        </p:spPr>
        <p:txBody>
          <a:bodyPr wrap="square" lIns="0" tIns="0" rIns="0" bIns="0" rtlCol="0" anchor="ctr">
            <a:normAutofit/>
          </a:bodyPr>
          <a:lstStyle/>
          <a:p>
            <a:pPr algn="ctr" indent="0" marL="0">
              <a:buNone/>
            </a:pPr>
            <a:r>
              <a:rPr lang="en-US" sz="1700" b="1" dirty="0">
                <a:solidFill>
                  <a:srgbClr val="596779"/>
                </a:solidFill>
                <a:latin typeface="Inter" pitchFamily="34" charset="0"/>
                <a:ea typeface="Inter" pitchFamily="34" charset="-122"/>
                <a:cs typeface="Inter" pitchFamily="34" charset="-120"/>
              </a:rPr>
              <a:t>Resolve</a:t>
            </a:r>
            <a:endParaRPr lang="en-US" sz="1700" dirty="0"/>
          </a:p>
          <a:p>
            <a:pPr algn="ctr" indent="0" marL="0">
              <a:buNone/>
            </a:pPr>
            <a:r>
              <a:rPr lang="en-US" sz="1700" b="1" dirty="0">
                <a:solidFill>
                  <a:srgbClr val="596779"/>
                </a:solidFill>
                <a:latin typeface="Inter" pitchFamily="34" charset="0"/>
                <a:ea typeface="Inter" pitchFamily="34" charset="-122"/>
                <a:cs typeface="Inter" pitchFamily="34" charset="-120"/>
              </a:rPr>
              <a:t>alternatives</a:t>
            </a:r>
            <a:endParaRPr lang="en-US" sz="1700" dirty="0"/>
          </a:p>
        </p:txBody>
      </p:sp>
      <p:sp>
        <p:nvSpPr>
          <p:cNvPr id="28" name="Shape 26"/>
          <p:cNvSpPr/>
          <p:nvPr/>
        </p:nvSpPr>
        <p:spPr>
          <a:xfrm>
            <a:off x="8732520" y="2724912"/>
            <a:ext cx="713232" cy="713232"/>
          </a:xfrm>
          <a:prstGeom prst="ellipse">
            <a:avLst/>
          </a:prstGeom>
          <a:solidFill>
            <a:srgbClr val="FFFFFF"/>
          </a:solidFill>
          <a:ln w="19050">
            <a:solidFill>
              <a:srgbClr val="2863EB"/>
            </a:solidFill>
            <a:prstDash val="solid"/>
          </a:ln>
        </p:spPr>
      </p:sp>
      <p:sp>
        <p:nvSpPr>
          <p:cNvPr id="29" name="Text 27"/>
          <p:cNvSpPr/>
          <p:nvPr/>
        </p:nvSpPr>
        <p:spPr>
          <a:xfrm>
            <a:off x="8732520" y="2862072"/>
            <a:ext cx="713232" cy="283464"/>
          </a:xfrm>
          <a:prstGeom prst="rect">
            <a:avLst/>
          </a:prstGeom>
          <a:noFill/>
          <a:ln/>
        </p:spPr>
        <p:txBody>
          <a:bodyPr wrap="square" lIns="0" tIns="0" rIns="0" bIns="0" rtlCol="0" anchor="ctr">
            <a:normAutofit/>
          </a:bodyPr>
          <a:lstStyle/>
          <a:p>
            <a:pPr algn="ctr" indent="0" marL="0">
              <a:buNone/>
            </a:pPr>
            <a:r>
              <a:rPr lang="en-US" sz="2000" b="1" dirty="0">
                <a:solidFill>
                  <a:srgbClr val="2863EB"/>
                </a:solidFill>
                <a:latin typeface="Inter" pitchFamily="34" charset="0"/>
                <a:ea typeface="Inter" pitchFamily="34" charset="-122"/>
                <a:cs typeface="Inter" pitchFamily="34" charset="-120"/>
              </a:rPr>
              <a:t>06</a:t>
            </a:r>
            <a:endParaRPr lang="en-US" sz="2000" dirty="0"/>
          </a:p>
        </p:txBody>
      </p:sp>
      <p:sp>
        <p:nvSpPr>
          <p:cNvPr id="30" name="Text 28"/>
          <p:cNvSpPr/>
          <p:nvPr/>
        </p:nvSpPr>
        <p:spPr>
          <a:xfrm>
            <a:off x="8458200" y="3657600"/>
            <a:ext cx="1271016" cy="640080"/>
          </a:xfrm>
          <a:prstGeom prst="rect">
            <a:avLst/>
          </a:prstGeom>
          <a:noFill/>
          <a:ln/>
        </p:spPr>
        <p:txBody>
          <a:bodyPr wrap="square" lIns="0" tIns="0" rIns="0" bIns="0" rtlCol="0" anchor="ctr">
            <a:normAutofit/>
          </a:bodyPr>
          <a:lstStyle/>
          <a:p>
            <a:pPr algn="ctr" indent="0" marL="0">
              <a:buNone/>
            </a:pPr>
            <a:r>
              <a:rPr lang="en-US" sz="1700" b="1" dirty="0">
                <a:solidFill>
                  <a:srgbClr val="596779"/>
                </a:solidFill>
                <a:latin typeface="Inter" pitchFamily="34" charset="0"/>
                <a:ea typeface="Inter" pitchFamily="34" charset="-122"/>
                <a:cs typeface="Inter" pitchFamily="34" charset="-120"/>
              </a:rPr>
              <a:t>Draft &amp;</a:t>
            </a:r>
            <a:endParaRPr lang="en-US" sz="1700" dirty="0"/>
          </a:p>
          <a:p>
            <a:pPr algn="ctr" indent="0" marL="0">
              <a:buNone/>
            </a:pPr>
            <a:r>
              <a:rPr lang="en-US" sz="1700" b="1" dirty="0">
                <a:solidFill>
                  <a:srgbClr val="596779"/>
                </a:solidFill>
                <a:latin typeface="Inter" pitchFamily="34" charset="0"/>
                <a:ea typeface="Inter" pitchFamily="34" charset="-122"/>
                <a:cs typeface="Inter" pitchFamily="34" charset="-120"/>
              </a:rPr>
              <a:t>prioritize</a:t>
            </a:r>
            <a:endParaRPr lang="en-US" sz="1700" dirty="0"/>
          </a:p>
        </p:txBody>
      </p:sp>
      <p:sp>
        <p:nvSpPr>
          <p:cNvPr id="31" name="Shape 29"/>
          <p:cNvSpPr/>
          <p:nvPr/>
        </p:nvSpPr>
        <p:spPr>
          <a:xfrm>
            <a:off x="10332720" y="2724912"/>
            <a:ext cx="713232" cy="713232"/>
          </a:xfrm>
          <a:prstGeom prst="ellipse">
            <a:avLst/>
          </a:prstGeom>
          <a:solidFill>
            <a:srgbClr val="131C29"/>
          </a:solidFill>
          <a:ln w="19050">
            <a:solidFill>
              <a:srgbClr val="131C29"/>
            </a:solidFill>
            <a:prstDash val="solid"/>
          </a:ln>
        </p:spPr>
      </p:sp>
      <p:sp>
        <p:nvSpPr>
          <p:cNvPr id="32" name="Text 30"/>
          <p:cNvSpPr/>
          <p:nvPr/>
        </p:nvSpPr>
        <p:spPr>
          <a:xfrm>
            <a:off x="10332720" y="2862072"/>
            <a:ext cx="713232" cy="283464"/>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Inter" pitchFamily="34" charset="0"/>
                <a:ea typeface="Inter" pitchFamily="34" charset="-122"/>
                <a:cs typeface="Inter" pitchFamily="34" charset="-120"/>
              </a:rPr>
              <a:t>07</a:t>
            </a:r>
            <a:endParaRPr lang="en-US" sz="2000" dirty="0"/>
          </a:p>
        </p:txBody>
      </p:sp>
      <p:sp>
        <p:nvSpPr>
          <p:cNvPr id="33" name="Text 31"/>
          <p:cNvSpPr/>
          <p:nvPr/>
        </p:nvSpPr>
        <p:spPr>
          <a:xfrm>
            <a:off x="10058400" y="3657600"/>
            <a:ext cx="1271016" cy="640080"/>
          </a:xfrm>
          <a:prstGeom prst="rect">
            <a:avLst/>
          </a:prstGeom>
          <a:noFill/>
          <a:ln/>
        </p:spPr>
        <p:txBody>
          <a:bodyPr wrap="square" lIns="0" tIns="0" rIns="0" bIns="0" rtlCol="0" anchor="ctr">
            <a:normAutofit/>
          </a:bodyPr>
          <a:lstStyle/>
          <a:p>
            <a:pPr algn="ctr" indent="0" marL="0">
              <a:buNone/>
            </a:pPr>
            <a:r>
              <a:rPr lang="en-US" sz="1700" b="1" dirty="0">
                <a:solidFill>
                  <a:srgbClr val="131C29"/>
                </a:solidFill>
                <a:latin typeface="Inter" pitchFamily="34" charset="0"/>
                <a:ea typeface="Inter" pitchFamily="34" charset="-122"/>
                <a:cs typeface="Inter" pitchFamily="34" charset="-120"/>
              </a:rPr>
              <a:t>Review &amp;</a:t>
            </a:r>
            <a:endParaRPr lang="en-US" sz="1700" dirty="0"/>
          </a:p>
          <a:p>
            <a:pPr algn="ctr" indent="0" marL="0">
              <a:buNone/>
            </a:pPr>
            <a:r>
              <a:rPr lang="en-US" sz="1700" b="1" dirty="0">
                <a:solidFill>
                  <a:srgbClr val="131C29"/>
                </a:solidFill>
                <a:latin typeface="Inter" pitchFamily="34" charset="0"/>
                <a:ea typeface="Inter" pitchFamily="34" charset="-122"/>
                <a:cs typeface="Inter" pitchFamily="34" charset="-120"/>
              </a:rPr>
              <a:t>export</a:t>
            </a:r>
            <a:endParaRPr lang="en-US" sz="1700" dirty="0"/>
          </a:p>
        </p:txBody>
      </p:sp>
      <p:sp>
        <p:nvSpPr>
          <p:cNvPr id="34" name="Shape 32"/>
          <p:cNvSpPr/>
          <p:nvPr/>
        </p:nvSpPr>
        <p:spPr>
          <a:xfrm>
            <a:off x="5065776" y="2286000"/>
            <a:ext cx="1645920" cy="246888"/>
          </a:xfrm>
          <a:prstGeom prst="roundRect">
            <a:avLst>
              <a:gd name="adj" fmla="val 44444"/>
            </a:avLst>
          </a:prstGeom>
          <a:solidFill>
            <a:srgbClr val="EAF0FE"/>
          </a:solidFill>
          <a:ln w="12700">
            <a:solidFill>
              <a:srgbClr val="EAF0FE"/>
            </a:solidFill>
            <a:prstDash val="solid"/>
          </a:ln>
        </p:spPr>
      </p:sp>
      <p:sp>
        <p:nvSpPr>
          <p:cNvPr id="35" name="Text 33"/>
          <p:cNvSpPr/>
          <p:nvPr/>
        </p:nvSpPr>
        <p:spPr>
          <a:xfrm>
            <a:off x="5157216" y="2295144"/>
            <a:ext cx="1463040" cy="228600"/>
          </a:xfrm>
          <a:prstGeom prst="rect">
            <a:avLst/>
          </a:prstGeom>
          <a:noFill/>
          <a:ln/>
        </p:spPr>
        <p:txBody>
          <a:bodyPr wrap="square" lIns="0" tIns="0" rIns="0" bIns="0" rtlCol="0" anchor="ctr">
            <a:normAutofit/>
          </a:bodyPr>
          <a:lstStyle/>
          <a:p>
            <a:pPr algn="ctr" indent="0" marL="0">
              <a:buNone/>
            </a:pPr>
            <a:r>
              <a:rPr lang="en-US" sz="920" b="1" dirty="0">
                <a:solidFill>
                  <a:srgbClr val="2863EB"/>
                </a:solidFill>
                <a:latin typeface="Inter" pitchFamily="34" charset="0"/>
                <a:ea typeface="Inter" pitchFamily="34" charset="-122"/>
                <a:cs typeface="Inter" pitchFamily="34" charset="-120"/>
              </a:rPr>
              <a:t>Optional research</a:t>
            </a:r>
            <a:endParaRPr lang="en-US" sz="920" dirty="0"/>
          </a:p>
        </p:txBody>
      </p:sp>
      <p:sp>
        <p:nvSpPr>
          <p:cNvPr id="36" name="Shape 34"/>
          <p:cNvSpPr/>
          <p:nvPr/>
        </p:nvSpPr>
        <p:spPr>
          <a:xfrm>
            <a:off x="9326880" y="4590288"/>
            <a:ext cx="2130552" cy="274320"/>
          </a:xfrm>
          <a:prstGeom prst="roundRect">
            <a:avLst>
              <a:gd name="adj" fmla="val 40000"/>
            </a:avLst>
          </a:prstGeom>
          <a:solidFill>
            <a:srgbClr val="EAF0FE"/>
          </a:solidFill>
          <a:ln w="12700">
            <a:solidFill>
              <a:srgbClr val="EAF0FE"/>
            </a:solidFill>
            <a:prstDash val="solid"/>
          </a:ln>
        </p:spPr>
      </p:sp>
      <p:sp>
        <p:nvSpPr>
          <p:cNvPr id="37" name="Text 35"/>
          <p:cNvSpPr/>
          <p:nvPr/>
        </p:nvSpPr>
        <p:spPr>
          <a:xfrm>
            <a:off x="9418320" y="4599432"/>
            <a:ext cx="1947672" cy="256032"/>
          </a:xfrm>
          <a:prstGeom prst="rect">
            <a:avLst/>
          </a:prstGeom>
          <a:noFill/>
          <a:ln/>
        </p:spPr>
        <p:txBody>
          <a:bodyPr wrap="square" lIns="0" tIns="0" rIns="0" bIns="0" rtlCol="0" anchor="ctr">
            <a:normAutofit/>
          </a:bodyPr>
          <a:lstStyle/>
          <a:p>
            <a:pPr algn="ctr" indent="0" marL="0">
              <a:buNone/>
            </a:pPr>
            <a:r>
              <a:rPr lang="en-US" sz="980" b="1" dirty="0">
                <a:solidFill>
                  <a:srgbClr val="2863EB"/>
                </a:solidFill>
                <a:latin typeface="Inter" pitchFamily="34" charset="0"/>
                <a:ea typeface="Inter" pitchFamily="34" charset="-122"/>
                <a:cs typeface="Inter" pitchFamily="34" charset="-120"/>
              </a:rPr>
              <a:t>Reimagine on request</a:t>
            </a:r>
            <a:endParaRPr lang="en-US" sz="980" dirty="0"/>
          </a:p>
        </p:txBody>
      </p:sp>
      <p:sp>
        <p:nvSpPr>
          <p:cNvPr id="38" name="Shape 36"/>
          <p:cNvSpPr/>
          <p:nvPr/>
        </p:nvSpPr>
        <p:spPr>
          <a:xfrm>
            <a:off x="731520" y="5065776"/>
            <a:ext cx="8695944" cy="0"/>
          </a:xfrm>
          <a:prstGeom prst="line">
            <a:avLst/>
          </a:prstGeom>
          <a:noFill/>
          <a:ln w="25400">
            <a:solidFill>
              <a:srgbClr val="2863EB"/>
            </a:solidFill>
            <a:prstDash val="solid"/>
            <a:tailEnd type="triangle"/>
          </a:ln>
        </p:spPr>
      </p:sp>
      <p:sp>
        <p:nvSpPr>
          <p:cNvPr id="39" name="Text 37"/>
          <p:cNvSpPr/>
          <p:nvPr/>
        </p:nvSpPr>
        <p:spPr>
          <a:xfrm>
            <a:off x="731520" y="5257800"/>
            <a:ext cx="8046720" cy="265176"/>
          </a:xfrm>
          <a:prstGeom prst="rect">
            <a:avLst/>
          </a:prstGeom>
          <a:noFill/>
          <a:ln/>
        </p:spPr>
        <p:txBody>
          <a:bodyPr wrap="square" lIns="0" tIns="0" rIns="0" bIns="0" rtlCol="0" anchor="ctr">
            <a:normAutofit/>
          </a:bodyPr>
          <a:lstStyle/>
          <a:p>
            <a:pPr indent="0" marL="0">
              <a:buNone/>
            </a:pPr>
            <a:r>
              <a:rPr lang="en-US" sz="1200" b="1" spc="100" kern="0" dirty="0">
                <a:solidFill>
                  <a:srgbClr val="2863EB"/>
                </a:solidFill>
                <a:latin typeface="Inter" pitchFamily="34" charset="0"/>
                <a:ea typeface="Inter" pitchFamily="34" charset="-122"/>
                <a:cs typeface="Inter" pitchFamily="34" charset="-120"/>
              </a:rPr>
              <a:t>AUTONOMOUS PROPOSAL COMPLETION</a:t>
            </a:r>
            <a:endParaRPr lang="en-US" sz="1200" dirty="0"/>
          </a:p>
        </p:txBody>
      </p:sp>
      <p:sp>
        <p:nvSpPr>
          <p:cNvPr id="40" name="Text 38"/>
          <p:cNvSpPr/>
          <p:nvPr/>
        </p:nvSpPr>
        <p:spPr>
          <a:xfrm>
            <a:off x="731520" y="5806440"/>
            <a:ext cx="10698480" cy="320040"/>
          </a:xfrm>
          <a:prstGeom prst="rect">
            <a:avLst/>
          </a:prstGeom>
          <a:noFill/>
          <a:ln/>
        </p:spPr>
        <p:txBody>
          <a:bodyPr wrap="square" lIns="0" tIns="0" rIns="0" bIns="0" rtlCol="0" anchor="ctr">
            <a:normAutofit/>
          </a:bodyPr>
          <a:lstStyle/>
          <a:p>
            <a:pPr indent="0" marL="0">
              <a:buNone/>
            </a:pPr>
            <a:r>
              <a:rPr lang="en-US" sz="1570" dirty="0">
                <a:solidFill>
                  <a:srgbClr val="131C29"/>
                </a:solidFill>
                <a:latin typeface="Inter" pitchFamily="34" charset="0"/>
                <a:ea typeface="Inter" pitchFamily="34" charset="-122"/>
                <a:cs typeface="Inter" pitchFamily="34" charset="-120"/>
              </a:rPr>
              <a:t>PM refinement returns to the proposal stage; previous versions remain inspectable.</a:t>
            </a:r>
            <a:endParaRPr lang="en-US" sz="15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EXPLORE FINDINGS ON THE VEHICLE</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Every marker has a source.</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Spatial tags are an entry point into the evidence—not a substitute for it.</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05 / 14</a:t>
            </a:r>
            <a:endParaRPr lang="en-US" sz="890" dirty="0"/>
          </a:p>
        </p:txBody>
      </p:sp>
      <p:pic>
        <p:nvPicPr>
          <p:cNvPr id="12" name="Image 0" descr="/mnt/data/fwd_rebuild/assets/bmw_illustrative_cutout.png">    </p:cNvPr>
          <p:cNvPicPr>
            <a:picLocks noChangeAspect="1"/>
          </p:cNvPicPr>
          <p:nvPr/>
        </p:nvPicPr>
        <p:blipFill>
          <a:blip r:embed="rId1"/>
          <a:stretch>
            <a:fillRect/>
          </a:stretch>
        </p:blipFill>
        <p:spPr>
          <a:xfrm>
            <a:off x="594360" y="2761488"/>
            <a:ext cx="6867144" cy="3248102"/>
          </a:xfrm>
          <a:prstGeom prst="rect">
            <a:avLst/>
          </a:prstGeom>
        </p:spPr>
      </p:pic>
      <p:sp>
        <p:nvSpPr>
          <p:cNvPr id="13" name="Shape 10"/>
          <p:cNvSpPr/>
          <p:nvPr/>
        </p:nvSpPr>
        <p:spPr>
          <a:xfrm flipH="1" flipV="1">
            <a:off x="1874520" y="2843784"/>
            <a:ext cx="2478024" cy="905256"/>
          </a:xfrm>
          <a:prstGeom prst="line">
            <a:avLst/>
          </a:prstGeom>
          <a:noFill/>
          <a:ln w="14605">
            <a:solidFill>
              <a:srgbClr val="CF4B54"/>
            </a:solidFill>
            <a:prstDash val="solid"/>
          </a:ln>
        </p:spPr>
      </p:sp>
      <p:sp>
        <p:nvSpPr>
          <p:cNvPr id="14" name="Shape 11"/>
          <p:cNvSpPr/>
          <p:nvPr/>
        </p:nvSpPr>
        <p:spPr>
          <a:xfrm>
            <a:off x="914400" y="2532888"/>
            <a:ext cx="1920240" cy="310896"/>
          </a:xfrm>
          <a:prstGeom prst="roundRect">
            <a:avLst>
              <a:gd name="adj" fmla="val 35294"/>
            </a:avLst>
          </a:prstGeom>
          <a:solidFill>
            <a:srgbClr val="FCEDEF"/>
          </a:solidFill>
          <a:ln w="12700">
            <a:solidFill>
              <a:srgbClr val="FCEDEF"/>
            </a:solidFill>
            <a:prstDash val="solid"/>
          </a:ln>
        </p:spPr>
      </p:sp>
      <p:sp>
        <p:nvSpPr>
          <p:cNvPr id="15" name="Text 12"/>
          <p:cNvSpPr/>
          <p:nvPr/>
        </p:nvSpPr>
        <p:spPr>
          <a:xfrm>
            <a:off x="1005840" y="2542032"/>
            <a:ext cx="1737360" cy="292608"/>
          </a:xfrm>
          <a:prstGeom prst="rect">
            <a:avLst/>
          </a:prstGeom>
          <a:noFill/>
          <a:ln/>
        </p:spPr>
        <p:txBody>
          <a:bodyPr wrap="square" lIns="0" tIns="0" rIns="0" bIns="0" rtlCol="0" anchor="ctr">
            <a:normAutofit/>
          </a:bodyPr>
          <a:lstStyle/>
          <a:p>
            <a:pPr algn="ctr" indent="0" marL="0">
              <a:buNone/>
            </a:pPr>
            <a:r>
              <a:rPr lang="en-US" sz="1040" b="1" dirty="0">
                <a:solidFill>
                  <a:srgbClr val="CF4B54"/>
                </a:solidFill>
                <a:latin typeface="Inter" pitchFamily="34" charset="0"/>
                <a:ea typeface="Inter" pitchFamily="34" charset="-122"/>
                <a:cs typeface="Inter" pitchFamily="34" charset="-120"/>
              </a:rPr>
              <a:t>Comfort controls</a:t>
            </a:r>
            <a:endParaRPr lang="en-US" sz="1040" dirty="0"/>
          </a:p>
        </p:txBody>
      </p:sp>
      <p:sp>
        <p:nvSpPr>
          <p:cNvPr id="16" name="Shape 13"/>
          <p:cNvSpPr/>
          <p:nvPr/>
        </p:nvSpPr>
        <p:spPr>
          <a:xfrm>
            <a:off x="4219956" y="3616452"/>
            <a:ext cx="265176" cy="265176"/>
          </a:xfrm>
          <a:prstGeom prst="ellipse">
            <a:avLst/>
          </a:prstGeom>
          <a:solidFill>
            <a:srgbClr val="FFFFFF"/>
          </a:solidFill>
          <a:ln w="20320">
            <a:solidFill>
              <a:srgbClr val="CF4B54"/>
            </a:solidFill>
            <a:prstDash val="solid"/>
          </a:ln>
        </p:spPr>
      </p:sp>
      <p:sp>
        <p:nvSpPr>
          <p:cNvPr id="17" name="Text 14"/>
          <p:cNvSpPr/>
          <p:nvPr/>
        </p:nvSpPr>
        <p:spPr>
          <a:xfrm>
            <a:off x="4219956" y="3621938"/>
            <a:ext cx="265176" cy="254203"/>
          </a:xfrm>
          <a:prstGeom prst="rect">
            <a:avLst/>
          </a:prstGeom>
          <a:noFill/>
          <a:ln/>
        </p:spPr>
        <p:txBody>
          <a:bodyPr wrap="square" lIns="0" tIns="0" rIns="0" bIns="0" rtlCol="0" anchor="ctr">
            <a:normAutofit/>
          </a:bodyPr>
          <a:lstStyle/>
          <a:p>
            <a:pPr algn="ctr" indent="0" marL="0">
              <a:buNone/>
            </a:pPr>
            <a:r>
              <a:rPr lang="en-US" sz="1050" b="1" dirty="0">
                <a:solidFill>
                  <a:srgbClr val="CF4B54"/>
                </a:solidFill>
                <a:latin typeface="Inter" pitchFamily="34" charset="0"/>
                <a:ea typeface="Inter" pitchFamily="34" charset="-122"/>
                <a:cs typeface="Inter" pitchFamily="34" charset="-120"/>
              </a:rPr>
              <a:t>1</a:t>
            </a:r>
            <a:endParaRPr lang="en-US" sz="1050" dirty="0"/>
          </a:p>
        </p:txBody>
      </p:sp>
      <p:sp>
        <p:nvSpPr>
          <p:cNvPr id="18" name="Shape 15"/>
          <p:cNvSpPr/>
          <p:nvPr/>
        </p:nvSpPr>
        <p:spPr>
          <a:xfrm flipH="1" flipV="1">
            <a:off x="4475988" y="2816352"/>
            <a:ext cx="955548" cy="987552"/>
          </a:xfrm>
          <a:prstGeom prst="line">
            <a:avLst/>
          </a:prstGeom>
          <a:noFill/>
          <a:ln w="14605">
            <a:solidFill>
              <a:srgbClr val="CF4B54"/>
            </a:solidFill>
            <a:prstDash val="solid"/>
          </a:ln>
        </p:spPr>
      </p:sp>
      <p:sp>
        <p:nvSpPr>
          <p:cNvPr id="19" name="Shape 16"/>
          <p:cNvSpPr/>
          <p:nvPr/>
        </p:nvSpPr>
        <p:spPr>
          <a:xfrm>
            <a:off x="3675888" y="2505456"/>
            <a:ext cx="1600200" cy="310896"/>
          </a:xfrm>
          <a:prstGeom prst="roundRect">
            <a:avLst>
              <a:gd name="adj" fmla="val 35294"/>
            </a:avLst>
          </a:prstGeom>
          <a:solidFill>
            <a:srgbClr val="FCEDEF"/>
          </a:solidFill>
          <a:ln w="12700">
            <a:solidFill>
              <a:srgbClr val="FCEDEF"/>
            </a:solidFill>
            <a:prstDash val="solid"/>
          </a:ln>
        </p:spPr>
      </p:sp>
      <p:sp>
        <p:nvSpPr>
          <p:cNvPr id="20" name="Text 17"/>
          <p:cNvSpPr/>
          <p:nvPr/>
        </p:nvSpPr>
        <p:spPr>
          <a:xfrm>
            <a:off x="3767328" y="2514600"/>
            <a:ext cx="1417320" cy="292608"/>
          </a:xfrm>
          <a:prstGeom prst="rect">
            <a:avLst/>
          </a:prstGeom>
          <a:noFill/>
          <a:ln/>
        </p:spPr>
        <p:txBody>
          <a:bodyPr wrap="square" lIns="0" tIns="0" rIns="0" bIns="0" rtlCol="0" anchor="ctr">
            <a:normAutofit/>
          </a:bodyPr>
          <a:lstStyle/>
          <a:p>
            <a:pPr algn="ctr" indent="0" marL="0">
              <a:buNone/>
            </a:pPr>
            <a:r>
              <a:rPr lang="en-US" sz="1040" b="1" dirty="0">
                <a:solidFill>
                  <a:srgbClr val="CF4B54"/>
                </a:solidFill>
                <a:latin typeface="Inter" pitchFamily="34" charset="0"/>
                <a:ea typeface="Inter" pitchFamily="34" charset="-122"/>
                <a:cs typeface="Inter" pitchFamily="34" charset="-120"/>
              </a:rPr>
              <a:t>Seat comfort</a:t>
            </a:r>
            <a:endParaRPr lang="en-US" sz="1040" dirty="0"/>
          </a:p>
        </p:txBody>
      </p:sp>
      <p:sp>
        <p:nvSpPr>
          <p:cNvPr id="21" name="Shape 18"/>
          <p:cNvSpPr/>
          <p:nvPr/>
        </p:nvSpPr>
        <p:spPr>
          <a:xfrm>
            <a:off x="5298948" y="3671316"/>
            <a:ext cx="265176" cy="265176"/>
          </a:xfrm>
          <a:prstGeom prst="ellipse">
            <a:avLst/>
          </a:prstGeom>
          <a:solidFill>
            <a:srgbClr val="FFFFFF"/>
          </a:solidFill>
          <a:ln w="20320">
            <a:solidFill>
              <a:srgbClr val="CF4B54"/>
            </a:solidFill>
            <a:prstDash val="solid"/>
          </a:ln>
        </p:spPr>
      </p:sp>
      <p:sp>
        <p:nvSpPr>
          <p:cNvPr id="22" name="Text 19"/>
          <p:cNvSpPr/>
          <p:nvPr/>
        </p:nvSpPr>
        <p:spPr>
          <a:xfrm>
            <a:off x="5298948" y="3676802"/>
            <a:ext cx="265176" cy="254203"/>
          </a:xfrm>
          <a:prstGeom prst="rect">
            <a:avLst/>
          </a:prstGeom>
          <a:noFill/>
          <a:ln/>
        </p:spPr>
        <p:txBody>
          <a:bodyPr wrap="square" lIns="0" tIns="0" rIns="0" bIns="0" rtlCol="0" anchor="ctr">
            <a:normAutofit/>
          </a:bodyPr>
          <a:lstStyle/>
          <a:p>
            <a:pPr algn="ctr" indent="0" marL="0">
              <a:buNone/>
            </a:pPr>
            <a:r>
              <a:rPr lang="en-US" sz="1050" b="1" dirty="0">
                <a:solidFill>
                  <a:srgbClr val="CF4B54"/>
                </a:solidFill>
                <a:latin typeface="Inter" pitchFamily="34" charset="0"/>
                <a:ea typeface="Inter" pitchFamily="34" charset="-122"/>
                <a:cs typeface="Inter" pitchFamily="34" charset="-120"/>
              </a:rPr>
              <a:t>2</a:t>
            </a:r>
            <a:endParaRPr lang="en-US" sz="1050" dirty="0"/>
          </a:p>
        </p:txBody>
      </p:sp>
      <p:sp>
        <p:nvSpPr>
          <p:cNvPr id="23" name="Shape 20"/>
          <p:cNvSpPr/>
          <p:nvPr/>
        </p:nvSpPr>
        <p:spPr>
          <a:xfrm flipV="1">
            <a:off x="6400800" y="3136392"/>
            <a:ext cx="219456" cy="914400"/>
          </a:xfrm>
          <a:prstGeom prst="line">
            <a:avLst/>
          </a:prstGeom>
          <a:noFill/>
          <a:ln w="14605">
            <a:solidFill>
              <a:srgbClr val="CF4B54"/>
            </a:solidFill>
            <a:prstDash val="solid"/>
          </a:ln>
        </p:spPr>
      </p:sp>
      <p:sp>
        <p:nvSpPr>
          <p:cNvPr id="24" name="Shape 21"/>
          <p:cNvSpPr/>
          <p:nvPr/>
        </p:nvSpPr>
        <p:spPr>
          <a:xfrm>
            <a:off x="5779008" y="2825496"/>
            <a:ext cx="1682496" cy="310896"/>
          </a:xfrm>
          <a:prstGeom prst="roundRect">
            <a:avLst>
              <a:gd name="adj" fmla="val 35294"/>
            </a:avLst>
          </a:prstGeom>
          <a:solidFill>
            <a:srgbClr val="FCEDEF"/>
          </a:solidFill>
          <a:ln w="12700">
            <a:solidFill>
              <a:srgbClr val="FCEDEF"/>
            </a:solidFill>
            <a:prstDash val="solid"/>
          </a:ln>
        </p:spPr>
      </p:sp>
      <p:sp>
        <p:nvSpPr>
          <p:cNvPr id="25" name="Text 22"/>
          <p:cNvSpPr/>
          <p:nvPr/>
        </p:nvSpPr>
        <p:spPr>
          <a:xfrm>
            <a:off x="5870448" y="2834640"/>
            <a:ext cx="1499616" cy="292608"/>
          </a:xfrm>
          <a:prstGeom prst="rect">
            <a:avLst/>
          </a:prstGeom>
          <a:noFill/>
          <a:ln/>
        </p:spPr>
        <p:txBody>
          <a:bodyPr wrap="square" lIns="0" tIns="0" rIns="0" bIns="0" rtlCol="0" anchor="ctr">
            <a:normAutofit/>
          </a:bodyPr>
          <a:lstStyle/>
          <a:p>
            <a:pPr algn="ctr" indent="0" marL="0">
              <a:buNone/>
            </a:pPr>
            <a:r>
              <a:rPr lang="en-US" sz="1040" b="1" dirty="0">
                <a:solidFill>
                  <a:srgbClr val="CF4B54"/>
                </a:solidFill>
                <a:latin typeface="Inter" pitchFamily="34" charset="0"/>
                <a:ea typeface="Inter" pitchFamily="34" charset="-122"/>
                <a:cs typeface="Inter" pitchFamily="34" charset="-120"/>
              </a:rPr>
              <a:t>Rear passenger</a:t>
            </a:r>
            <a:endParaRPr lang="en-US" sz="1040" dirty="0"/>
          </a:p>
        </p:txBody>
      </p:sp>
      <p:sp>
        <p:nvSpPr>
          <p:cNvPr id="26" name="Shape 23"/>
          <p:cNvSpPr/>
          <p:nvPr/>
        </p:nvSpPr>
        <p:spPr>
          <a:xfrm>
            <a:off x="6268212" y="3918204"/>
            <a:ext cx="265176" cy="265176"/>
          </a:xfrm>
          <a:prstGeom prst="ellipse">
            <a:avLst/>
          </a:prstGeom>
          <a:solidFill>
            <a:srgbClr val="FFFFFF"/>
          </a:solidFill>
          <a:ln w="20320">
            <a:solidFill>
              <a:srgbClr val="CF4B54"/>
            </a:solidFill>
            <a:prstDash val="solid"/>
          </a:ln>
        </p:spPr>
      </p:sp>
      <p:sp>
        <p:nvSpPr>
          <p:cNvPr id="27" name="Text 24"/>
          <p:cNvSpPr/>
          <p:nvPr/>
        </p:nvSpPr>
        <p:spPr>
          <a:xfrm>
            <a:off x="6268212" y="3923690"/>
            <a:ext cx="265176" cy="254203"/>
          </a:xfrm>
          <a:prstGeom prst="rect">
            <a:avLst/>
          </a:prstGeom>
          <a:noFill/>
          <a:ln/>
        </p:spPr>
        <p:txBody>
          <a:bodyPr wrap="square" lIns="0" tIns="0" rIns="0" bIns="0" rtlCol="0" anchor="ctr">
            <a:normAutofit/>
          </a:bodyPr>
          <a:lstStyle/>
          <a:p>
            <a:pPr algn="ctr" indent="0" marL="0">
              <a:buNone/>
            </a:pPr>
            <a:r>
              <a:rPr lang="en-US" sz="1050" b="1" dirty="0">
                <a:solidFill>
                  <a:srgbClr val="CF4B54"/>
                </a:solidFill>
                <a:latin typeface="Inter" pitchFamily="34" charset="0"/>
                <a:ea typeface="Inter" pitchFamily="34" charset="-122"/>
                <a:cs typeface="Inter" pitchFamily="34" charset="-120"/>
              </a:rPr>
              <a:t>3</a:t>
            </a:r>
            <a:endParaRPr lang="en-US" sz="1050" dirty="0"/>
          </a:p>
        </p:txBody>
      </p:sp>
      <p:sp>
        <p:nvSpPr>
          <p:cNvPr id="28" name="Shape 25"/>
          <p:cNvSpPr/>
          <p:nvPr/>
        </p:nvSpPr>
        <p:spPr>
          <a:xfrm>
            <a:off x="8101584" y="2441448"/>
            <a:ext cx="3529584" cy="3520440"/>
          </a:xfrm>
          <a:prstGeom prst="rect">
            <a:avLst/>
          </a:prstGeom>
          <a:solidFill>
            <a:srgbClr val="FFFFFF"/>
          </a:solidFill>
          <a:ln w="10160">
            <a:solidFill>
              <a:srgbClr val="DCE3EC"/>
            </a:solidFill>
            <a:prstDash val="solid"/>
          </a:ln>
        </p:spPr>
      </p:sp>
      <p:sp>
        <p:nvSpPr>
          <p:cNvPr id="29" name="Text 26"/>
          <p:cNvSpPr/>
          <p:nvPr/>
        </p:nvSpPr>
        <p:spPr>
          <a:xfrm>
            <a:off x="8321040" y="2670048"/>
            <a:ext cx="3081528" cy="228600"/>
          </a:xfrm>
          <a:prstGeom prst="rect">
            <a:avLst/>
          </a:prstGeom>
          <a:noFill/>
          <a:ln/>
        </p:spPr>
        <p:txBody>
          <a:bodyPr wrap="square" lIns="0" tIns="0" rIns="0" bIns="0" rtlCol="0" anchor="ctr">
            <a:normAutofit/>
          </a:bodyPr>
          <a:lstStyle/>
          <a:p>
            <a:pPr indent="0" marL="0">
              <a:buNone/>
            </a:pPr>
            <a:r>
              <a:rPr lang="en-US" sz="1030" b="1" spc="90" kern="0" dirty="0">
                <a:solidFill>
                  <a:srgbClr val="2863EB"/>
                </a:solidFill>
                <a:latin typeface="Inter" pitchFamily="34" charset="0"/>
                <a:ea typeface="Inter" pitchFamily="34" charset="-122"/>
                <a:cs typeface="Inter" pitchFamily="34" charset="-120"/>
              </a:rPr>
              <a:t>FOLLOW THE EVIDENCE</a:t>
            </a:r>
            <a:endParaRPr lang="en-US" sz="1030" dirty="0"/>
          </a:p>
        </p:txBody>
      </p:sp>
      <p:sp>
        <p:nvSpPr>
          <p:cNvPr id="30" name="Text 27"/>
          <p:cNvSpPr/>
          <p:nvPr/>
        </p:nvSpPr>
        <p:spPr>
          <a:xfrm>
            <a:off x="8321040" y="3063240"/>
            <a:ext cx="3054096" cy="201168"/>
          </a:xfrm>
          <a:prstGeom prst="rect">
            <a:avLst/>
          </a:prstGeom>
          <a:noFill/>
          <a:ln/>
        </p:spPr>
        <p:txBody>
          <a:bodyPr wrap="square" lIns="0" tIns="0" rIns="0" bIns="0" rtlCol="0" anchor="ctr">
            <a:normAutofit/>
          </a:bodyPr>
          <a:lstStyle/>
          <a:p>
            <a:pPr indent="0" marL="0">
              <a:buNone/>
            </a:pPr>
            <a:r>
              <a:rPr lang="en-US" sz="970" b="1" spc="80" kern="0" dirty="0">
                <a:solidFill>
                  <a:srgbClr val="596779"/>
                </a:solidFill>
                <a:latin typeface="Inter" pitchFamily="34" charset="0"/>
                <a:ea typeface="Inter" pitchFamily="34" charset="-122"/>
                <a:cs typeface="Inter" pitchFamily="34" charset="-120"/>
              </a:rPr>
              <a:t>EXACT SOURCE</a:t>
            </a:r>
            <a:endParaRPr lang="en-US" sz="970" dirty="0"/>
          </a:p>
        </p:txBody>
      </p:sp>
      <p:sp>
        <p:nvSpPr>
          <p:cNvPr id="31" name="Text 28"/>
          <p:cNvSpPr/>
          <p:nvPr/>
        </p:nvSpPr>
        <p:spPr>
          <a:xfrm>
            <a:off x="8321040" y="3337560"/>
            <a:ext cx="3054096" cy="484632"/>
          </a:xfrm>
          <a:prstGeom prst="rect">
            <a:avLst/>
          </a:prstGeom>
          <a:noFill/>
          <a:ln/>
        </p:spPr>
        <p:txBody>
          <a:bodyPr wrap="square" lIns="0" tIns="0" rIns="0" bIns="0" rtlCol="0" anchor="ctr">
            <a:normAutofit/>
          </a:bodyPr>
          <a:lstStyle/>
          <a:p>
            <a:pPr indent="0" marL="0">
              <a:buNone/>
            </a:pPr>
            <a:r>
              <a:rPr lang="en-US" sz="1540" dirty="0">
                <a:solidFill>
                  <a:srgbClr val="131C29"/>
                </a:solidFill>
                <a:latin typeface="Inter" pitchFamily="34" charset="0"/>
                <a:ea typeface="Inter" pitchFamily="34" charset="-122"/>
                <a:cs typeface="Inter" pitchFamily="34" charset="-120"/>
              </a:rPr>
              <a:t>Workbook → sheet → row / cell</a:t>
            </a:r>
            <a:endParaRPr lang="en-US" sz="1540" dirty="0"/>
          </a:p>
        </p:txBody>
      </p:sp>
      <p:sp>
        <p:nvSpPr>
          <p:cNvPr id="32" name="Text 29"/>
          <p:cNvSpPr/>
          <p:nvPr/>
        </p:nvSpPr>
        <p:spPr>
          <a:xfrm>
            <a:off x="8321040" y="3886200"/>
            <a:ext cx="3054096" cy="201168"/>
          </a:xfrm>
          <a:prstGeom prst="rect">
            <a:avLst/>
          </a:prstGeom>
          <a:noFill/>
          <a:ln/>
        </p:spPr>
        <p:txBody>
          <a:bodyPr wrap="square" lIns="0" tIns="0" rIns="0" bIns="0" rtlCol="0" anchor="ctr">
            <a:normAutofit/>
          </a:bodyPr>
          <a:lstStyle/>
          <a:p>
            <a:pPr indent="0" marL="0">
              <a:buNone/>
            </a:pPr>
            <a:r>
              <a:rPr lang="en-US" sz="970" b="1" spc="80" kern="0" dirty="0">
                <a:solidFill>
                  <a:srgbClr val="596779"/>
                </a:solidFill>
                <a:latin typeface="Inter" pitchFamily="34" charset="0"/>
                <a:ea typeface="Inter" pitchFamily="34" charset="-122"/>
                <a:cs typeface="Inter" pitchFamily="34" charset="-120"/>
              </a:rPr>
              <a:t>INTERPRETATION</a:t>
            </a:r>
            <a:endParaRPr lang="en-US" sz="970" dirty="0"/>
          </a:p>
        </p:txBody>
      </p:sp>
      <p:sp>
        <p:nvSpPr>
          <p:cNvPr id="33" name="Text 30"/>
          <p:cNvSpPr/>
          <p:nvPr/>
        </p:nvSpPr>
        <p:spPr>
          <a:xfrm>
            <a:off x="8321040" y="4160520"/>
            <a:ext cx="3054096" cy="484632"/>
          </a:xfrm>
          <a:prstGeom prst="rect">
            <a:avLst/>
          </a:prstGeom>
          <a:noFill/>
          <a:ln/>
        </p:spPr>
        <p:txBody>
          <a:bodyPr wrap="square" lIns="0" tIns="0" rIns="0" bIns="0" rtlCol="0" anchor="ctr">
            <a:normAutofit/>
          </a:bodyPr>
          <a:lstStyle/>
          <a:p>
            <a:pPr indent="0" marL="0">
              <a:buNone/>
            </a:pPr>
            <a:r>
              <a:rPr lang="en-US" sz="1540" dirty="0">
                <a:solidFill>
                  <a:srgbClr val="131C29"/>
                </a:solidFill>
                <a:latin typeface="Inter" pitchFamily="34" charset="0"/>
                <a:ea typeface="Inter" pitchFamily="34" charset="-122"/>
                <a:cs typeface="Inter" pitchFamily="34" charset="-120"/>
              </a:rPr>
              <a:t>Customer need + applicable baseline</a:t>
            </a:r>
            <a:endParaRPr lang="en-US" sz="1540" dirty="0"/>
          </a:p>
        </p:txBody>
      </p:sp>
      <p:sp>
        <p:nvSpPr>
          <p:cNvPr id="34" name="Text 31"/>
          <p:cNvSpPr/>
          <p:nvPr/>
        </p:nvSpPr>
        <p:spPr>
          <a:xfrm>
            <a:off x="8321040" y="4727448"/>
            <a:ext cx="3054096" cy="201168"/>
          </a:xfrm>
          <a:prstGeom prst="rect">
            <a:avLst/>
          </a:prstGeom>
          <a:noFill/>
          <a:ln/>
        </p:spPr>
        <p:txBody>
          <a:bodyPr wrap="square" lIns="0" tIns="0" rIns="0" bIns="0" rtlCol="0" anchor="ctr">
            <a:normAutofit/>
          </a:bodyPr>
          <a:lstStyle/>
          <a:p>
            <a:pPr indent="0" marL="0">
              <a:buNone/>
            </a:pPr>
            <a:r>
              <a:rPr lang="en-US" sz="970" b="1" spc="80" kern="0" dirty="0">
                <a:solidFill>
                  <a:srgbClr val="596779"/>
                </a:solidFill>
                <a:latin typeface="Inter" pitchFamily="34" charset="0"/>
                <a:ea typeface="Inter" pitchFamily="34" charset="-122"/>
                <a:cs typeface="Inter" pitchFamily="34" charset="-120"/>
              </a:rPr>
              <a:t>COVERAGE</a:t>
            </a:r>
            <a:endParaRPr lang="en-US" sz="970" dirty="0"/>
          </a:p>
        </p:txBody>
      </p:sp>
      <p:sp>
        <p:nvSpPr>
          <p:cNvPr id="35" name="Text 32"/>
          <p:cNvSpPr/>
          <p:nvPr/>
        </p:nvSpPr>
        <p:spPr>
          <a:xfrm>
            <a:off x="8321040" y="5001768"/>
            <a:ext cx="3054096" cy="484632"/>
          </a:xfrm>
          <a:prstGeom prst="rect">
            <a:avLst/>
          </a:prstGeom>
          <a:noFill/>
          <a:ln/>
        </p:spPr>
        <p:txBody>
          <a:bodyPr wrap="square" lIns="0" tIns="0" rIns="0" bIns="0" rtlCol="0" anchor="ctr">
            <a:normAutofit/>
          </a:bodyPr>
          <a:lstStyle/>
          <a:p>
            <a:pPr indent="0" marL="0">
              <a:buNone/>
            </a:pPr>
            <a:r>
              <a:rPr lang="en-US" sz="1540" dirty="0">
                <a:solidFill>
                  <a:srgbClr val="131C29"/>
                </a:solidFill>
                <a:latin typeface="Inter" pitchFamily="34" charset="0"/>
                <a:ea typeface="Inter" pitchFamily="34" charset="-122"/>
                <a:cs typeface="Inter" pitchFamily="34" charset="-120"/>
              </a:rPr>
              <a:t>Distinct records + denominator</a:t>
            </a:r>
            <a:endParaRPr lang="en-US" sz="1540" dirty="0"/>
          </a:p>
        </p:txBody>
      </p:sp>
      <p:sp>
        <p:nvSpPr>
          <p:cNvPr id="36" name="Text 33"/>
          <p:cNvSpPr/>
          <p:nvPr/>
        </p:nvSpPr>
        <p:spPr>
          <a:xfrm>
            <a:off x="8321040" y="5532120"/>
            <a:ext cx="3044952" cy="283464"/>
          </a:xfrm>
          <a:prstGeom prst="rect">
            <a:avLst/>
          </a:prstGeom>
          <a:noFill/>
          <a:ln/>
        </p:spPr>
        <p:txBody>
          <a:bodyPr wrap="square" lIns="0" tIns="0" rIns="0" bIns="0" rtlCol="0" anchor="ctr">
            <a:normAutofit/>
          </a:bodyPr>
          <a:lstStyle/>
          <a:p>
            <a:pPr indent="0" marL="0">
              <a:buNone/>
            </a:pPr>
            <a:r>
              <a:rPr lang="en-US" sz="1070" dirty="0">
                <a:solidFill>
                  <a:srgbClr val="596779"/>
                </a:solidFill>
                <a:latin typeface="Inter" pitchFamily="34" charset="0"/>
                <a:ea typeface="Inter" pitchFamily="34" charset="-122"/>
                <a:cs typeface="Inter" pitchFamily="34" charset="-120"/>
              </a:rPr>
              <a:t>Support, contradiction and uncertainty stay visible.</a:t>
            </a:r>
            <a:endParaRPr lang="en-US" sz="1070" dirty="0"/>
          </a:p>
        </p:txBody>
      </p:sp>
      <p:sp>
        <p:nvSpPr>
          <p:cNvPr id="37" name="Text 34"/>
          <p:cNvSpPr/>
          <p:nvPr/>
        </p:nvSpPr>
        <p:spPr>
          <a:xfrm>
            <a:off x="612648" y="2249424"/>
            <a:ext cx="7223760" cy="182880"/>
          </a:xfrm>
          <a:prstGeom prst="rect">
            <a:avLst/>
          </a:prstGeom>
          <a:noFill/>
          <a:ln/>
        </p:spPr>
        <p:txBody>
          <a:bodyPr wrap="square" lIns="0" tIns="0" rIns="0" bIns="0" rtlCol="0" anchor="ctr">
            <a:normAutofit/>
          </a:bodyPr>
          <a:lstStyle/>
          <a:p>
            <a:pPr indent="0" marL="0">
              <a:buNone/>
            </a:pPr>
            <a:r>
              <a:rPr lang="en-US" sz="980" dirty="0">
                <a:solidFill>
                  <a:srgbClr val="596779"/>
                </a:solidFill>
                <a:latin typeface="Inter" pitchFamily="34" charset="0"/>
                <a:ea typeface="Inter" pitchFamily="34" charset="-122"/>
                <a:cs typeface="Inter" pitchFamily="34" charset="-120"/>
              </a:rPr>
              <a:t>Concept mockup • numbered markers, not feedback counts</a:t>
            </a:r>
            <a:endParaRPr lang="en-US" sz="980" dirty="0"/>
          </a:p>
        </p:txBody>
      </p:sp>
      <p:sp>
        <p:nvSpPr>
          <p:cNvPr id="38" name="Text 35"/>
          <p:cNvSpPr/>
          <p:nvPr/>
        </p:nvSpPr>
        <p:spPr>
          <a:xfrm>
            <a:off x="594360" y="6126480"/>
            <a:ext cx="11009376" cy="164592"/>
          </a:xfrm>
          <a:prstGeom prst="rect">
            <a:avLst/>
          </a:prstGeom>
          <a:noFill/>
          <a:ln/>
        </p:spPr>
        <p:txBody>
          <a:bodyPr wrap="square" lIns="0" tIns="0" rIns="0" bIns="0" rtlCol="0" anchor="ctr">
            <a:normAutofit/>
          </a:bodyPr>
          <a:lstStyle/>
          <a:p>
            <a:pPr indent="0" marL="0">
              <a:buNone/>
            </a:pPr>
            <a:r>
              <a:rPr lang="en-US" sz="1030" dirty="0">
                <a:solidFill>
                  <a:srgbClr val="596779"/>
                </a:solidFill>
                <a:latin typeface="Inter" pitchFamily="34" charset="0"/>
                <a:ea typeface="Inter" pitchFamily="34" charset="-122"/>
                <a:cs typeface="Inter" pitchFamily="34" charset="-120"/>
              </a:rPr>
              <a:t>Negative record volume drives red intensity. Record counts are not automatically people counts.</a:t>
            </a:r>
            <a:endParaRPr lang="en-US" sz="10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DEEP DIVE</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Research the task, not just the requested feature.</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Optional, bounded research adds applicable approaches and counterevidence.</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06 / 14</a:t>
            </a:r>
            <a:endParaRPr lang="en-US" sz="890" dirty="0"/>
          </a:p>
        </p:txBody>
      </p:sp>
      <p:sp>
        <p:nvSpPr>
          <p:cNvPr id="12" name="Shape 10"/>
          <p:cNvSpPr/>
          <p:nvPr/>
        </p:nvSpPr>
        <p:spPr>
          <a:xfrm>
            <a:off x="576072" y="2478024"/>
            <a:ext cx="3749040" cy="3026664"/>
          </a:xfrm>
          <a:prstGeom prst="rect">
            <a:avLst/>
          </a:prstGeom>
          <a:solidFill>
            <a:srgbClr val="EAF0FE"/>
          </a:solidFill>
          <a:ln w="12700">
            <a:solidFill>
              <a:srgbClr val="EAF0FE"/>
            </a:solidFill>
            <a:prstDash val="solid"/>
          </a:ln>
        </p:spPr>
      </p:sp>
      <p:sp>
        <p:nvSpPr>
          <p:cNvPr id="13" name="Text 11"/>
          <p:cNvSpPr/>
          <p:nvPr/>
        </p:nvSpPr>
        <p:spPr>
          <a:xfrm>
            <a:off x="832104" y="2743200"/>
            <a:ext cx="3200400" cy="210312"/>
          </a:xfrm>
          <a:prstGeom prst="rect">
            <a:avLst/>
          </a:prstGeom>
          <a:noFill/>
          <a:ln/>
        </p:spPr>
        <p:txBody>
          <a:bodyPr wrap="square" lIns="0" tIns="0" rIns="0" bIns="0" rtlCol="0" anchor="ctr">
            <a:normAutofit/>
          </a:bodyPr>
          <a:lstStyle/>
          <a:p>
            <a:pPr indent="0" marL="0">
              <a:buNone/>
            </a:pPr>
            <a:r>
              <a:rPr lang="en-US" sz="1030" b="1" spc="120" kern="0" dirty="0">
                <a:solidFill>
                  <a:srgbClr val="2863EB"/>
                </a:solidFill>
                <a:latin typeface="Inter" pitchFamily="34" charset="0"/>
                <a:ea typeface="Inter" pitchFamily="34" charset="-122"/>
                <a:cs typeface="Inter" pitchFamily="34" charset="-120"/>
              </a:rPr>
              <a:t>RESEARCH QUESTION</a:t>
            </a:r>
            <a:endParaRPr lang="en-US" sz="1030" dirty="0"/>
          </a:p>
        </p:txBody>
      </p:sp>
      <p:sp>
        <p:nvSpPr>
          <p:cNvPr id="14" name="Text 12"/>
          <p:cNvSpPr/>
          <p:nvPr/>
        </p:nvSpPr>
        <p:spPr>
          <a:xfrm>
            <a:off x="832104" y="3273552"/>
            <a:ext cx="3209544" cy="1417320"/>
          </a:xfrm>
          <a:prstGeom prst="rect">
            <a:avLst/>
          </a:prstGeom>
          <a:noFill/>
          <a:ln/>
        </p:spPr>
        <p:txBody>
          <a:bodyPr wrap="square" lIns="0" tIns="0" rIns="0" bIns="0" rtlCol="0" anchor="ctr">
            <a:normAutofit/>
          </a:bodyPr>
          <a:lstStyle/>
          <a:p>
            <a:pPr indent="0" marL="0">
              <a:buNone/>
            </a:pPr>
            <a:r>
              <a:rPr lang="en-US" sz="2500" b="1" dirty="0">
                <a:solidFill>
                  <a:srgbClr val="131C29"/>
                </a:solidFill>
                <a:latin typeface="Inter" pitchFamily="34" charset="0"/>
                <a:ea typeface="Inter" pitchFamily="34" charset="-122"/>
                <a:cs typeface="Inter" pitchFamily="34" charset="-120"/>
              </a:rPr>
              <a:t>How could frequent</a:t>
            </a:r>
            <a:endParaRPr lang="en-US" sz="2500" dirty="0"/>
          </a:p>
          <a:p>
            <a:pPr indent="0" marL="0">
              <a:buNone/>
            </a:pPr>
            <a:r>
              <a:rPr lang="en-US" sz="2500" b="1" dirty="0">
                <a:solidFill>
                  <a:srgbClr val="131C29"/>
                </a:solidFill>
                <a:latin typeface="Inter" pitchFamily="34" charset="0"/>
                <a:ea typeface="Inter" pitchFamily="34" charset="-122"/>
                <a:cs typeface="Inter" pitchFamily="34" charset="-120"/>
              </a:rPr>
              <a:t>comfort controls be</a:t>
            </a:r>
            <a:endParaRPr lang="en-US" sz="2500" dirty="0"/>
          </a:p>
          <a:p>
            <a:pPr indent="0" marL="0">
              <a:buNone/>
            </a:pPr>
            <a:r>
              <a:rPr lang="en-US" sz="2500" b="1" dirty="0">
                <a:solidFill>
                  <a:srgbClr val="131C29"/>
                </a:solidFill>
                <a:latin typeface="Inter" pitchFamily="34" charset="0"/>
                <a:ea typeface="Inter" pitchFamily="34" charset="-122"/>
                <a:cs typeface="Inter" pitchFamily="34" charset="-120"/>
              </a:rPr>
              <a:t>easier to discover?</a:t>
            </a:r>
            <a:endParaRPr lang="en-US" sz="2500" dirty="0"/>
          </a:p>
        </p:txBody>
      </p:sp>
      <p:sp>
        <p:nvSpPr>
          <p:cNvPr id="15" name="Text 13"/>
          <p:cNvSpPr/>
          <p:nvPr/>
        </p:nvSpPr>
        <p:spPr>
          <a:xfrm>
            <a:off x="832104" y="5038344"/>
            <a:ext cx="3209544" cy="210312"/>
          </a:xfrm>
          <a:prstGeom prst="rect">
            <a:avLst/>
          </a:prstGeom>
          <a:noFill/>
          <a:ln/>
        </p:spPr>
        <p:txBody>
          <a:bodyPr wrap="square" lIns="0" tIns="0" rIns="0" bIns="0" rtlCol="0" anchor="ctr">
            <a:normAutofit/>
          </a:bodyPr>
          <a:lstStyle/>
          <a:p>
            <a:pPr indent="0" marL="0">
              <a:buNone/>
            </a:pPr>
            <a:r>
              <a:rPr lang="en-US" sz="1050" dirty="0">
                <a:solidFill>
                  <a:srgbClr val="596779"/>
                </a:solidFill>
                <a:latin typeface="Inter" pitchFamily="34" charset="0"/>
                <a:ea typeface="Inter" pitchFamily="34" charset="-122"/>
                <a:cs typeface="Inter" pitchFamily="34" charset="-120"/>
              </a:rPr>
              <a:t>Illustrative question</a:t>
            </a:r>
            <a:endParaRPr lang="en-US" sz="1050" dirty="0"/>
          </a:p>
        </p:txBody>
      </p:sp>
      <p:sp>
        <p:nvSpPr>
          <p:cNvPr id="16" name="Text 14"/>
          <p:cNvSpPr/>
          <p:nvPr/>
        </p:nvSpPr>
        <p:spPr>
          <a:xfrm>
            <a:off x="4764024" y="2514600"/>
            <a:ext cx="576072" cy="429768"/>
          </a:xfrm>
          <a:prstGeom prst="rect">
            <a:avLst/>
          </a:prstGeom>
          <a:noFill/>
          <a:ln/>
        </p:spPr>
        <p:txBody>
          <a:bodyPr wrap="square" lIns="0" tIns="0" rIns="0" bIns="0" rtlCol="0" anchor="ctr">
            <a:normAutofit/>
          </a:bodyPr>
          <a:lstStyle/>
          <a:p>
            <a:pPr indent="0" marL="0">
              <a:buNone/>
            </a:pPr>
            <a:r>
              <a:rPr lang="en-US" sz="2300" b="1" dirty="0">
                <a:solidFill>
                  <a:srgbClr val="2863EB"/>
                </a:solidFill>
                <a:latin typeface="Inter" pitchFamily="34" charset="0"/>
                <a:ea typeface="Inter" pitchFamily="34" charset="-122"/>
                <a:cs typeface="Inter" pitchFamily="34" charset="-120"/>
              </a:rPr>
              <a:t>01</a:t>
            </a:r>
            <a:endParaRPr lang="en-US" sz="2300" dirty="0"/>
          </a:p>
        </p:txBody>
      </p:sp>
      <p:sp>
        <p:nvSpPr>
          <p:cNvPr id="17" name="Text 15"/>
          <p:cNvSpPr/>
          <p:nvPr/>
        </p:nvSpPr>
        <p:spPr>
          <a:xfrm>
            <a:off x="4764024" y="3063240"/>
            <a:ext cx="2084832" cy="621792"/>
          </a:xfrm>
          <a:prstGeom prst="rect">
            <a:avLst/>
          </a:prstGeom>
          <a:noFill/>
          <a:ln/>
        </p:spPr>
        <p:txBody>
          <a:bodyPr wrap="square" lIns="0" tIns="0" rIns="0" bIns="0" rtlCol="0" anchor="ctr">
            <a:normAutofit/>
          </a:bodyPr>
          <a:lstStyle/>
          <a:p>
            <a:pPr indent="0" marL="0">
              <a:buNone/>
            </a:pPr>
            <a:r>
              <a:rPr lang="en-US" sz="1930" b="1" dirty="0">
                <a:solidFill>
                  <a:srgbClr val="131C29"/>
                </a:solidFill>
                <a:latin typeface="Inter" pitchFamily="34" charset="0"/>
                <a:ea typeface="Inter" pitchFamily="34" charset="-122"/>
                <a:cs typeface="Inter" pitchFamily="34" charset="-120"/>
              </a:rPr>
              <a:t>Capability</a:t>
            </a:r>
            <a:endParaRPr lang="en-US" sz="1930" dirty="0"/>
          </a:p>
          <a:p>
            <a:pPr indent="0" marL="0">
              <a:buNone/>
            </a:pPr>
            <a:r>
              <a:rPr lang="en-US" sz="1930" b="1" dirty="0">
                <a:solidFill>
                  <a:srgbClr val="131C29"/>
                </a:solidFill>
                <a:latin typeface="Inter" pitchFamily="34" charset="0"/>
                <a:ea typeface="Inter" pitchFamily="34" charset="-122"/>
                <a:cs typeface="Inter" pitchFamily="34" charset="-120"/>
              </a:rPr>
              <a:t>facts</a:t>
            </a:r>
            <a:endParaRPr lang="en-US" sz="1930" dirty="0"/>
          </a:p>
        </p:txBody>
      </p:sp>
      <p:sp>
        <p:nvSpPr>
          <p:cNvPr id="18" name="Text 16"/>
          <p:cNvSpPr/>
          <p:nvPr/>
        </p:nvSpPr>
        <p:spPr>
          <a:xfrm>
            <a:off x="4764024" y="3794760"/>
            <a:ext cx="2075688" cy="630936"/>
          </a:xfrm>
          <a:prstGeom prst="rect">
            <a:avLst/>
          </a:prstGeom>
          <a:noFill/>
          <a:ln/>
        </p:spPr>
        <p:txBody>
          <a:bodyPr wrap="square" lIns="0" tIns="0" rIns="0" bIns="0" rtlCol="0" anchor="ctr">
            <a:normAutofit/>
          </a:bodyPr>
          <a:lstStyle/>
          <a:p>
            <a:pPr indent="0" marL="0">
              <a:buNone/>
            </a:pPr>
            <a:r>
              <a:rPr lang="en-US" sz="1460" dirty="0">
                <a:solidFill>
                  <a:srgbClr val="596779"/>
                </a:solidFill>
                <a:latin typeface="Inter" pitchFamily="34" charset="0"/>
                <a:ea typeface="Inter" pitchFamily="34" charset="-122"/>
                <a:cs typeface="Inter" pitchFamily="34" charset="-120"/>
              </a:rPr>
              <a:t>Manuals and</a:t>
            </a:r>
            <a:endParaRPr lang="en-US" sz="1460" dirty="0"/>
          </a:p>
          <a:p>
            <a:pPr indent="0" marL="0">
              <a:buNone/>
            </a:pPr>
            <a:r>
              <a:rPr lang="en-US" sz="1460" dirty="0">
                <a:solidFill>
                  <a:srgbClr val="596779"/>
                </a:solidFill>
                <a:latin typeface="Inter" pitchFamily="34" charset="0"/>
                <a:ea typeface="Inter" pitchFamily="34" charset="-122"/>
                <a:cs typeface="Inter" pitchFamily="34" charset="-120"/>
              </a:rPr>
              <a:t>specifications</a:t>
            </a:r>
            <a:endParaRPr lang="en-US" sz="1460" dirty="0"/>
          </a:p>
        </p:txBody>
      </p:sp>
      <p:sp>
        <p:nvSpPr>
          <p:cNvPr id="19" name="Text 17"/>
          <p:cNvSpPr/>
          <p:nvPr/>
        </p:nvSpPr>
        <p:spPr>
          <a:xfrm>
            <a:off x="7141464" y="2514600"/>
            <a:ext cx="576072" cy="429768"/>
          </a:xfrm>
          <a:prstGeom prst="rect">
            <a:avLst/>
          </a:prstGeom>
          <a:noFill/>
          <a:ln/>
        </p:spPr>
        <p:txBody>
          <a:bodyPr wrap="square" lIns="0" tIns="0" rIns="0" bIns="0" rtlCol="0" anchor="ctr">
            <a:normAutofit/>
          </a:bodyPr>
          <a:lstStyle/>
          <a:p>
            <a:pPr indent="0" marL="0">
              <a:buNone/>
            </a:pPr>
            <a:r>
              <a:rPr lang="en-US" sz="2300" b="1" dirty="0">
                <a:solidFill>
                  <a:srgbClr val="2863EB"/>
                </a:solidFill>
                <a:latin typeface="Inter" pitchFamily="34" charset="0"/>
                <a:ea typeface="Inter" pitchFamily="34" charset="-122"/>
                <a:cs typeface="Inter" pitchFamily="34" charset="-120"/>
              </a:rPr>
              <a:t>02</a:t>
            </a:r>
            <a:endParaRPr lang="en-US" sz="2300" dirty="0"/>
          </a:p>
        </p:txBody>
      </p:sp>
      <p:sp>
        <p:nvSpPr>
          <p:cNvPr id="20" name="Text 18"/>
          <p:cNvSpPr/>
          <p:nvPr/>
        </p:nvSpPr>
        <p:spPr>
          <a:xfrm>
            <a:off x="7141464" y="3063240"/>
            <a:ext cx="2084832" cy="621792"/>
          </a:xfrm>
          <a:prstGeom prst="rect">
            <a:avLst/>
          </a:prstGeom>
          <a:noFill/>
          <a:ln/>
        </p:spPr>
        <p:txBody>
          <a:bodyPr wrap="square" lIns="0" tIns="0" rIns="0" bIns="0" rtlCol="0" anchor="ctr">
            <a:normAutofit/>
          </a:bodyPr>
          <a:lstStyle/>
          <a:p>
            <a:pPr indent="0" marL="0">
              <a:buNone/>
            </a:pPr>
            <a:r>
              <a:rPr lang="en-US" sz="1930" b="1" dirty="0">
                <a:solidFill>
                  <a:srgbClr val="131C29"/>
                </a:solidFill>
                <a:latin typeface="Inter" pitchFamily="34" charset="0"/>
                <a:ea typeface="Inter" pitchFamily="34" charset="-122"/>
                <a:cs typeface="Inter" pitchFamily="34" charset="-120"/>
              </a:rPr>
              <a:t>Public</a:t>
            </a:r>
            <a:endParaRPr lang="en-US" sz="1930" dirty="0"/>
          </a:p>
          <a:p>
            <a:pPr indent="0" marL="0">
              <a:buNone/>
            </a:pPr>
            <a:r>
              <a:rPr lang="en-US" sz="1930" b="1" dirty="0">
                <a:solidFill>
                  <a:srgbClr val="131C29"/>
                </a:solidFill>
                <a:latin typeface="Inter" pitchFamily="34" charset="0"/>
                <a:ea typeface="Inter" pitchFamily="34" charset="-122"/>
                <a:cs typeface="Inter" pitchFamily="34" charset="-120"/>
              </a:rPr>
              <a:t>experience</a:t>
            </a:r>
            <a:endParaRPr lang="en-US" sz="1930" dirty="0"/>
          </a:p>
        </p:txBody>
      </p:sp>
      <p:sp>
        <p:nvSpPr>
          <p:cNvPr id="21" name="Text 19"/>
          <p:cNvSpPr/>
          <p:nvPr/>
        </p:nvSpPr>
        <p:spPr>
          <a:xfrm>
            <a:off x="7141464" y="3794760"/>
            <a:ext cx="2075688" cy="630936"/>
          </a:xfrm>
          <a:prstGeom prst="rect">
            <a:avLst/>
          </a:prstGeom>
          <a:noFill/>
          <a:ln/>
        </p:spPr>
        <p:txBody>
          <a:bodyPr wrap="square" lIns="0" tIns="0" rIns="0" bIns="0" rtlCol="0" anchor="ctr">
            <a:normAutofit/>
          </a:bodyPr>
          <a:lstStyle/>
          <a:p>
            <a:pPr indent="0" marL="0">
              <a:buNone/>
            </a:pPr>
            <a:r>
              <a:rPr lang="en-US" sz="1460" dirty="0">
                <a:solidFill>
                  <a:srgbClr val="596779"/>
                </a:solidFill>
                <a:latin typeface="Inter" pitchFamily="34" charset="0"/>
                <a:ea typeface="Inter" pitchFamily="34" charset="-122"/>
                <a:cs typeface="Inter" pitchFamily="34" charset="-120"/>
              </a:rPr>
              <a:t>Reviews and</a:t>
            </a:r>
            <a:endParaRPr lang="en-US" sz="1460" dirty="0"/>
          </a:p>
          <a:p>
            <a:pPr indent="0" marL="0">
              <a:buNone/>
            </a:pPr>
            <a:r>
              <a:rPr lang="en-US" sz="1460" dirty="0">
                <a:solidFill>
                  <a:srgbClr val="596779"/>
                </a:solidFill>
                <a:latin typeface="Inter" pitchFamily="34" charset="0"/>
                <a:ea typeface="Inter" pitchFamily="34" charset="-122"/>
                <a:cs typeface="Inter" pitchFamily="34" charset="-120"/>
              </a:rPr>
              <a:t>user feedback</a:t>
            </a:r>
            <a:endParaRPr lang="en-US" sz="1460" dirty="0"/>
          </a:p>
        </p:txBody>
      </p:sp>
      <p:sp>
        <p:nvSpPr>
          <p:cNvPr id="22" name="Text 20"/>
          <p:cNvSpPr/>
          <p:nvPr/>
        </p:nvSpPr>
        <p:spPr>
          <a:xfrm>
            <a:off x="9518904" y="2514600"/>
            <a:ext cx="576072" cy="429768"/>
          </a:xfrm>
          <a:prstGeom prst="rect">
            <a:avLst/>
          </a:prstGeom>
          <a:noFill/>
          <a:ln/>
        </p:spPr>
        <p:txBody>
          <a:bodyPr wrap="square" lIns="0" tIns="0" rIns="0" bIns="0" rtlCol="0" anchor="ctr">
            <a:normAutofit/>
          </a:bodyPr>
          <a:lstStyle/>
          <a:p>
            <a:pPr indent="0" marL="0">
              <a:buNone/>
            </a:pPr>
            <a:r>
              <a:rPr lang="en-US" sz="2300" b="1" dirty="0">
                <a:solidFill>
                  <a:srgbClr val="2863EB"/>
                </a:solidFill>
                <a:latin typeface="Inter" pitchFamily="34" charset="0"/>
                <a:ea typeface="Inter" pitchFamily="34" charset="-122"/>
                <a:cs typeface="Inter" pitchFamily="34" charset="-120"/>
              </a:rPr>
              <a:t>03</a:t>
            </a:r>
            <a:endParaRPr lang="en-US" sz="2300" dirty="0"/>
          </a:p>
        </p:txBody>
      </p:sp>
      <p:sp>
        <p:nvSpPr>
          <p:cNvPr id="23" name="Text 21"/>
          <p:cNvSpPr/>
          <p:nvPr/>
        </p:nvSpPr>
        <p:spPr>
          <a:xfrm>
            <a:off x="9518904" y="3063240"/>
            <a:ext cx="2084832" cy="621792"/>
          </a:xfrm>
          <a:prstGeom prst="rect">
            <a:avLst/>
          </a:prstGeom>
          <a:noFill/>
          <a:ln/>
        </p:spPr>
        <p:txBody>
          <a:bodyPr wrap="square" lIns="0" tIns="0" rIns="0" bIns="0" rtlCol="0" anchor="ctr">
            <a:normAutofit/>
          </a:bodyPr>
          <a:lstStyle/>
          <a:p>
            <a:pPr indent="0" marL="0">
              <a:buNone/>
            </a:pPr>
            <a:r>
              <a:rPr lang="en-US" sz="1930" b="1" dirty="0">
                <a:solidFill>
                  <a:srgbClr val="131C29"/>
                </a:solidFill>
                <a:latin typeface="Inter" pitchFamily="34" charset="0"/>
                <a:ea typeface="Inter" pitchFamily="34" charset="-122"/>
                <a:cs typeface="Inter" pitchFamily="34" charset="-120"/>
              </a:rPr>
              <a:t>Applicability</a:t>
            </a:r>
            <a:endParaRPr lang="en-US" sz="1930" dirty="0"/>
          </a:p>
          <a:p>
            <a:pPr indent="0" marL="0">
              <a:buNone/>
            </a:pPr>
            <a:r>
              <a:rPr lang="en-US" sz="1930" b="1" dirty="0">
                <a:solidFill>
                  <a:srgbClr val="131C29"/>
                </a:solidFill>
                <a:latin typeface="Inter" pitchFamily="34" charset="0"/>
                <a:ea typeface="Inter" pitchFamily="34" charset="-122"/>
                <a:cs typeface="Inter" pitchFamily="34" charset="-120"/>
              </a:rPr>
              <a:t>check</a:t>
            </a:r>
            <a:endParaRPr lang="en-US" sz="1930" dirty="0"/>
          </a:p>
        </p:txBody>
      </p:sp>
      <p:sp>
        <p:nvSpPr>
          <p:cNvPr id="24" name="Text 22"/>
          <p:cNvSpPr/>
          <p:nvPr/>
        </p:nvSpPr>
        <p:spPr>
          <a:xfrm>
            <a:off x="9518904" y="3794760"/>
            <a:ext cx="2075688" cy="630936"/>
          </a:xfrm>
          <a:prstGeom prst="rect">
            <a:avLst/>
          </a:prstGeom>
          <a:noFill/>
          <a:ln/>
        </p:spPr>
        <p:txBody>
          <a:bodyPr wrap="square" lIns="0" tIns="0" rIns="0" bIns="0" rtlCol="0" anchor="ctr">
            <a:normAutofit/>
          </a:bodyPr>
          <a:lstStyle/>
          <a:p>
            <a:pPr indent="0" marL="0">
              <a:buNone/>
            </a:pPr>
            <a:r>
              <a:rPr lang="en-US" sz="1460" dirty="0">
                <a:solidFill>
                  <a:srgbClr val="596779"/>
                </a:solidFill>
                <a:latin typeface="Inter" pitchFamily="34" charset="0"/>
                <a:ea typeface="Inter" pitchFamily="34" charset="-122"/>
                <a:cs typeface="Inter" pitchFamily="34" charset="-120"/>
              </a:rPr>
              <a:t>Vehicle, market,</a:t>
            </a:r>
            <a:endParaRPr lang="en-US" sz="1460" dirty="0"/>
          </a:p>
          <a:p>
            <a:pPr indent="0" marL="0">
              <a:buNone/>
            </a:pPr>
            <a:r>
              <a:rPr lang="en-US" sz="1460" dirty="0">
                <a:solidFill>
                  <a:srgbClr val="596779"/>
                </a:solidFill>
                <a:latin typeface="Inter" pitchFamily="34" charset="0"/>
                <a:ea typeface="Inter" pitchFamily="34" charset="-122"/>
                <a:cs typeface="Inter" pitchFamily="34" charset="-120"/>
              </a:rPr>
              <a:t>model year, equipment</a:t>
            </a:r>
            <a:endParaRPr lang="en-US" sz="1460" dirty="0"/>
          </a:p>
        </p:txBody>
      </p:sp>
      <p:sp>
        <p:nvSpPr>
          <p:cNvPr id="25" name="Shape 23"/>
          <p:cNvSpPr/>
          <p:nvPr/>
        </p:nvSpPr>
        <p:spPr>
          <a:xfrm>
            <a:off x="4773168" y="4700016"/>
            <a:ext cx="6684264" cy="0"/>
          </a:xfrm>
          <a:prstGeom prst="line">
            <a:avLst/>
          </a:prstGeom>
          <a:noFill/>
          <a:ln w="13970">
            <a:solidFill>
              <a:srgbClr val="DCE3EC"/>
            </a:solidFill>
            <a:prstDash val="solid"/>
          </a:ln>
        </p:spPr>
      </p:sp>
      <p:sp>
        <p:nvSpPr>
          <p:cNvPr id="26" name="Text 24"/>
          <p:cNvSpPr/>
          <p:nvPr/>
        </p:nvSpPr>
        <p:spPr>
          <a:xfrm>
            <a:off x="4782312" y="4983480"/>
            <a:ext cx="6583680" cy="411480"/>
          </a:xfrm>
          <a:prstGeom prst="rect">
            <a:avLst/>
          </a:prstGeom>
          <a:noFill/>
          <a:ln/>
        </p:spPr>
        <p:txBody>
          <a:bodyPr wrap="square" lIns="0" tIns="0" rIns="0" bIns="0" rtlCol="0" anchor="ctr">
            <a:normAutofit/>
          </a:bodyPr>
          <a:lstStyle/>
          <a:p>
            <a:pPr indent="0" marL="0">
              <a:buNone/>
            </a:pPr>
            <a:r>
              <a:rPr lang="en-US" sz="2020" b="1" dirty="0">
                <a:solidFill>
                  <a:srgbClr val="131C29"/>
                </a:solidFill>
                <a:latin typeface="Inter" pitchFamily="34" charset="0"/>
                <a:ea typeface="Inter" pitchFamily="34" charset="-122"/>
                <a:cs typeface="Inter" pitchFamily="34" charset="-120"/>
              </a:rPr>
              <a:t>Approach + counterevidence + known gaps</a:t>
            </a:r>
            <a:endParaRPr lang="en-US" sz="2020" dirty="0"/>
          </a:p>
        </p:txBody>
      </p:sp>
      <p:sp>
        <p:nvSpPr>
          <p:cNvPr id="27" name="Shape 25"/>
          <p:cNvSpPr/>
          <p:nvPr/>
        </p:nvSpPr>
        <p:spPr>
          <a:xfrm>
            <a:off x="4782312" y="5605272"/>
            <a:ext cx="1051560" cy="292608"/>
          </a:xfrm>
          <a:prstGeom prst="roundRect">
            <a:avLst>
              <a:gd name="adj" fmla="val 37500"/>
            </a:avLst>
          </a:prstGeom>
          <a:solidFill>
            <a:srgbClr val="FFFFFF"/>
          </a:solidFill>
          <a:ln w="12700">
            <a:solidFill>
              <a:srgbClr val="FFFFFF"/>
            </a:solidFill>
            <a:prstDash val="solid"/>
          </a:ln>
        </p:spPr>
      </p:sp>
      <p:sp>
        <p:nvSpPr>
          <p:cNvPr id="28" name="Text 26"/>
          <p:cNvSpPr/>
          <p:nvPr/>
        </p:nvSpPr>
        <p:spPr>
          <a:xfrm>
            <a:off x="4873752" y="5614416"/>
            <a:ext cx="868680" cy="274320"/>
          </a:xfrm>
          <a:prstGeom prst="rect">
            <a:avLst/>
          </a:prstGeom>
          <a:noFill/>
          <a:ln/>
        </p:spPr>
        <p:txBody>
          <a:bodyPr wrap="square" lIns="0" tIns="0" rIns="0" bIns="0" rtlCol="0" anchor="ctr">
            <a:normAutofit/>
          </a:bodyPr>
          <a:lstStyle/>
          <a:p>
            <a:pPr algn="ctr" indent="0" marL="0">
              <a:buNone/>
            </a:pPr>
            <a:r>
              <a:rPr lang="en-US" sz="1020" b="1" dirty="0">
                <a:solidFill>
                  <a:srgbClr val="596779"/>
                </a:solidFill>
                <a:latin typeface="Inter" pitchFamily="34" charset="0"/>
                <a:ea typeface="Inter" pitchFamily="34" charset="-122"/>
                <a:cs typeface="Inter" pitchFamily="34" charset="-120"/>
              </a:rPr>
              <a:t>Fact</a:t>
            </a:r>
            <a:endParaRPr lang="en-US" sz="1020" dirty="0"/>
          </a:p>
        </p:txBody>
      </p:sp>
      <p:sp>
        <p:nvSpPr>
          <p:cNvPr id="29" name="Shape 27"/>
          <p:cNvSpPr/>
          <p:nvPr/>
        </p:nvSpPr>
        <p:spPr>
          <a:xfrm>
            <a:off x="6053328" y="5605272"/>
            <a:ext cx="1170432" cy="292608"/>
          </a:xfrm>
          <a:prstGeom prst="roundRect">
            <a:avLst>
              <a:gd name="adj" fmla="val 37500"/>
            </a:avLst>
          </a:prstGeom>
          <a:solidFill>
            <a:srgbClr val="FFFFFF"/>
          </a:solidFill>
          <a:ln w="12700">
            <a:solidFill>
              <a:srgbClr val="FFFFFF"/>
            </a:solidFill>
            <a:prstDash val="solid"/>
          </a:ln>
        </p:spPr>
      </p:sp>
      <p:sp>
        <p:nvSpPr>
          <p:cNvPr id="30" name="Text 28"/>
          <p:cNvSpPr/>
          <p:nvPr/>
        </p:nvSpPr>
        <p:spPr>
          <a:xfrm>
            <a:off x="6144768" y="5614416"/>
            <a:ext cx="987552" cy="274320"/>
          </a:xfrm>
          <a:prstGeom prst="rect">
            <a:avLst/>
          </a:prstGeom>
          <a:noFill/>
          <a:ln/>
        </p:spPr>
        <p:txBody>
          <a:bodyPr wrap="square" lIns="0" tIns="0" rIns="0" bIns="0" rtlCol="0" anchor="ctr">
            <a:normAutofit/>
          </a:bodyPr>
          <a:lstStyle/>
          <a:p>
            <a:pPr algn="ctr" indent="0" marL="0">
              <a:buNone/>
            </a:pPr>
            <a:r>
              <a:rPr lang="en-US" sz="1020" b="1" dirty="0">
                <a:solidFill>
                  <a:srgbClr val="596779"/>
                </a:solidFill>
                <a:latin typeface="Inter" pitchFamily="34" charset="0"/>
                <a:ea typeface="Inter" pitchFamily="34" charset="-122"/>
                <a:cs typeface="Inter" pitchFamily="34" charset="-120"/>
              </a:rPr>
              <a:t>Opinion</a:t>
            </a:r>
            <a:endParaRPr lang="en-US" sz="1020" dirty="0"/>
          </a:p>
        </p:txBody>
      </p:sp>
      <p:sp>
        <p:nvSpPr>
          <p:cNvPr id="31" name="Shape 29"/>
          <p:cNvSpPr/>
          <p:nvPr/>
        </p:nvSpPr>
        <p:spPr>
          <a:xfrm>
            <a:off x="7443216" y="5605272"/>
            <a:ext cx="1344168" cy="292608"/>
          </a:xfrm>
          <a:prstGeom prst="roundRect">
            <a:avLst>
              <a:gd name="adj" fmla="val 37500"/>
            </a:avLst>
          </a:prstGeom>
          <a:solidFill>
            <a:srgbClr val="FFFFFF"/>
          </a:solidFill>
          <a:ln w="12700">
            <a:solidFill>
              <a:srgbClr val="FFFFFF"/>
            </a:solidFill>
            <a:prstDash val="solid"/>
          </a:ln>
        </p:spPr>
      </p:sp>
      <p:sp>
        <p:nvSpPr>
          <p:cNvPr id="32" name="Text 30"/>
          <p:cNvSpPr/>
          <p:nvPr/>
        </p:nvSpPr>
        <p:spPr>
          <a:xfrm>
            <a:off x="7534656" y="5614416"/>
            <a:ext cx="1161288" cy="274320"/>
          </a:xfrm>
          <a:prstGeom prst="rect">
            <a:avLst/>
          </a:prstGeom>
          <a:noFill/>
          <a:ln/>
        </p:spPr>
        <p:txBody>
          <a:bodyPr wrap="square" lIns="0" tIns="0" rIns="0" bIns="0" rtlCol="0" anchor="ctr">
            <a:normAutofit/>
          </a:bodyPr>
          <a:lstStyle/>
          <a:p>
            <a:pPr algn="ctr" indent="0" marL="0">
              <a:buNone/>
            </a:pPr>
            <a:r>
              <a:rPr lang="en-US" sz="1020" b="1" dirty="0">
                <a:solidFill>
                  <a:srgbClr val="596779"/>
                </a:solidFill>
                <a:latin typeface="Inter" pitchFamily="34" charset="0"/>
                <a:ea typeface="Inter" pitchFamily="34" charset="-122"/>
                <a:cs typeface="Inter" pitchFamily="34" charset="-120"/>
              </a:rPr>
              <a:t>Inference</a:t>
            </a:r>
            <a:endParaRPr lang="en-US" sz="1020" dirty="0"/>
          </a:p>
        </p:txBody>
      </p:sp>
      <p:sp>
        <p:nvSpPr>
          <p:cNvPr id="33" name="Text 31"/>
          <p:cNvSpPr/>
          <p:nvPr/>
        </p:nvSpPr>
        <p:spPr>
          <a:xfrm>
            <a:off x="594360" y="6126480"/>
            <a:ext cx="10972800" cy="164592"/>
          </a:xfrm>
          <a:prstGeom prst="rect">
            <a:avLst/>
          </a:prstGeom>
          <a:noFill/>
          <a:ln/>
        </p:spPr>
        <p:txBody>
          <a:bodyPr wrap="square" lIns="0" tIns="0" rIns="0" bIns="0" rtlCol="0" anchor="ctr">
            <a:normAutofit/>
          </a:bodyPr>
          <a:lstStyle/>
          <a:p>
            <a:pPr indent="0" marL="0">
              <a:buNone/>
            </a:pPr>
            <a:r>
              <a:rPr lang="en-US" sz="1040" dirty="0">
                <a:solidFill>
                  <a:srgbClr val="596779"/>
                </a:solidFill>
                <a:latin typeface="Inter" pitchFamily="34" charset="0"/>
                <a:ea typeface="Inter" pitchFamily="34" charset="-122"/>
                <a:cs typeface="Inter" pitchFamily="34" charset="-120"/>
              </a:rPr>
              <a:t>Deep Dive is off by default. Partial research does not erase useful findings.</a:t>
            </a:r>
            <a:endParaRPr lang="en-US" sz="10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CONFLICTING PREFERENCES</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Do not average away the tradeoff.</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First check whether the apparently conflicting feedback concerns comparable contexts.</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07 / 14</a:t>
            </a:r>
            <a:endParaRPr lang="en-US" sz="890" dirty="0"/>
          </a:p>
        </p:txBody>
      </p:sp>
      <p:sp>
        <p:nvSpPr>
          <p:cNvPr id="12" name="Shape 10"/>
          <p:cNvSpPr/>
          <p:nvPr/>
        </p:nvSpPr>
        <p:spPr>
          <a:xfrm>
            <a:off x="603504" y="3337560"/>
            <a:ext cx="2807208" cy="1380744"/>
          </a:xfrm>
          <a:prstGeom prst="rect">
            <a:avLst/>
          </a:prstGeom>
          <a:solidFill>
            <a:srgbClr val="FFFFFF"/>
          </a:solidFill>
          <a:ln w="10160">
            <a:solidFill>
              <a:srgbClr val="DCE3EC"/>
            </a:solidFill>
            <a:prstDash val="solid"/>
          </a:ln>
        </p:spPr>
      </p:sp>
      <p:sp>
        <p:nvSpPr>
          <p:cNvPr id="13" name="Text 11"/>
          <p:cNvSpPr/>
          <p:nvPr/>
        </p:nvSpPr>
        <p:spPr>
          <a:xfrm>
            <a:off x="841248" y="3575304"/>
            <a:ext cx="2331720" cy="201168"/>
          </a:xfrm>
          <a:prstGeom prst="rect">
            <a:avLst/>
          </a:prstGeom>
          <a:noFill/>
          <a:ln/>
        </p:spPr>
        <p:txBody>
          <a:bodyPr wrap="square" lIns="0" tIns="0" rIns="0" bIns="0" rtlCol="0" anchor="ctr">
            <a:normAutofit/>
          </a:bodyPr>
          <a:lstStyle/>
          <a:p>
            <a:pPr indent="0" marL="0">
              <a:buNone/>
            </a:pPr>
            <a:r>
              <a:rPr lang="en-US" sz="1000" b="1" spc="90" kern="0" dirty="0">
                <a:solidFill>
                  <a:srgbClr val="2863EB"/>
                </a:solidFill>
                <a:latin typeface="Inter" pitchFamily="34" charset="0"/>
                <a:ea typeface="Inter" pitchFamily="34" charset="-122"/>
                <a:cs typeface="Inter" pitchFamily="34" charset="-120"/>
              </a:rPr>
              <a:t>SHARED CUSTOMER TASK</a:t>
            </a:r>
            <a:endParaRPr lang="en-US" sz="1000" dirty="0"/>
          </a:p>
        </p:txBody>
      </p:sp>
      <p:sp>
        <p:nvSpPr>
          <p:cNvPr id="14" name="Text 12"/>
          <p:cNvSpPr/>
          <p:nvPr/>
        </p:nvSpPr>
        <p:spPr>
          <a:xfrm>
            <a:off x="841248" y="3977640"/>
            <a:ext cx="2322576" cy="530352"/>
          </a:xfrm>
          <a:prstGeom prst="rect">
            <a:avLst/>
          </a:prstGeom>
          <a:noFill/>
          <a:ln/>
        </p:spPr>
        <p:txBody>
          <a:bodyPr wrap="square" lIns="0" tIns="0" rIns="0" bIns="0" rtlCol="0" anchor="ctr">
            <a:normAutofit/>
          </a:bodyPr>
          <a:lstStyle/>
          <a:p>
            <a:pPr indent="0" marL="0">
              <a:buNone/>
            </a:pPr>
            <a:r>
              <a:rPr lang="en-US" sz="2000" b="1" dirty="0">
                <a:solidFill>
                  <a:srgbClr val="131C29"/>
                </a:solidFill>
                <a:latin typeface="Inter" pitchFamily="34" charset="0"/>
                <a:ea typeface="Inter" pitchFamily="34" charset="-122"/>
                <a:cs typeface="Inter" pitchFamily="34" charset="-120"/>
              </a:rPr>
              <a:t>Access frequent</a:t>
            </a:r>
            <a:endParaRPr lang="en-US" sz="2000" dirty="0"/>
          </a:p>
          <a:p>
            <a:pPr indent="0" marL="0">
              <a:buNone/>
            </a:pPr>
            <a:r>
              <a:rPr lang="en-US" sz="2000" b="1" dirty="0">
                <a:solidFill>
                  <a:srgbClr val="131C29"/>
                </a:solidFill>
                <a:latin typeface="Inter" pitchFamily="34" charset="0"/>
                <a:ea typeface="Inter" pitchFamily="34" charset="-122"/>
                <a:cs typeface="Inter" pitchFamily="34" charset="-120"/>
              </a:rPr>
              <a:t>comfort controls</a:t>
            </a:r>
            <a:endParaRPr lang="en-US" sz="2000" dirty="0"/>
          </a:p>
        </p:txBody>
      </p:sp>
      <p:sp>
        <p:nvSpPr>
          <p:cNvPr id="15" name="Shape 13"/>
          <p:cNvSpPr/>
          <p:nvPr/>
        </p:nvSpPr>
        <p:spPr>
          <a:xfrm>
            <a:off x="3410712" y="4005072"/>
            <a:ext cx="539496" cy="0"/>
          </a:xfrm>
          <a:prstGeom prst="line">
            <a:avLst/>
          </a:prstGeom>
          <a:noFill/>
          <a:ln w="20320">
            <a:solidFill>
              <a:srgbClr val="2863EB"/>
            </a:solidFill>
            <a:prstDash val="solid"/>
          </a:ln>
        </p:spPr>
      </p:sp>
      <p:sp>
        <p:nvSpPr>
          <p:cNvPr id="16" name="Shape 14"/>
          <p:cNvSpPr/>
          <p:nvPr/>
        </p:nvSpPr>
        <p:spPr>
          <a:xfrm>
            <a:off x="3950208" y="2999232"/>
            <a:ext cx="0" cy="1883664"/>
          </a:xfrm>
          <a:prstGeom prst="line">
            <a:avLst/>
          </a:prstGeom>
          <a:noFill/>
          <a:ln w="20320">
            <a:solidFill>
              <a:srgbClr val="2863EB"/>
            </a:solidFill>
            <a:prstDash val="solid"/>
          </a:ln>
        </p:spPr>
      </p:sp>
      <p:sp>
        <p:nvSpPr>
          <p:cNvPr id="17" name="Shape 15"/>
          <p:cNvSpPr/>
          <p:nvPr/>
        </p:nvSpPr>
        <p:spPr>
          <a:xfrm>
            <a:off x="3950208" y="2999232"/>
            <a:ext cx="557784" cy="0"/>
          </a:xfrm>
          <a:prstGeom prst="line">
            <a:avLst/>
          </a:prstGeom>
          <a:noFill/>
          <a:ln w="20320">
            <a:solidFill>
              <a:srgbClr val="2863EB"/>
            </a:solidFill>
            <a:prstDash val="solid"/>
            <a:tailEnd type="triangle"/>
          </a:ln>
        </p:spPr>
      </p:sp>
      <p:sp>
        <p:nvSpPr>
          <p:cNvPr id="18" name="Shape 16"/>
          <p:cNvSpPr/>
          <p:nvPr/>
        </p:nvSpPr>
        <p:spPr>
          <a:xfrm>
            <a:off x="3950208" y="4882896"/>
            <a:ext cx="557784" cy="0"/>
          </a:xfrm>
          <a:prstGeom prst="line">
            <a:avLst/>
          </a:prstGeom>
          <a:noFill/>
          <a:ln w="20320">
            <a:solidFill>
              <a:srgbClr val="2863EB"/>
            </a:solidFill>
            <a:prstDash val="solid"/>
            <a:tailEnd type="triangle"/>
          </a:ln>
        </p:spPr>
      </p:sp>
      <p:sp>
        <p:nvSpPr>
          <p:cNvPr id="19" name="Shape 17"/>
          <p:cNvSpPr/>
          <p:nvPr/>
        </p:nvSpPr>
        <p:spPr>
          <a:xfrm>
            <a:off x="4700016" y="2496312"/>
            <a:ext cx="6885432" cy="1344168"/>
          </a:xfrm>
          <a:prstGeom prst="rect">
            <a:avLst/>
          </a:prstGeom>
          <a:solidFill>
            <a:srgbClr val="FFFFFF"/>
          </a:solidFill>
          <a:ln w="10160">
            <a:solidFill>
              <a:srgbClr val="DCE3EC"/>
            </a:solidFill>
            <a:prstDash val="solid"/>
          </a:ln>
        </p:spPr>
      </p:sp>
      <p:sp>
        <p:nvSpPr>
          <p:cNvPr id="20" name="Shape 18"/>
          <p:cNvSpPr/>
          <p:nvPr/>
        </p:nvSpPr>
        <p:spPr>
          <a:xfrm>
            <a:off x="4928616" y="2724912"/>
            <a:ext cx="356616" cy="283464"/>
          </a:xfrm>
          <a:prstGeom prst="roundRect">
            <a:avLst>
              <a:gd name="adj" fmla="val 38710"/>
            </a:avLst>
          </a:prstGeom>
          <a:solidFill>
            <a:srgbClr val="EAF0FE"/>
          </a:solidFill>
          <a:ln w="12700">
            <a:solidFill>
              <a:srgbClr val="EAF0FE"/>
            </a:solidFill>
            <a:prstDash val="solid"/>
          </a:ln>
        </p:spPr>
      </p:sp>
      <p:sp>
        <p:nvSpPr>
          <p:cNvPr id="21" name="Text 19"/>
          <p:cNvSpPr/>
          <p:nvPr/>
        </p:nvSpPr>
        <p:spPr>
          <a:xfrm>
            <a:off x="5020056" y="2734056"/>
            <a:ext cx="173736" cy="265176"/>
          </a:xfrm>
          <a:prstGeom prst="rect">
            <a:avLst/>
          </a:prstGeom>
          <a:noFill/>
          <a:ln/>
        </p:spPr>
        <p:txBody>
          <a:bodyPr wrap="square" lIns="0" tIns="0" rIns="0" bIns="0" rtlCol="0" anchor="ctr">
            <a:normAutofit/>
          </a:bodyPr>
          <a:lstStyle/>
          <a:p>
            <a:pPr algn="ctr" indent="0" marL="0">
              <a:buNone/>
            </a:pPr>
            <a:r>
              <a:rPr lang="en-US" sz="1100" b="1" dirty="0">
                <a:solidFill>
                  <a:srgbClr val="2863EB"/>
                </a:solidFill>
                <a:latin typeface="Inter" pitchFamily="34" charset="0"/>
                <a:ea typeface="Inter" pitchFamily="34" charset="-122"/>
                <a:cs typeface="Inter" pitchFamily="34" charset="-120"/>
              </a:rPr>
              <a:t>A</a:t>
            </a:r>
            <a:endParaRPr lang="en-US" sz="1100" dirty="0"/>
          </a:p>
        </p:txBody>
      </p:sp>
      <p:sp>
        <p:nvSpPr>
          <p:cNvPr id="22" name="Text 20"/>
          <p:cNvSpPr/>
          <p:nvPr/>
        </p:nvSpPr>
        <p:spPr>
          <a:xfrm>
            <a:off x="5504688" y="2724912"/>
            <a:ext cx="5660136" cy="320040"/>
          </a:xfrm>
          <a:prstGeom prst="rect">
            <a:avLst/>
          </a:prstGeom>
          <a:noFill/>
          <a:ln/>
        </p:spPr>
        <p:txBody>
          <a:bodyPr wrap="square" lIns="0" tIns="0" rIns="0" bIns="0" rtlCol="0" anchor="ctr">
            <a:normAutofit/>
          </a:bodyPr>
          <a:lstStyle/>
          <a:p>
            <a:pPr indent="0" marL="0">
              <a:buNone/>
            </a:pPr>
            <a:r>
              <a:rPr lang="en-US" sz="2200" b="1" dirty="0">
                <a:solidFill>
                  <a:srgbClr val="131C29"/>
                </a:solidFill>
                <a:latin typeface="Inter" pitchFamily="34" charset="0"/>
                <a:ea typeface="Inter" pitchFamily="34" charset="-122"/>
                <a:cs typeface="Inter" pitchFamily="34" charset="-120"/>
              </a:rPr>
              <a:t>Direct-access controls</a:t>
            </a:r>
            <a:endParaRPr lang="en-US" sz="2200" dirty="0"/>
          </a:p>
        </p:txBody>
      </p:sp>
      <p:sp>
        <p:nvSpPr>
          <p:cNvPr id="23" name="Text 21"/>
          <p:cNvSpPr/>
          <p:nvPr/>
        </p:nvSpPr>
        <p:spPr>
          <a:xfrm>
            <a:off x="5522976" y="3227832"/>
            <a:ext cx="5458968" cy="301752"/>
          </a:xfrm>
          <a:prstGeom prst="rect">
            <a:avLst/>
          </a:prstGeom>
          <a:noFill/>
          <a:ln/>
        </p:spPr>
        <p:txBody>
          <a:bodyPr wrap="square" lIns="0" tIns="0" rIns="0" bIns="0" rtlCol="0" anchor="ctr">
            <a:normAutofit/>
          </a:bodyPr>
          <a:lstStyle/>
          <a:p>
            <a:pPr indent="0" marL="0">
              <a:buNone/>
            </a:pPr>
            <a:r>
              <a:rPr lang="en-US" sz="1570" dirty="0">
                <a:solidFill>
                  <a:srgbClr val="596779"/>
                </a:solidFill>
                <a:latin typeface="Inter" pitchFamily="34" charset="0"/>
                <a:ea typeface="Inter" pitchFamily="34" charset="-122"/>
                <a:cs typeface="Inter" pitchFamily="34" charset="-120"/>
              </a:rPr>
              <a:t>Visible shortcuts for frequent tasks</a:t>
            </a:r>
            <a:endParaRPr lang="en-US" sz="1570" dirty="0"/>
          </a:p>
        </p:txBody>
      </p:sp>
      <p:sp>
        <p:nvSpPr>
          <p:cNvPr id="24" name="Shape 22"/>
          <p:cNvSpPr/>
          <p:nvPr/>
        </p:nvSpPr>
        <p:spPr>
          <a:xfrm>
            <a:off x="4700016" y="4315968"/>
            <a:ext cx="6885432" cy="1344168"/>
          </a:xfrm>
          <a:prstGeom prst="rect">
            <a:avLst/>
          </a:prstGeom>
          <a:solidFill>
            <a:srgbClr val="FFFFFF"/>
          </a:solidFill>
          <a:ln w="10160">
            <a:solidFill>
              <a:srgbClr val="DCE3EC"/>
            </a:solidFill>
            <a:prstDash val="solid"/>
          </a:ln>
        </p:spPr>
      </p:sp>
      <p:sp>
        <p:nvSpPr>
          <p:cNvPr id="25" name="Shape 23"/>
          <p:cNvSpPr/>
          <p:nvPr/>
        </p:nvSpPr>
        <p:spPr>
          <a:xfrm>
            <a:off x="4928616" y="4553712"/>
            <a:ext cx="356616" cy="283464"/>
          </a:xfrm>
          <a:prstGeom prst="roundRect">
            <a:avLst>
              <a:gd name="adj" fmla="val 38710"/>
            </a:avLst>
          </a:prstGeom>
          <a:solidFill>
            <a:srgbClr val="EAF0FE"/>
          </a:solidFill>
          <a:ln w="12700">
            <a:solidFill>
              <a:srgbClr val="EAF0FE"/>
            </a:solidFill>
            <a:prstDash val="solid"/>
          </a:ln>
        </p:spPr>
      </p:sp>
      <p:sp>
        <p:nvSpPr>
          <p:cNvPr id="26" name="Text 24"/>
          <p:cNvSpPr/>
          <p:nvPr/>
        </p:nvSpPr>
        <p:spPr>
          <a:xfrm>
            <a:off x="5020056" y="4562856"/>
            <a:ext cx="173736" cy="265176"/>
          </a:xfrm>
          <a:prstGeom prst="rect">
            <a:avLst/>
          </a:prstGeom>
          <a:noFill/>
          <a:ln/>
        </p:spPr>
        <p:txBody>
          <a:bodyPr wrap="square" lIns="0" tIns="0" rIns="0" bIns="0" rtlCol="0" anchor="ctr">
            <a:normAutofit/>
          </a:bodyPr>
          <a:lstStyle/>
          <a:p>
            <a:pPr algn="ctr" indent="0" marL="0">
              <a:buNone/>
            </a:pPr>
            <a:r>
              <a:rPr lang="en-US" sz="1100" b="1" dirty="0">
                <a:solidFill>
                  <a:srgbClr val="2863EB"/>
                </a:solidFill>
                <a:latin typeface="Inter" pitchFamily="34" charset="0"/>
                <a:ea typeface="Inter" pitchFamily="34" charset="-122"/>
                <a:cs typeface="Inter" pitchFamily="34" charset="-120"/>
              </a:rPr>
              <a:t>B</a:t>
            </a:r>
            <a:endParaRPr lang="en-US" sz="1100" dirty="0"/>
          </a:p>
        </p:txBody>
      </p:sp>
      <p:sp>
        <p:nvSpPr>
          <p:cNvPr id="27" name="Text 25"/>
          <p:cNvSpPr/>
          <p:nvPr/>
        </p:nvSpPr>
        <p:spPr>
          <a:xfrm>
            <a:off x="5504688" y="4553712"/>
            <a:ext cx="5660136" cy="329184"/>
          </a:xfrm>
          <a:prstGeom prst="rect">
            <a:avLst/>
          </a:prstGeom>
          <a:noFill/>
          <a:ln/>
        </p:spPr>
        <p:txBody>
          <a:bodyPr wrap="square" lIns="0" tIns="0" rIns="0" bIns="0" rtlCol="0" anchor="ctr">
            <a:normAutofit/>
          </a:bodyPr>
          <a:lstStyle/>
          <a:p>
            <a:pPr indent="0" marL="0">
              <a:buNone/>
            </a:pPr>
            <a:r>
              <a:rPr lang="en-US" sz="2200" b="1" dirty="0">
                <a:solidFill>
                  <a:srgbClr val="131C29"/>
                </a:solidFill>
                <a:latin typeface="Inter" pitchFamily="34" charset="0"/>
                <a:ea typeface="Inter" pitchFamily="34" charset="-122"/>
                <a:cs typeface="Inter" pitchFamily="34" charset="-120"/>
              </a:rPr>
              <a:t>Personalized digital controls</a:t>
            </a:r>
            <a:endParaRPr lang="en-US" sz="2200" dirty="0"/>
          </a:p>
        </p:txBody>
      </p:sp>
      <p:sp>
        <p:nvSpPr>
          <p:cNvPr id="28" name="Text 26"/>
          <p:cNvSpPr/>
          <p:nvPr/>
        </p:nvSpPr>
        <p:spPr>
          <a:xfrm>
            <a:off x="5522976" y="5074920"/>
            <a:ext cx="5458968" cy="292608"/>
          </a:xfrm>
          <a:prstGeom prst="rect">
            <a:avLst/>
          </a:prstGeom>
          <a:noFill/>
          <a:ln/>
        </p:spPr>
        <p:txBody>
          <a:bodyPr wrap="square" lIns="0" tIns="0" rIns="0" bIns="0" rtlCol="0" anchor="ctr">
            <a:normAutofit/>
          </a:bodyPr>
          <a:lstStyle/>
          <a:p>
            <a:pPr indent="0" marL="0">
              <a:buNone/>
            </a:pPr>
            <a:r>
              <a:rPr lang="en-US" sz="1570" dirty="0">
                <a:solidFill>
                  <a:srgbClr val="596779"/>
                </a:solidFill>
                <a:latin typeface="Inter" pitchFamily="34" charset="0"/>
                <a:ea typeface="Inter" pitchFamily="34" charset="-122"/>
                <a:cs typeface="Inter" pitchFamily="34" charset="-120"/>
              </a:rPr>
              <a:t>Pinned actions around the user’s preferences</a:t>
            </a:r>
            <a:endParaRPr lang="en-US" sz="1570" dirty="0"/>
          </a:p>
        </p:txBody>
      </p:sp>
      <p:sp>
        <p:nvSpPr>
          <p:cNvPr id="29" name="Text 27"/>
          <p:cNvSpPr/>
          <p:nvPr/>
        </p:nvSpPr>
        <p:spPr>
          <a:xfrm>
            <a:off x="621792" y="6053328"/>
            <a:ext cx="10972800" cy="192024"/>
          </a:xfrm>
          <a:prstGeom prst="rect">
            <a:avLst/>
          </a:prstGeom>
          <a:noFill/>
          <a:ln/>
        </p:spPr>
        <p:txBody>
          <a:bodyPr wrap="square" lIns="0" tIns="0" rIns="0" bIns="0" rtlCol="0" anchor="ctr">
            <a:normAutofit/>
          </a:bodyPr>
          <a:lstStyle/>
          <a:p>
            <a:pPr indent="0" marL="0">
              <a:buNone/>
            </a:pPr>
            <a:r>
              <a:rPr lang="en-US" sz="1050" dirty="0">
                <a:solidFill>
                  <a:srgbClr val="596779"/>
                </a:solidFill>
                <a:latin typeface="Inter" pitchFamily="34" charset="0"/>
                <a:ea typeface="Inter" pitchFamily="34" charset="-122"/>
                <a:cs typeface="Inter" pitchFamily="34" charset="-120"/>
              </a:rPr>
              <a:t>Illustrative alternatives • cohort assignments require evidence • the PM can inspect or regroup variants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EXPLAINABLE PRIORITIZATION</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A score you can inspect—not a black box.</a:t>
            </a:r>
            <a:endParaRPr lang="en-US" sz="3300" dirty="0"/>
          </a:p>
        </p:txBody>
      </p:sp>
      <p:sp>
        <p:nvSpPr>
          <p:cNvPr id="8" name="Shape 6"/>
          <p:cNvSpPr/>
          <p:nvPr/>
        </p:nvSpPr>
        <p:spPr>
          <a:xfrm>
            <a:off x="548640" y="6409944"/>
            <a:ext cx="11091672" cy="0"/>
          </a:xfrm>
          <a:prstGeom prst="line">
            <a:avLst/>
          </a:prstGeom>
          <a:noFill/>
          <a:ln w="9525">
            <a:solidFill>
              <a:srgbClr val="DCE3EC"/>
            </a:solidFill>
            <a:prstDash val="solid"/>
          </a:ln>
        </p:spPr>
      </p:sp>
      <p:sp>
        <p:nvSpPr>
          <p:cNvPr id="9" name="Text 7"/>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0" name="Text 8"/>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08 / 14</a:t>
            </a:r>
            <a:endParaRPr lang="en-US" sz="890" dirty="0"/>
          </a:p>
        </p:txBody>
      </p:sp>
      <p:sp>
        <p:nvSpPr>
          <p:cNvPr id="11" name="Shape 9"/>
          <p:cNvSpPr/>
          <p:nvPr/>
        </p:nvSpPr>
        <p:spPr>
          <a:xfrm>
            <a:off x="585216" y="1837944"/>
            <a:ext cx="4352544" cy="310896"/>
          </a:xfrm>
          <a:prstGeom prst="roundRect">
            <a:avLst>
              <a:gd name="adj" fmla="val 35294"/>
            </a:avLst>
          </a:prstGeom>
          <a:solidFill>
            <a:srgbClr val="EAF0FE"/>
          </a:solidFill>
          <a:ln w="12700">
            <a:solidFill>
              <a:srgbClr val="EAF0FE"/>
            </a:solidFill>
            <a:prstDash val="solid"/>
          </a:ln>
        </p:spPr>
      </p:sp>
      <p:sp>
        <p:nvSpPr>
          <p:cNvPr id="12" name="Text 10"/>
          <p:cNvSpPr/>
          <p:nvPr/>
        </p:nvSpPr>
        <p:spPr>
          <a:xfrm>
            <a:off x="676656" y="1847088"/>
            <a:ext cx="4169664" cy="292608"/>
          </a:xfrm>
          <a:prstGeom prst="rect">
            <a:avLst/>
          </a:prstGeom>
          <a:noFill/>
          <a:ln/>
        </p:spPr>
        <p:txBody>
          <a:bodyPr wrap="square" lIns="0" tIns="0" rIns="0" bIns="0" rtlCol="0" anchor="ctr">
            <a:normAutofit/>
          </a:bodyPr>
          <a:lstStyle/>
          <a:p>
            <a:pPr algn="ctr" indent="0" marL="0">
              <a:buNone/>
            </a:pPr>
            <a:r>
              <a:rPr lang="en-US" sz="1050" b="1" dirty="0">
                <a:solidFill>
                  <a:srgbClr val="2863EB"/>
                </a:solidFill>
                <a:latin typeface="Inter" pitchFamily="34" charset="0"/>
                <a:ea typeface="Inter" pitchFamily="34" charset="-122"/>
                <a:cs typeface="Inter" pitchFamily="34" charset="-120"/>
              </a:rPr>
              <a:t>Synthetic example — not a BMW finding</a:t>
            </a:r>
            <a:endParaRPr lang="en-US" sz="1050" dirty="0"/>
          </a:p>
        </p:txBody>
      </p:sp>
      <p:sp>
        <p:nvSpPr>
          <p:cNvPr id="13" name="Text 11"/>
          <p:cNvSpPr/>
          <p:nvPr/>
        </p:nvSpPr>
        <p:spPr>
          <a:xfrm>
            <a:off x="621792" y="2532888"/>
            <a:ext cx="3758184" cy="274320"/>
          </a:xfrm>
          <a:prstGeom prst="rect">
            <a:avLst/>
          </a:prstGeom>
          <a:noFill/>
          <a:ln/>
        </p:spPr>
        <p:txBody>
          <a:bodyPr wrap="square" lIns="0" tIns="0" rIns="0" bIns="0" rtlCol="0" anchor="ctr">
            <a:normAutofit/>
          </a:bodyPr>
          <a:lstStyle/>
          <a:p>
            <a:pPr indent="0" marL="0">
              <a:buNone/>
            </a:pPr>
            <a:r>
              <a:rPr lang="en-US" sz="1700" b="1" dirty="0">
                <a:solidFill>
                  <a:srgbClr val="131C29"/>
                </a:solidFill>
                <a:latin typeface="Inter" pitchFamily="34" charset="0"/>
                <a:ea typeface="Inter" pitchFamily="34" charset="-122"/>
                <a:cs typeface="Inter" pitchFamily="34" charset="-120"/>
              </a:rPr>
              <a:t>Customer impact</a:t>
            </a:r>
            <a:endParaRPr lang="en-US" sz="1700" dirty="0"/>
          </a:p>
        </p:txBody>
      </p:sp>
      <p:sp>
        <p:nvSpPr>
          <p:cNvPr id="14" name="Shape 12"/>
          <p:cNvSpPr/>
          <p:nvPr/>
        </p:nvSpPr>
        <p:spPr>
          <a:xfrm>
            <a:off x="4562856" y="2555748"/>
            <a:ext cx="2221992" cy="182880"/>
          </a:xfrm>
          <a:prstGeom prst="rect">
            <a:avLst/>
          </a:prstGeom>
          <a:solidFill>
            <a:srgbClr val="E1E7F0"/>
          </a:solidFill>
          <a:ln w="12700">
            <a:solidFill>
              <a:srgbClr val="E1E7F0"/>
            </a:solidFill>
            <a:prstDash val="solid"/>
          </a:ln>
        </p:spPr>
      </p:sp>
      <p:sp>
        <p:nvSpPr>
          <p:cNvPr id="15" name="Shape 13"/>
          <p:cNvSpPr/>
          <p:nvPr/>
        </p:nvSpPr>
        <p:spPr>
          <a:xfrm>
            <a:off x="4562856" y="2555748"/>
            <a:ext cx="2221992" cy="182880"/>
          </a:xfrm>
          <a:prstGeom prst="rect">
            <a:avLst/>
          </a:prstGeom>
          <a:solidFill>
            <a:srgbClr val="2863EB"/>
          </a:solidFill>
          <a:ln w="12700">
            <a:solidFill>
              <a:srgbClr val="2863EB"/>
            </a:solidFill>
            <a:prstDash val="solid"/>
          </a:ln>
        </p:spPr>
      </p:sp>
      <p:sp>
        <p:nvSpPr>
          <p:cNvPr id="16" name="Text 14"/>
          <p:cNvSpPr/>
          <p:nvPr/>
        </p:nvSpPr>
        <p:spPr>
          <a:xfrm>
            <a:off x="6958584" y="2528316"/>
            <a:ext cx="658368" cy="301752"/>
          </a:xfrm>
          <a:prstGeom prst="rect">
            <a:avLst/>
          </a:prstGeom>
          <a:noFill/>
          <a:ln/>
        </p:spPr>
        <p:txBody>
          <a:bodyPr wrap="square" lIns="0" tIns="0" rIns="0" bIns="0" rtlCol="0" anchor="ctr">
            <a:normAutofit/>
          </a:bodyPr>
          <a:lstStyle/>
          <a:p>
            <a:pPr algn="r" indent="0" marL="0">
              <a:buNone/>
            </a:pPr>
            <a:r>
              <a:rPr lang="en-US" sz="1700" b="1" dirty="0">
                <a:solidFill>
                  <a:srgbClr val="131C29"/>
                </a:solidFill>
                <a:latin typeface="Inter" pitchFamily="34" charset="0"/>
                <a:ea typeface="Inter" pitchFamily="34" charset="-122"/>
                <a:cs typeface="Inter" pitchFamily="34" charset="-120"/>
              </a:rPr>
              <a:t>35%</a:t>
            </a:r>
            <a:endParaRPr lang="en-US" sz="1700" dirty="0"/>
          </a:p>
        </p:txBody>
      </p:sp>
      <p:sp>
        <p:nvSpPr>
          <p:cNvPr id="17" name="Text 15"/>
          <p:cNvSpPr/>
          <p:nvPr/>
        </p:nvSpPr>
        <p:spPr>
          <a:xfrm>
            <a:off x="7790688" y="2532888"/>
            <a:ext cx="658368" cy="301752"/>
          </a:xfrm>
          <a:prstGeom prst="rect">
            <a:avLst/>
          </a:prstGeom>
          <a:noFill/>
          <a:ln/>
        </p:spPr>
        <p:txBody>
          <a:bodyPr wrap="square" lIns="0" tIns="0" rIns="0" bIns="0" rtlCol="0" anchor="ctr">
            <a:normAutofit/>
          </a:bodyPr>
          <a:lstStyle/>
          <a:p>
            <a:pPr algn="r" indent="0" marL="0">
              <a:buNone/>
            </a:pPr>
            <a:r>
              <a:rPr lang="en-US" sz="1300" dirty="0">
                <a:solidFill>
                  <a:srgbClr val="596779"/>
                </a:solidFill>
                <a:latin typeface="Inter" pitchFamily="34" charset="0"/>
                <a:ea typeface="Inter" pitchFamily="34" charset="-122"/>
                <a:cs typeface="Inter" pitchFamily="34" charset="-120"/>
              </a:rPr>
              <a:t>4/5</a:t>
            </a:r>
            <a:endParaRPr lang="en-US" sz="1300" dirty="0"/>
          </a:p>
        </p:txBody>
      </p:sp>
      <p:sp>
        <p:nvSpPr>
          <p:cNvPr id="18" name="Text 16"/>
          <p:cNvSpPr/>
          <p:nvPr/>
        </p:nvSpPr>
        <p:spPr>
          <a:xfrm>
            <a:off x="621792" y="3218688"/>
            <a:ext cx="3758184" cy="274320"/>
          </a:xfrm>
          <a:prstGeom prst="rect">
            <a:avLst/>
          </a:prstGeom>
          <a:noFill/>
          <a:ln/>
        </p:spPr>
        <p:txBody>
          <a:bodyPr wrap="square" lIns="0" tIns="0" rIns="0" bIns="0" rtlCol="0" anchor="ctr">
            <a:normAutofit/>
          </a:bodyPr>
          <a:lstStyle/>
          <a:p>
            <a:pPr indent="0" marL="0">
              <a:buNone/>
            </a:pPr>
            <a:r>
              <a:rPr lang="en-US" sz="1700" b="1" dirty="0">
                <a:solidFill>
                  <a:srgbClr val="131C29"/>
                </a:solidFill>
                <a:latin typeface="Inter" pitchFamily="34" charset="0"/>
                <a:ea typeface="Inter" pitchFamily="34" charset="-122"/>
                <a:cs typeface="Inter" pitchFamily="34" charset="-120"/>
              </a:rPr>
              <a:t>Breadth in target group</a:t>
            </a:r>
            <a:endParaRPr lang="en-US" sz="1700" dirty="0"/>
          </a:p>
        </p:txBody>
      </p:sp>
      <p:sp>
        <p:nvSpPr>
          <p:cNvPr id="19" name="Shape 17"/>
          <p:cNvSpPr/>
          <p:nvPr/>
        </p:nvSpPr>
        <p:spPr>
          <a:xfrm>
            <a:off x="4562856" y="3241548"/>
            <a:ext cx="2221992" cy="182880"/>
          </a:xfrm>
          <a:prstGeom prst="rect">
            <a:avLst/>
          </a:prstGeom>
          <a:solidFill>
            <a:srgbClr val="E1E7F0"/>
          </a:solidFill>
          <a:ln w="12700">
            <a:solidFill>
              <a:srgbClr val="E1E7F0"/>
            </a:solidFill>
            <a:prstDash val="solid"/>
          </a:ln>
        </p:spPr>
      </p:sp>
      <p:sp>
        <p:nvSpPr>
          <p:cNvPr id="20" name="Shape 18"/>
          <p:cNvSpPr/>
          <p:nvPr/>
        </p:nvSpPr>
        <p:spPr>
          <a:xfrm>
            <a:off x="4562856" y="3241548"/>
            <a:ext cx="1587137" cy="182880"/>
          </a:xfrm>
          <a:prstGeom prst="rect">
            <a:avLst/>
          </a:prstGeom>
          <a:solidFill>
            <a:srgbClr val="2863EB"/>
          </a:solidFill>
          <a:ln w="12700">
            <a:solidFill>
              <a:srgbClr val="2863EB"/>
            </a:solidFill>
            <a:prstDash val="solid"/>
          </a:ln>
        </p:spPr>
      </p:sp>
      <p:sp>
        <p:nvSpPr>
          <p:cNvPr id="21" name="Text 19"/>
          <p:cNvSpPr/>
          <p:nvPr/>
        </p:nvSpPr>
        <p:spPr>
          <a:xfrm>
            <a:off x="6958584" y="3214116"/>
            <a:ext cx="658368" cy="301752"/>
          </a:xfrm>
          <a:prstGeom prst="rect">
            <a:avLst/>
          </a:prstGeom>
          <a:noFill/>
          <a:ln/>
        </p:spPr>
        <p:txBody>
          <a:bodyPr wrap="square" lIns="0" tIns="0" rIns="0" bIns="0" rtlCol="0" anchor="ctr">
            <a:normAutofit/>
          </a:bodyPr>
          <a:lstStyle/>
          <a:p>
            <a:pPr algn="r" indent="0" marL="0">
              <a:buNone/>
            </a:pPr>
            <a:r>
              <a:rPr lang="en-US" sz="1700" b="1" dirty="0">
                <a:solidFill>
                  <a:srgbClr val="131C29"/>
                </a:solidFill>
                <a:latin typeface="Inter" pitchFamily="34" charset="0"/>
                <a:ea typeface="Inter" pitchFamily="34" charset="-122"/>
                <a:cs typeface="Inter" pitchFamily="34" charset="-120"/>
              </a:rPr>
              <a:t>25%</a:t>
            </a:r>
            <a:endParaRPr lang="en-US" sz="1700" dirty="0"/>
          </a:p>
        </p:txBody>
      </p:sp>
      <p:sp>
        <p:nvSpPr>
          <p:cNvPr id="22" name="Text 20"/>
          <p:cNvSpPr/>
          <p:nvPr/>
        </p:nvSpPr>
        <p:spPr>
          <a:xfrm>
            <a:off x="7790688" y="3218688"/>
            <a:ext cx="658368" cy="301752"/>
          </a:xfrm>
          <a:prstGeom prst="rect">
            <a:avLst/>
          </a:prstGeom>
          <a:noFill/>
          <a:ln/>
        </p:spPr>
        <p:txBody>
          <a:bodyPr wrap="square" lIns="0" tIns="0" rIns="0" bIns="0" rtlCol="0" anchor="ctr">
            <a:normAutofit/>
          </a:bodyPr>
          <a:lstStyle/>
          <a:p>
            <a:pPr algn="r" indent="0" marL="0">
              <a:buNone/>
            </a:pPr>
            <a:r>
              <a:rPr lang="en-US" sz="1300" dirty="0">
                <a:solidFill>
                  <a:srgbClr val="596779"/>
                </a:solidFill>
                <a:latin typeface="Inter" pitchFamily="34" charset="0"/>
                <a:ea typeface="Inter" pitchFamily="34" charset="-122"/>
                <a:cs typeface="Inter" pitchFamily="34" charset="-120"/>
              </a:rPr>
              <a:t>3/5</a:t>
            </a:r>
            <a:endParaRPr lang="en-US" sz="1300" dirty="0"/>
          </a:p>
        </p:txBody>
      </p:sp>
      <p:sp>
        <p:nvSpPr>
          <p:cNvPr id="23" name="Text 21"/>
          <p:cNvSpPr/>
          <p:nvPr/>
        </p:nvSpPr>
        <p:spPr>
          <a:xfrm>
            <a:off x="621792" y="3904488"/>
            <a:ext cx="3758184" cy="274320"/>
          </a:xfrm>
          <a:prstGeom prst="rect">
            <a:avLst/>
          </a:prstGeom>
          <a:noFill/>
          <a:ln/>
        </p:spPr>
        <p:txBody>
          <a:bodyPr wrap="square" lIns="0" tIns="0" rIns="0" bIns="0" rtlCol="0" anchor="ctr">
            <a:normAutofit/>
          </a:bodyPr>
          <a:lstStyle/>
          <a:p>
            <a:pPr indent="0" marL="0">
              <a:buNone/>
            </a:pPr>
            <a:r>
              <a:rPr lang="en-US" sz="1700" b="1" dirty="0">
                <a:solidFill>
                  <a:srgbClr val="131C29"/>
                </a:solidFill>
                <a:latin typeface="Inter" pitchFamily="34" charset="0"/>
                <a:ea typeface="Inter" pitchFamily="34" charset="-122"/>
                <a:cs typeface="Inter" pitchFamily="34" charset="-120"/>
              </a:rPr>
              <a:t>Gap in current offering</a:t>
            </a:r>
            <a:endParaRPr lang="en-US" sz="1700" dirty="0"/>
          </a:p>
        </p:txBody>
      </p:sp>
      <p:sp>
        <p:nvSpPr>
          <p:cNvPr id="24" name="Shape 22"/>
          <p:cNvSpPr/>
          <p:nvPr/>
        </p:nvSpPr>
        <p:spPr>
          <a:xfrm>
            <a:off x="4562856" y="3927348"/>
            <a:ext cx="2221992" cy="182880"/>
          </a:xfrm>
          <a:prstGeom prst="rect">
            <a:avLst/>
          </a:prstGeom>
          <a:solidFill>
            <a:srgbClr val="E1E7F0"/>
          </a:solidFill>
          <a:ln w="12700">
            <a:solidFill>
              <a:srgbClr val="E1E7F0"/>
            </a:solidFill>
            <a:prstDash val="solid"/>
          </a:ln>
        </p:spPr>
      </p:sp>
      <p:sp>
        <p:nvSpPr>
          <p:cNvPr id="25" name="Shape 23"/>
          <p:cNvSpPr/>
          <p:nvPr/>
        </p:nvSpPr>
        <p:spPr>
          <a:xfrm>
            <a:off x="4562856" y="3927348"/>
            <a:ext cx="1269710" cy="182880"/>
          </a:xfrm>
          <a:prstGeom prst="rect">
            <a:avLst/>
          </a:prstGeom>
          <a:solidFill>
            <a:srgbClr val="2863EB"/>
          </a:solidFill>
          <a:ln w="12700">
            <a:solidFill>
              <a:srgbClr val="2863EB"/>
            </a:solidFill>
            <a:prstDash val="solid"/>
          </a:ln>
        </p:spPr>
      </p:sp>
      <p:sp>
        <p:nvSpPr>
          <p:cNvPr id="26" name="Text 24"/>
          <p:cNvSpPr/>
          <p:nvPr/>
        </p:nvSpPr>
        <p:spPr>
          <a:xfrm>
            <a:off x="6958584" y="3899916"/>
            <a:ext cx="658368" cy="301752"/>
          </a:xfrm>
          <a:prstGeom prst="rect">
            <a:avLst/>
          </a:prstGeom>
          <a:noFill/>
          <a:ln/>
        </p:spPr>
        <p:txBody>
          <a:bodyPr wrap="square" lIns="0" tIns="0" rIns="0" bIns="0" rtlCol="0" anchor="ctr">
            <a:normAutofit/>
          </a:bodyPr>
          <a:lstStyle/>
          <a:p>
            <a:pPr algn="r" indent="0" marL="0">
              <a:buNone/>
            </a:pPr>
            <a:r>
              <a:rPr lang="en-US" sz="1700" b="1" dirty="0">
                <a:solidFill>
                  <a:srgbClr val="131C29"/>
                </a:solidFill>
                <a:latin typeface="Inter" pitchFamily="34" charset="0"/>
                <a:ea typeface="Inter" pitchFamily="34" charset="-122"/>
                <a:cs typeface="Inter" pitchFamily="34" charset="-120"/>
              </a:rPr>
              <a:t>20%</a:t>
            </a:r>
            <a:endParaRPr lang="en-US" sz="1700" dirty="0"/>
          </a:p>
        </p:txBody>
      </p:sp>
      <p:sp>
        <p:nvSpPr>
          <p:cNvPr id="27" name="Text 25"/>
          <p:cNvSpPr/>
          <p:nvPr/>
        </p:nvSpPr>
        <p:spPr>
          <a:xfrm>
            <a:off x="7790688" y="3904488"/>
            <a:ext cx="658368" cy="301752"/>
          </a:xfrm>
          <a:prstGeom prst="rect">
            <a:avLst/>
          </a:prstGeom>
          <a:noFill/>
          <a:ln/>
        </p:spPr>
        <p:txBody>
          <a:bodyPr wrap="square" lIns="0" tIns="0" rIns="0" bIns="0" rtlCol="0" anchor="ctr">
            <a:normAutofit/>
          </a:bodyPr>
          <a:lstStyle/>
          <a:p>
            <a:pPr algn="r" indent="0" marL="0">
              <a:buNone/>
            </a:pPr>
            <a:r>
              <a:rPr lang="en-US" sz="1300" dirty="0">
                <a:solidFill>
                  <a:srgbClr val="596779"/>
                </a:solidFill>
                <a:latin typeface="Inter" pitchFamily="34" charset="0"/>
                <a:ea typeface="Inter" pitchFamily="34" charset="-122"/>
                <a:cs typeface="Inter" pitchFamily="34" charset="-120"/>
              </a:rPr>
              <a:t>4/5</a:t>
            </a:r>
            <a:endParaRPr lang="en-US" sz="1300" dirty="0"/>
          </a:p>
        </p:txBody>
      </p:sp>
      <p:sp>
        <p:nvSpPr>
          <p:cNvPr id="28" name="Text 26"/>
          <p:cNvSpPr/>
          <p:nvPr/>
        </p:nvSpPr>
        <p:spPr>
          <a:xfrm>
            <a:off x="621792" y="4590288"/>
            <a:ext cx="3758184" cy="274320"/>
          </a:xfrm>
          <a:prstGeom prst="rect">
            <a:avLst/>
          </a:prstGeom>
          <a:noFill/>
          <a:ln/>
        </p:spPr>
        <p:txBody>
          <a:bodyPr wrap="square" lIns="0" tIns="0" rIns="0" bIns="0" rtlCol="0" anchor="ctr">
            <a:normAutofit/>
          </a:bodyPr>
          <a:lstStyle/>
          <a:p>
            <a:pPr indent="0" marL="0">
              <a:buNone/>
            </a:pPr>
            <a:r>
              <a:rPr lang="en-US" sz="1700" b="1" dirty="0">
                <a:solidFill>
                  <a:srgbClr val="131C29"/>
                </a:solidFill>
                <a:latin typeface="Inter" pitchFamily="34" charset="0"/>
                <a:ea typeface="Inter" pitchFamily="34" charset="-122"/>
                <a:cs typeface="Inter" pitchFamily="34" charset="-120"/>
              </a:rPr>
              <a:t>Future relevance</a:t>
            </a:r>
            <a:endParaRPr lang="en-US" sz="1700" dirty="0"/>
          </a:p>
        </p:txBody>
      </p:sp>
      <p:sp>
        <p:nvSpPr>
          <p:cNvPr id="29" name="Shape 27"/>
          <p:cNvSpPr/>
          <p:nvPr/>
        </p:nvSpPr>
        <p:spPr>
          <a:xfrm>
            <a:off x="4562856" y="4613148"/>
            <a:ext cx="2221992" cy="182880"/>
          </a:xfrm>
          <a:prstGeom prst="rect">
            <a:avLst/>
          </a:prstGeom>
          <a:solidFill>
            <a:srgbClr val="E1E7F0"/>
          </a:solidFill>
          <a:ln w="12700">
            <a:solidFill>
              <a:srgbClr val="E1E7F0"/>
            </a:solidFill>
            <a:prstDash val="solid"/>
          </a:ln>
        </p:spPr>
      </p:sp>
      <p:sp>
        <p:nvSpPr>
          <p:cNvPr id="30" name="Shape 28"/>
          <p:cNvSpPr/>
          <p:nvPr/>
        </p:nvSpPr>
        <p:spPr>
          <a:xfrm>
            <a:off x="4562856" y="4613148"/>
            <a:ext cx="1269710" cy="182880"/>
          </a:xfrm>
          <a:prstGeom prst="rect">
            <a:avLst/>
          </a:prstGeom>
          <a:solidFill>
            <a:srgbClr val="2863EB"/>
          </a:solidFill>
          <a:ln w="12700">
            <a:solidFill>
              <a:srgbClr val="2863EB"/>
            </a:solidFill>
            <a:prstDash val="solid"/>
          </a:ln>
        </p:spPr>
      </p:sp>
      <p:sp>
        <p:nvSpPr>
          <p:cNvPr id="31" name="Text 29"/>
          <p:cNvSpPr/>
          <p:nvPr/>
        </p:nvSpPr>
        <p:spPr>
          <a:xfrm>
            <a:off x="6958584" y="4585716"/>
            <a:ext cx="658368" cy="301752"/>
          </a:xfrm>
          <a:prstGeom prst="rect">
            <a:avLst/>
          </a:prstGeom>
          <a:noFill/>
          <a:ln/>
        </p:spPr>
        <p:txBody>
          <a:bodyPr wrap="square" lIns="0" tIns="0" rIns="0" bIns="0" rtlCol="0" anchor="ctr">
            <a:normAutofit/>
          </a:bodyPr>
          <a:lstStyle/>
          <a:p>
            <a:pPr algn="r" indent="0" marL="0">
              <a:buNone/>
            </a:pPr>
            <a:r>
              <a:rPr lang="en-US" sz="1700" b="1" dirty="0">
                <a:solidFill>
                  <a:srgbClr val="131C29"/>
                </a:solidFill>
                <a:latin typeface="Inter" pitchFamily="34" charset="0"/>
                <a:ea typeface="Inter" pitchFamily="34" charset="-122"/>
                <a:cs typeface="Inter" pitchFamily="34" charset="-120"/>
              </a:rPr>
              <a:t>20%</a:t>
            </a:r>
            <a:endParaRPr lang="en-US" sz="1700" dirty="0"/>
          </a:p>
        </p:txBody>
      </p:sp>
      <p:sp>
        <p:nvSpPr>
          <p:cNvPr id="32" name="Text 30"/>
          <p:cNvSpPr/>
          <p:nvPr/>
        </p:nvSpPr>
        <p:spPr>
          <a:xfrm>
            <a:off x="7790688" y="4590288"/>
            <a:ext cx="658368" cy="301752"/>
          </a:xfrm>
          <a:prstGeom prst="rect">
            <a:avLst/>
          </a:prstGeom>
          <a:noFill/>
          <a:ln/>
        </p:spPr>
        <p:txBody>
          <a:bodyPr wrap="square" lIns="0" tIns="0" rIns="0" bIns="0" rtlCol="0" anchor="ctr">
            <a:normAutofit/>
          </a:bodyPr>
          <a:lstStyle/>
          <a:p>
            <a:pPr algn="r" indent="0" marL="0">
              <a:buNone/>
            </a:pPr>
            <a:r>
              <a:rPr lang="en-US" sz="1300" dirty="0">
                <a:solidFill>
                  <a:srgbClr val="596779"/>
                </a:solidFill>
                <a:latin typeface="Inter" pitchFamily="34" charset="0"/>
                <a:ea typeface="Inter" pitchFamily="34" charset="-122"/>
                <a:cs typeface="Inter" pitchFamily="34" charset="-120"/>
              </a:rPr>
              <a:t>4/5</a:t>
            </a:r>
            <a:endParaRPr lang="en-US" sz="1300" dirty="0"/>
          </a:p>
        </p:txBody>
      </p:sp>
      <p:sp>
        <p:nvSpPr>
          <p:cNvPr id="33" name="Shape 31"/>
          <p:cNvSpPr/>
          <p:nvPr/>
        </p:nvSpPr>
        <p:spPr>
          <a:xfrm>
            <a:off x="8732520" y="2542032"/>
            <a:ext cx="0" cy="2523744"/>
          </a:xfrm>
          <a:prstGeom prst="line">
            <a:avLst/>
          </a:prstGeom>
          <a:noFill/>
          <a:ln w="12700">
            <a:solidFill>
              <a:srgbClr val="DCE3EC"/>
            </a:solidFill>
            <a:prstDash val="solid"/>
          </a:ln>
        </p:spPr>
      </p:sp>
      <p:sp>
        <p:nvSpPr>
          <p:cNvPr id="34" name="Text 32"/>
          <p:cNvSpPr/>
          <p:nvPr/>
        </p:nvSpPr>
        <p:spPr>
          <a:xfrm>
            <a:off x="9189720" y="2542032"/>
            <a:ext cx="2103120" cy="219456"/>
          </a:xfrm>
          <a:prstGeom prst="rect">
            <a:avLst/>
          </a:prstGeom>
          <a:noFill/>
          <a:ln/>
        </p:spPr>
        <p:txBody>
          <a:bodyPr wrap="square" lIns="0" tIns="0" rIns="0" bIns="0" rtlCol="0" anchor="ctr">
            <a:normAutofit/>
          </a:bodyPr>
          <a:lstStyle/>
          <a:p>
            <a:pPr indent="0" marL="0">
              <a:buNone/>
            </a:pPr>
            <a:r>
              <a:rPr lang="en-US" sz="1060" b="1" spc="140" kern="0" dirty="0">
                <a:solidFill>
                  <a:srgbClr val="2863EB"/>
                </a:solidFill>
                <a:latin typeface="Inter" pitchFamily="34" charset="0"/>
                <a:ea typeface="Inter" pitchFamily="34" charset="-122"/>
                <a:cs typeface="Inter" pitchFamily="34" charset="-120"/>
              </a:rPr>
              <a:t>PRIORITY</a:t>
            </a:r>
            <a:endParaRPr lang="en-US" sz="1060" dirty="0"/>
          </a:p>
        </p:txBody>
      </p:sp>
      <p:sp>
        <p:nvSpPr>
          <p:cNvPr id="35" name="Text 33"/>
          <p:cNvSpPr/>
          <p:nvPr/>
        </p:nvSpPr>
        <p:spPr>
          <a:xfrm>
            <a:off x="9125712" y="3063240"/>
            <a:ext cx="2221992" cy="1207008"/>
          </a:xfrm>
          <a:prstGeom prst="rect">
            <a:avLst/>
          </a:prstGeom>
          <a:noFill/>
          <a:ln/>
        </p:spPr>
        <p:txBody>
          <a:bodyPr wrap="square" lIns="0" tIns="0" rIns="0" bIns="0" rtlCol="0" anchor="ctr">
            <a:normAutofit/>
          </a:bodyPr>
          <a:lstStyle/>
          <a:p>
            <a:pPr algn="ctr" indent="0" marL="0">
              <a:buNone/>
            </a:pPr>
            <a:r>
              <a:rPr lang="en-US" sz="8600" b="1" dirty="0">
                <a:solidFill>
                  <a:srgbClr val="2863EB"/>
                </a:solidFill>
                <a:latin typeface="Inter" pitchFamily="34" charset="0"/>
                <a:ea typeface="Inter" pitchFamily="34" charset="-122"/>
                <a:cs typeface="Inter" pitchFamily="34" charset="-120"/>
              </a:rPr>
              <a:t>75</a:t>
            </a:r>
            <a:endParaRPr lang="en-US" sz="8600" dirty="0"/>
          </a:p>
        </p:txBody>
      </p:sp>
      <p:sp>
        <p:nvSpPr>
          <p:cNvPr id="36" name="Text 34"/>
          <p:cNvSpPr/>
          <p:nvPr/>
        </p:nvSpPr>
        <p:spPr>
          <a:xfrm>
            <a:off x="9162288" y="4370832"/>
            <a:ext cx="2176272" cy="320040"/>
          </a:xfrm>
          <a:prstGeom prst="rect">
            <a:avLst/>
          </a:prstGeom>
          <a:noFill/>
          <a:ln/>
        </p:spPr>
        <p:txBody>
          <a:bodyPr wrap="square" lIns="0" tIns="0" rIns="0" bIns="0" rtlCol="0" anchor="ctr">
            <a:normAutofit/>
          </a:bodyPr>
          <a:lstStyle/>
          <a:p>
            <a:pPr algn="ctr" indent="0" marL="0">
              <a:buNone/>
            </a:pPr>
            <a:r>
              <a:rPr lang="en-US" sz="2000" dirty="0">
                <a:solidFill>
                  <a:srgbClr val="596779"/>
                </a:solidFill>
                <a:latin typeface="Inter" pitchFamily="34" charset="0"/>
                <a:ea typeface="Inter" pitchFamily="34" charset="-122"/>
                <a:cs typeface="Inter" pitchFamily="34" charset="-120"/>
              </a:rPr>
              <a:t>/ 100</a:t>
            </a:r>
            <a:endParaRPr lang="en-US" sz="2000" dirty="0"/>
          </a:p>
        </p:txBody>
      </p:sp>
      <p:sp>
        <p:nvSpPr>
          <p:cNvPr id="37" name="Text 35"/>
          <p:cNvSpPr/>
          <p:nvPr/>
        </p:nvSpPr>
        <p:spPr>
          <a:xfrm>
            <a:off x="612648" y="5486400"/>
            <a:ext cx="10917936" cy="329184"/>
          </a:xfrm>
          <a:prstGeom prst="rect">
            <a:avLst/>
          </a:prstGeom>
          <a:noFill/>
          <a:ln/>
        </p:spPr>
        <p:txBody>
          <a:bodyPr wrap="square" lIns="0" tIns="0" rIns="0" bIns="0" rtlCol="0" anchor="ctr">
            <a:normAutofit/>
          </a:bodyPr>
          <a:lstStyle/>
          <a:p>
            <a:pPr indent="0" marL="0">
              <a:buNone/>
            </a:pPr>
            <a:r>
              <a:rPr lang="en-US" sz="1350" dirty="0">
                <a:solidFill>
                  <a:srgbClr val="596779"/>
                </a:solidFill>
                <a:latin typeface="Inter" pitchFamily="34" charset="0"/>
                <a:ea typeface="Inter" pitchFamily="34" charset="-122"/>
                <a:cs typeface="Inter" pitchFamily="34" charset="-120"/>
              </a:rPr>
              <a:t>Provisional project policy, not BMW-prescribed weights. Factors are rated 0–5 with a rationale.</a:t>
            </a:r>
            <a:endParaRPr lang="en-US" sz="1350" dirty="0"/>
          </a:p>
        </p:txBody>
      </p:sp>
      <p:sp>
        <p:nvSpPr>
          <p:cNvPr id="38" name="Shape 36"/>
          <p:cNvSpPr/>
          <p:nvPr/>
        </p:nvSpPr>
        <p:spPr>
          <a:xfrm>
            <a:off x="621792" y="5980176"/>
            <a:ext cx="1865376" cy="274320"/>
          </a:xfrm>
          <a:prstGeom prst="roundRect">
            <a:avLst>
              <a:gd name="adj" fmla="val 40000"/>
            </a:avLst>
          </a:prstGeom>
          <a:solidFill>
            <a:srgbClr val="EAF0FE"/>
          </a:solidFill>
          <a:ln w="12700">
            <a:solidFill>
              <a:srgbClr val="EAF0FE"/>
            </a:solidFill>
            <a:prstDash val="solid"/>
          </a:ln>
        </p:spPr>
      </p:sp>
      <p:sp>
        <p:nvSpPr>
          <p:cNvPr id="39" name="Text 37"/>
          <p:cNvSpPr/>
          <p:nvPr/>
        </p:nvSpPr>
        <p:spPr>
          <a:xfrm>
            <a:off x="713232" y="5989320"/>
            <a:ext cx="1682496" cy="256032"/>
          </a:xfrm>
          <a:prstGeom prst="rect">
            <a:avLst/>
          </a:prstGeom>
          <a:noFill/>
          <a:ln/>
        </p:spPr>
        <p:txBody>
          <a:bodyPr wrap="square" lIns="0" tIns="0" rIns="0" bIns="0" rtlCol="0" anchor="ctr">
            <a:normAutofit/>
          </a:bodyPr>
          <a:lstStyle/>
          <a:p>
            <a:pPr algn="ctr" indent="0" marL="0">
              <a:buNone/>
            </a:pPr>
            <a:r>
              <a:rPr lang="en-US" sz="1050" b="1" dirty="0">
                <a:solidFill>
                  <a:srgbClr val="2863EB"/>
                </a:solidFill>
                <a:latin typeface="Inter" pitchFamily="34" charset="0"/>
                <a:ea typeface="Inter" pitchFamily="34" charset="-122"/>
                <a:cs typeface="Inter" pitchFamily="34" charset="-120"/>
              </a:rPr>
              <a:t>Priority 75/100</a:t>
            </a:r>
            <a:endParaRPr lang="en-US" sz="1050" dirty="0"/>
          </a:p>
        </p:txBody>
      </p:sp>
      <p:sp>
        <p:nvSpPr>
          <p:cNvPr id="40" name="Shape 38"/>
          <p:cNvSpPr/>
          <p:nvPr/>
        </p:nvSpPr>
        <p:spPr>
          <a:xfrm>
            <a:off x="2779776" y="5980176"/>
            <a:ext cx="2670048" cy="274320"/>
          </a:xfrm>
          <a:prstGeom prst="roundRect">
            <a:avLst>
              <a:gd name="adj" fmla="val 40000"/>
            </a:avLst>
          </a:prstGeom>
          <a:solidFill>
            <a:srgbClr val="FFFFFF"/>
          </a:solidFill>
          <a:ln w="12700">
            <a:solidFill>
              <a:srgbClr val="FFFFFF"/>
            </a:solidFill>
            <a:prstDash val="solid"/>
          </a:ln>
        </p:spPr>
      </p:sp>
      <p:sp>
        <p:nvSpPr>
          <p:cNvPr id="41" name="Text 39"/>
          <p:cNvSpPr/>
          <p:nvPr/>
        </p:nvSpPr>
        <p:spPr>
          <a:xfrm>
            <a:off x="2871216" y="5989320"/>
            <a:ext cx="2487168" cy="256032"/>
          </a:xfrm>
          <a:prstGeom prst="rect">
            <a:avLst/>
          </a:prstGeom>
          <a:noFill/>
          <a:ln/>
        </p:spPr>
        <p:txBody>
          <a:bodyPr wrap="square" lIns="0" tIns="0" rIns="0" bIns="0" rtlCol="0" anchor="ctr">
            <a:normAutofit/>
          </a:bodyPr>
          <a:lstStyle/>
          <a:p>
            <a:pPr algn="ctr" indent="0" marL="0">
              <a:buNone/>
            </a:pPr>
            <a:r>
              <a:rPr lang="en-US" sz="1050" b="1" dirty="0">
                <a:solidFill>
                  <a:srgbClr val="596779"/>
                </a:solidFill>
                <a:latin typeface="Inter" pitchFamily="34" charset="0"/>
                <a:ea typeface="Inter" pitchFamily="34" charset="-122"/>
                <a:cs typeface="Inter" pitchFamily="34" charset="-120"/>
              </a:rPr>
              <a:t>Evidence E0 / synthetic</a:t>
            </a:r>
            <a:endParaRPr lang="en-US" sz="1050" dirty="0"/>
          </a:p>
        </p:txBody>
      </p:sp>
      <p:sp>
        <p:nvSpPr>
          <p:cNvPr id="42" name="Shape 40"/>
          <p:cNvSpPr/>
          <p:nvPr/>
        </p:nvSpPr>
        <p:spPr>
          <a:xfrm>
            <a:off x="5742432" y="5980176"/>
            <a:ext cx="2267712" cy="274320"/>
          </a:xfrm>
          <a:prstGeom prst="roundRect">
            <a:avLst>
              <a:gd name="adj" fmla="val 40000"/>
            </a:avLst>
          </a:prstGeom>
          <a:solidFill>
            <a:srgbClr val="FFFFFF"/>
          </a:solidFill>
          <a:ln w="12700">
            <a:solidFill>
              <a:srgbClr val="FFFFFF"/>
            </a:solidFill>
            <a:prstDash val="solid"/>
          </a:ln>
        </p:spPr>
      </p:sp>
      <p:sp>
        <p:nvSpPr>
          <p:cNvPr id="43" name="Text 41"/>
          <p:cNvSpPr/>
          <p:nvPr/>
        </p:nvSpPr>
        <p:spPr>
          <a:xfrm>
            <a:off x="5833872" y="5989320"/>
            <a:ext cx="2084832" cy="256032"/>
          </a:xfrm>
          <a:prstGeom prst="rect">
            <a:avLst/>
          </a:prstGeom>
          <a:noFill/>
          <a:ln/>
        </p:spPr>
        <p:txBody>
          <a:bodyPr wrap="square" lIns="0" tIns="0" rIns="0" bIns="0" rtlCol="0" anchor="ctr">
            <a:normAutofit/>
          </a:bodyPr>
          <a:lstStyle/>
          <a:p>
            <a:pPr algn="ctr" indent="0" marL="0">
              <a:buNone/>
            </a:pPr>
            <a:r>
              <a:rPr lang="en-US" sz="1050" b="1" dirty="0">
                <a:solidFill>
                  <a:srgbClr val="596779"/>
                </a:solidFill>
                <a:latin typeface="Inter" pitchFamily="34" charset="0"/>
                <a:ea typeface="Inter" pitchFamily="34" charset="-122"/>
                <a:cs typeface="Inter" pitchFamily="34" charset="-120"/>
              </a:rPr>
              <a:t>Decision: Proposed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A STRUCTURED REQUIREMENT</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The baseline can change the answer.</a:t>
            </a:r>
            <a:endParaRPr lang="en-US" sz="3300" dirty="0"/>
          </a:p>
        </p:txBody>
      </p:sp>
      <p:sp>
        <p:nvSpPr>
          <p:cNvPr id="8" name="Shape 6"/>
          <p:cNvSpPr/>
          <p:nvPr/>
        </p:nvSpPr>
        <p:spPr>
          <a:xfrm>
            <a:off x="548640" y="6409944"/>
            <a:ext cx="11091672" cy="0"/>
          </a:xfrm>
          <a:prstGeom prst="line">
            <a:avLst/>
          </a:prstGeom>
          <a:noFill/>
          <a:ln w="9525">
            <a:solidFill>
              <a:srgbClr val="DCE3EC"/>
            </a:solidFill>
            <a:prstDash val="solid"/>
          </a:ln>
        </p:spPr>
      </p:sp>
      <p:sp>
        <p:nvSpPr>
          <p:cNvPr id="9" name="Text 7"/>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0" name="Text 8"/>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09 / 14</a:t>
            </a:r>
            <a:endParaRPr lang="en-US" sz="890" dirty="0"/>
          </a:p>
        </p:txBody>
      </p:sp>
      <p:sp>
        <p:nvSpPr>
          <p:cNvPr id="11" name="Shape 9"/>
          <p:cNvSpPr/>
          <p:nvPr/>
        </p:nvSpPr>
        <p:spPr>
          <a:xfrm>
            <a:off x="585216" y="1837944"/>
            <a:ext cx="4352544" cy="310896"/>
          </a:xfrm>
          <a:prstGeom prst="roundRect">
            <a:avLst>
              <a:gd name="adj" fmla="val 35294"/>
            </a:avLst>
          </a:prstGeom>
          <a:solidFill>
            <a:srgbClr val="EAF0FE"/>
          </a:solidFill>
          <a:ln w="12700">
            <a:solidFill>
              <a:srgbClr val="EAF0FE"/>
            </a:solidFill>
            <a:prstDash val="solid"/>
          </a:ln>
        </p:spPr>
      </p:sp>
      <p:sp>
        <p:nvSpPr>
          <p:cNvPr id="12" name="Text 10"/>
          <p:cNvSpPr/>
          <p:nvPr/>
        </p:nvSpPr>
        <p:spPr>
          <a:xfrm>
            <a:off x="676656" y="1847088"/>
            <a:ext cx="4169664" cy="292608"/>
          </a:xfrm>
          <a:prstGeom prst="rect">
            <a:avLst/>
          </a:prstGeom>
          <a:noFill/>
          <a:ln/>
        </p:spPr>
        <p:txBody>
          <a:bodyPr wrap="square" lIns="0" tIns="0" rIns="0" bIns="0" rtlCol="0" anchor="ctr">
            <a:normAutofit/>
          </a:bodyPr>
          <a:lstStyle/>
          <a:p>
            <a:pPr algn="ctr" indent="0" marL="0">
              <a:buNone/>
            </a:pPr>
            <a:r>
              <a:rPr lang="en-US" sz="1050" b="1" dirty="0">
                <a:solidFill>
                  <a:srgbClr val="2863EB"/>
                </a:solidFill>
                <a:latin typeface="Inter" pitchFamily="34" charset="0"/>
                <a:ea typeface="Inter" pitchFamily="34" charset="-122"/>
                <a:cs typeface="Inter" pitchFamily="34" charset="-120"/>
              </a:rPr>
              <a:t>Synthetic example — not a BMW finding</a:t>
            </a:r>
            <a:endParaRPr lang="en-US" sz="1050" dirty="0"/>
          </a:p>
        </p:txBody>
      </p:sp>
      <p:sp>
        <p:nvSpPr>
          <p:cNvPr id="13" name="Shape 11"/>
          <p:cNvSpPr/>
          <p:nvPr/>
        </p:nvSpPr>
        <p:spPr>
          <a:xfrm>
            <a:off x="594360" y="2395728"/>
            <a:ext cx="7525512" cy="3639312"/>
          </a:xfrm>
          <a:prstGeom prst="rect">
            <a:avLst/>
          </a:prstGeom>
          <a:solidFill>
            <a:srgbClr val="FFFFFF"/>
          </a:solidFill>
          <a:ln w="10160">
            <a:solidFill>
              <a:srgbClr val="DCE3EC"/>
            </a:solidFill>
            <a:prstDash val="solid"/>
          </a:ln>
        </p:spPr>
      </p:sp>
      <p:sp>
        <p:nvSpPr>
          <p:cNvPr id="14" name="Shape 12"/>
          <p:cNvSpPr/>
          <p:nvPr/>
        </p:nvSpPr>
        <p:spPr>
          <a:xfrm>
            <a:off x="594360" y="2395728"/>
            <a:ext cx="50292" cy="3639312"/>
          </a:xfrm>
          <a:prstGeom prst="rect">
            <a:avLst/>
          </a:prstGeom>
          <a:solidFill>
            <a:srgbClr val="2863EB"/>
          </a:solidFill>
          <a:ln w="12700">
            <a:solidFill>
              <a:srgbClr val="2863EB"/>
            </a:solidFill>
            <a:prstDash val="solid"/>
          </a:ln>
        </p:spPr>
      </p:sp>
      <p:sp>
        <p:nvSpPr>
          <p:cNvPr id="15" name="Text 13"/>
          <p:cNvSpPr/>
          <p:nvPr/>
        </p:nvSpPr>
        <p:spPr>
          <a:xfrm>
            <a:off x="877824" y="2642616"/>
            <a:ext cx="1828800" cy="237744"/>
          </a:xfrm>
          <a:prstGeom prst="rect">
            <a:avLst/>
          </a:prstGeom>
          <a:noFill/>
          <a:ln/>
        </p:spPr>
        <p:txBody>
          <a:bodyPr wrap="square" lIns="0" tIns="0" rIns="0" bIns="0" rtlCol="0" anchor="ctr">
            <a:normAutofit/>
          </a:bodyPr>
          <a:lstStyle/>
          <a:p>
            <a:pPr indent="0" marL="0">
              <a:buNone/>
            </a:pPr>
            <a:r>
              <a:rPr lang="en-US" sz="1160" b="1" spc="60" kern="0" dirty="0">
                <a:solidFill>
                  <a:srgbClr val="2863EB"/>
                </a:solidFill>
                <a:latin typeface="Inter" pitchFamily="34" charset="0"/>
                <a:ea typeface="Inter" pitchFamily="34" charset="-122"/>
                <a:cs typeface="Inter" pitchFamily="34" charset="-120"/>
              </a:rPr>
              <a:t>REQ-001</a:t>
            </a:r>
            <a:endParaRPr lang="en-US" sz="1160" dirty="0"/>
          </a:p>
        </p:txBody>
      </p:sp>
      <p:sp>
        <p:nvSpPr>
          <p:cNvPr id="16" name="Text 14"/>
          <p:cNvSpPr/>
          <p:nvPr/>
        </p:nvSpPr>
        <p:spPr>
          <a:xfrm>
            <a:off x="877824" y="3008376"/>
            <a:ext cx="6903720" cy="448056"/>
          </a:xfrm>
          <a:prstGeom prst="rect">
            <a:avLst/>
          </a:prstGeom>
          <a:noFill/>
          <a:ln/>
        </p:spPr>
        <p:txBody>
          <a:bodyPr wrap="square" lIns="0" tIns="0" rIns="0" bIns="0" rtlCol="0" anchor="ctr">
            <a:normAutofit/>
          </a:bodyPr>
          <a:lstStyle/>
          <a:p>
            <a:pPr indent="0" marL="0">
              <a:buNone/>
            </a:pPr>
            <a:r>
              <a:rPr lang="en-US" sz="2500" b="1" dirty="0">
                <a:solidFill>
                  <a:srgbClr val="131C29"/>
                </a:solidFill>
                <a:latin typeface="Inter" pitchFamily="34" charset="0"/>
                <a:ea typeface="Inter" pitchFamily="34" charset="-122"/>
                <a:cs typeface="Inter" pitchFamily="34" charset="-120"/>
              </a:rPr>
              <a:t>Comfort-control discoverability</a:t>
            </a:r>
            <a:endParaRPr lang="en-US" sz="2500" dirty="0"/>
          </a:p>
        </p:txBody>
      </p:sp>
      <p:sp>
        <p:nvSpPr>
          <p:cNvPr id="17" name="Text 15"/>
          <p:cNvSpPr/>
          <p:nvPr/>
        </p:nvSpPr>
        <p:spPr>
          <a:xfrm>
            <a:off x="877824" y="3621024"/>
            <a:ext cx="6766560" cy="612648"/>
          </a:xfrm>
          <a:prstGeom prst="rect">
            <a:avLst/>
          </a:prstGeom>
          <a:noFill/>
          <a:ln/>
        </p:spPr>
        <p:txBody>
          <a:bodyPr wrap="square" lIns="0" tIns="0" rIns="0" bIns="0" rtlCol="0" anchor="ctr">
            <a:normAutofit/>
          </a:bodyPr>
          <a:lstStyle/>
          <a:p>
            <a:pPr indent="0" marL="0">
              <a:buNone/>
            </a:pPr>
            <a:r>
              <a:rPr lang="en-US" sz="1730" dirty="0">
                <a:solidFill>
                  <a:srgbClr val="131C29"/>
                </a:solidFill>
                <a:latin typeface="Inter" pitchFamily="34" charset="0"/>
                <a:ea typeface="Inter" pitchFamily="34" charset="-122"/>
                <a:cs typeface="Inter" pitchFamily="34" charset="-120"/>
              </a:rPr>
              <a:t>Make frequent comfort controls easy to find and personalize</a:t>
            </a:r>
            <a:endParaRPr lang="en-US" sz="1730" dirty="0"/>
          </a:p>
          <a:p>
            <a:pPr indent="0" marL="0">
              <a:buNone/>
            </a:pPr>
            <a:r>
              <a:rPr lang="en-US" sz="1730" dirty="0">
                <a:solidFill>
                  <a:srgbClr val="131C29"/>
                </a:solidFill>
                <a:latin typeface="Inter" pitchFamily="34" charset="0"/>
                <a:ea typeface="Inter" pitchFamily="34" charset="-122"/>
                <a:cs typeface="Inter" pitchFamily="34" charset="-120"/>
              </a:rPr>
              <a:t>from the main interface.</a:t>
            </a:r>
            <a:endParaRPr lang="en-US" sz="1730" dirty="0"/>
          </a:p>
        </p:txBody>
      </p:sp>
      <p:sp>
        <p:nvSpPr>
          <p:cNvPr id="18" name="Shape 16"/>
          <p:cNvSpPr/>
          <p:nvPr/>
        </p:nvSpPr>
        <p:spPr>
          <a:xfrm>
            <a:off x="877824" y="4462272"/>
            <a:ext cx="6912864" cy="0"/>
          </a:xfrm>
          <a:prstGeom prst="line">
            <a:avLst/>
          </a:prstGeom>
          <a:noFill/>
          <a:ln w="12700">
            <a:solidFill>
              <a:srgbClr val="DCE3EC"/>
            </a:solidFill>
            <a:prstDash val="solid"/>
          </a:ln>
        </p:spPr>
      </p:sp>
      <p:sp>
        <p:nvSpPr>
          <p:cNvPr id="19" name="Text 17"/>
          <p:cNvSpPr/>
          <p:nvPr/>
        </p:nvSpPr>
        <p:spPr>
          <a:xfrm>
            <a:off x="886968" y="4645152"/>
            <a:ext cx="1563624" cy="228600"/>
          </a:xfrm>
          <a:prstGeom prst="rect">
            <a:avLst/>
          </a:prstGeom>
          <a:noFill/>
          <a:ln/>
        </p:spPr>
        <p:txBody>
          <a:bodyPr wrap="square" lIns="0" tIns="0" rIns="0" bIns="0" rtlCol="0" anchor="ctr">
            <a:normAutofit/>
          </a:bodyPr>
          <a:lstStyle/>
          <a:p>
            <a:pPr indent="0" marL="0">
              <a:buNone/>
            </a:pPr>
            <a:r>
              <a:rPr lang="en-US" sz="1140" b="1" dirty="0">
                <a:solidFill>
                  <a:srgbClr val="596779"/>
                </a:solidFill>
                <a:latin typeface="Inter" pitchFamily="34" charset="0"/>
                <a:ea typeface="Inter" pitchFamily="34" charset="-122"/>
                <a:cs typeface="Inter" pitchFamily="34" charset="-120"/>
              </a:rPr>
              <a:t>Evidence links</a:t>
            </a:r>
            <a:endParaRPr lang="en-US" sz="1140" dirty="0"/>
          </a:p>
        </p:txBody>
      </p:sp>
      <p:sp>
        <p:nvSpPr>
          <p:cNvPr id="20" name="Text 18"/>
          <p:cNvSpPr/>
          <p:nvPr/>
        </p:nvSpPr>
        <p:spPr>
          <a:xfrm>
            <a:off x="2551176" y="4590288"/>
            <a:ext cx="5102352" cy="338328"/>
          </a:xfrm>
          <a:prstGeom prst="rect">
            <a:avLst/>
          </a:prstGeom>
          <a:noFill/>
          <a:ln/>
        </p:spPr>
        <p:txBody>
          <a:bodyPr wrap="square" lIns="0" tIns="0" rIns="0" bIns="0" rtlCol="0" anchor="ctr">
            <a:normAutofit/>
          </a:bodyPr>
          <a:lstStyle/>
          <a:p>
            <a:pPr indent="0" marL="0">
              <a:buNone/>
            </a:pPr>
            <a:r>
              <a:rPr lang="en-US" sz="1310" dirty="0">
                <a:solidFill>
                  <a:srgbClr val="131C29"/>
                </a:solidFill>
                <a:latin typeface="Inter" pitchFamily="34" charset="0"/>
                <a:ea typeface="Inter" pitchFamily="34" charset="-122"/>
                <a:cs typeface="Inter" pitchFamily="34" charset="-120"/>
              </a:rPr>
              <a:t>Feedback + equipment + study context — all synthetic</a:t>
            </a:r>
            <a:endParaRPr lang="en-US" sz="1310" dirty="0"/>
          </a:p>
        </p:txBody>
      </p:sp>
      <p:sp>
        <p:nvSpPr>
          <p:cNvPr id="21" name="Text 19"/>
          <p:cNvSpPr/>
          <p:nvPr/>
        </p:nvSpPr>
        <p:spPr>
          <a:xfrm>
            <a:off x="886968" y="5074920"/>
            <a:ext cx="1563624" cy="228600"/>
          </a:xfrm>
          <a:prstGeom prst="rect">
            <a:avLst/>
          </a:prstGeom>
          <a:noFill/>
          <a:ln/>
        </p:spPr>
        <p:txBody>
          <a:bodyPr wrap="square" lIns="0" tIns="0" rIns="0" bIns="0" rtlCol="0" anchor="ctr">
            <a:normAutofit/>
          </a:bodyPr>
          <a:lstStyle/>
          <a:p>
            <a:pPr indent="0" marL="0">
              <a:buNone/>
            </a:pPr>
            <a:r>
              <a:rPr lang="en-US" sz="1140" b="1" dirty="0">
                <a:solidFill>
                  <a:srgbClr val="596779"/>
                </a:solidFill>
                <a:latin typeface="Inter" pitchFamily="34" charset="0"/>
                <a:ea typeface="Inter" pitchFamily="34" charset="-122"/>
                <a:cs typeface="Inter" pitchFamily="34" charset="-120"/>
              </a:rPr>
              <a:t>Assumption</a:t>
            </a:r>
            <a:endParaRPr lang="en-US" sz="1140" dirty="0"/>
          </a:p>
        </p:txBody>
      </p:sp>
      <p:sp>
        <p:nvSpPr>
          <p:cNvPr id="22" name="Text 20"/>
          <p:cNvSpPr/>
          <p:nvPr/>
        </p:nvSpPr>
        <p:spPr>
          <a:xfrm>
            <a:off x="2551176" y="5020056"/>
            <a:ext cx="5102352" cy="338328"/>
          </a:xfrm>
          <a:prstGeom prst="rect">
            <a:avLst/>
          </a:prstGeom>
          <a:noFill/>
          <a:ln/>
        </p:spPr>
        <p:txBody>
          <a:bodyPr wrap="square" lIns="0" tIns="0" rIns="0" bIns="0" rtlCol="0" anchor="ctr">
            <a:normAutofit/>
          </a:bodyPr>
          <a:lstStyle/>
          <a:p>
            <a:pPr indent="0" marL="0">
              <a:buNone/>
            </a:pPr>
            <a:r>
              <a:rPr lang="en-US" sz="1310" dirty="0">
                <a:solidFill>
                  <a:srgbClr val="131C29"/>
                </a:solidFill>
                <a:latin typeface="Inter" pitchFamily="34" charset="0"/>
                <a:ea typeface="Inter" pitchFamily="34" charset="-122"/>
                <a:cs typeface="Inter" pitchFamily="34" charset="-120"/>
              </a:rPr>
              <a:t>Discoverability remains important for the target users.</a:t>
            </a:r>
            <a:endParaRPr lang="en-US" sz="1310" dirty="0"/>
          </a:p>
        </p:txBody>
      </p:sp>
      <p:sp>
        <p:nvSpPr>
          <p:cNvPr id="23" name="Text 21"/>
          <p:cNvSpPr/>
          <p:nvPr/>
        </p:nvSpPr>
        <p:spPr>
          <a:xfrm>
            <a:off x="886968" y="5504688"/>
            <a:ext cx="1563624" cy="228600"/>
          </a:xfrm>
          <a:prstGeom prst="rect">
            <a:avLst/>
          </a:prstGeom>
          <a:noFill/>
          <a:ln/>
        </p:spPr>
        <p:txBody>
          <a:bodyPr wrap="square" lIns="0" tIns="0" rIns="0" bIns="0" rtlCol="0" anchor="ctr">
            <a:normAutofit/>
          </a:bodyPr>
          <a:lstStyle/>
          <a:p>
            <a:pPr indent="0" marL="0">
              <a:buNone/>
            </a:pPr>
            <a:r>
              <a:rPr lang="en-US" sz="1140" b="1" dirty="0">
                <a:solidFill>
                  <a:srgbClr val="596779"/>
                </a:solidFill>
                <a:latin typeface="Inter" pitchFamily="34" charset="0"/>
                <a:ea typeface="Inter" pitchFamily="34" charset="-122"/>
                <a:cs typeface="Inter" pitchFamily="34" charset="-120"/>
              </a:rPr>
              <a:t>Validation</a:t>
            </a:r>
            <a:endParaRPr lang="en-US" sz="1140" dirty="0"/>
          </a:p>
        </p:txBody>
      </p:sp>
      <p:sp>
        <p:nvSpPr>
          <p:cNvPr id="24" name="Text 22"/>
          <p:cNvSpPr/>
          <p:nvPr/>
        </p:nvSpPr>
        <p:spPr>
          <a:xfrm>
            <a:off x="2551176" y="5458968"/>
            <a:ext cx="5102352" cy="338328"/>
          </a:xfrm>
          <a:prstGeom prst="rect">
            <a:avLst/>
          </a:prstGeom>
          <a:noFill/>
          <a:ln/>
        </p:spPr>
        <p:txBody>
          <a:bodyPr wrap="square" lIns="0" tIns="0" rIns="0" bIns="0" rtlCol="0" anchor="ctr">
            <a:normAutofit/>
          </a:bodyPr>
          <a:lstStyle/>
          <a:p>
            <a:pPr indent="0" marL="0">
              <a:buNone/>
            </a:pPr>
            <a:r>
              <a:rPr lang="en-US" sz="1310" dirty="0">
                <a:solidFill>
                  <a:srgbClr val="131C29"/>
                </a:solidFill>
                <a:latin typeface="Inter" pitchFamily="34" charset="0"/>
                <a:ea typeface="Inter" pitchFamily="34" charset="-122"/>
                <a:cs typeface="Inter" pitchFamily="34" charset="-120"/>
              </a:rPr>
              <a:t>Usability study; no validated task-time target yet.</a:t>
            </a:r>
            <a:endParaRPr lang="en-US" sz="1310" dirty="0"/>
          </a:p>
        </p:txBody>
      </p:sp>
      <p:sp>
        <p:nvSpPr>
          <p:cNvPr id="25" name="Text 23"/>
          <p:cNvSpPr/>
          <p:nvPr/>
        </p:nvSpPr>
        <p:spPr>
          <a:xfrm>
            <a:off x="8494776" y="2660904"/>
            <a:ext cx="2752344" cy="237744"/>
          </a:xfrm>
          <a:prstGeom prst="rect">
            <a:avLst/>
          </a:prstGeom>
          <a:noFill/>
          <a:ln/>
        </p:spPr>
        <p:txBody>
          <a:bodyPr wrap="square" lIns="0" tIns="0" rIns="0" bIns="0" rtlCol="0" anchor="ctr">
            <a:normAutofit/>
          </a:bodyPr>
          <a:lstStyle/>
          <a:p>
            <a:pPr indent="0" marL="0">
              <a:buNone/>
            </a:pPr>
            <a:r>
              <a:rPr lang="en-US" sz="1050" b="1" spc="50" kern="0" dirty="0">
                <a:solidFill>
                  <a:srgbClr val="2863EB"/>
                </a:solidFill>
                <a:latin typeface="Inter" pitchFamily="34" charset="0"/>
                <a:ea typeface="Inter" pitchFamily="34" charset="-122"/>
                <a:cs typeface="Inter" pitchFamily="34" charset="-120"/>
              </a:rPr>
              <a:t>PRIORITY CORRECTION</a:t>
            </a:r>
            <a:endParaRPr lang="en-US" sz="1050" dirty="0"/>
          </a:p>
        </p:txBody>
      </p:sp>
      <p:sp>
        <p:nvSpPr>
          <p:cNvPr id="26" name="Text 24"/>
          <p:cNvSpPr/>
          <p:nvPr/>
        </p:nvSpPr>
        <p:spPr>
          <a:xfrm>
            <a:off x="8494776" y="3127248"/>
            <a:ext cx="932688" cy="658368"/>
          </a:xfrm>
          <a:prstGeom prst="rect">
            <a:avLst/>
          </a:prstGeom>
          <a:noFill/>
          <a:ln/>
        </p:spPr>
        <p:txBody>
          <a:bodyPr wrap="square" lIns="0" tIns="0" rIns="0" bIns="0" rtlCol="0" anchor="ctr">
            <a:normAutofit/>
          </a:bodyPr>
          <a:lstStyle/>
          <a:p>
            <a:pPr indent="0" marL="0">
              <a:buNone/>
            </a:pPr>
            <a:r>
              <a:rPr lang="en-US" sz="3900" b="1" dirty="0">
                <a:solidFill>
                  <a:srgbClr val="93A2B8"/>
                </a:solidFill>
                <a:latin typeface="Inter" pitchFamily="34" charset="0"/>
                <a:ea typeface="Inter" pitchFamily="34" charset="-122"/>
                <a:cs typeface="Inter" pitchFamily="34" charset="-120"/>
              </a:rPr>
              <a:t>75</a:t>
            </a:r>
            <a:endParaRPr lang="en-US" sz="3900" dirty="0"/>
          </a:p>
        </p:txBody>
      </p:sp>
      <p:sp>
        <p:nvSpPr>
          <p:cNvPr id="27" name="Shape 25"/>
          <p:cNvSpPr/>
          <p:nvPr/>
        </p:nvSpPr>
        <p:spPr>
          <a:xfrm>
            <a:off x="9528048" y="3456432"/>
            <a:ext cx="539496" cy="0"/>
          </a:xfrm>
          <a:prstGeom prst="line">
            <a:avLst/>
          </a:prstGeom>
          <a:noFill/>
          <a:ln w="22860">
            <a:solidFill>
              <a:srgbClr val="2863EB"/>
            </a:solidFill>
            <a:prstDash val="solid"/>
            <a:tailEnd type="triangle"/>
          </a:ln>
        </p:spPr>
      </p:sp>
      <p:sp>
        <p:nvSpPr>
          <p:cNvPr id="28" name="Text 26"/>
          <p:cNvSpPr/>
          <p:nvPr/>
        </p:nvSpPr>
        <p:spPr>
          <a:xfrm>
            <a:off x="10259568" y="3127248"/>
            <a:ext cx="1188720" cy="658368"/>
          </a:xfrm>
          <a:prstGeom prst="rect">
            <a:avLst/>
          </a:prstGeom>
          <a:noFill/>
          <a:ln/>
        </p:spPr>
        <p:txBody>
          <a:bodyPr wrap="square" lIns="0" tIns="0" rIns="0" bIns="0" rtlCol="0" anchor="ctr">
            <a:normAutofit/>
          </a:bodyPr>
          <a:lstStyle/>
          <a:p>
            <a:pPr indent="0" marL="0">
              <a:buNone/>
            </a:pPr>
            <a:r>
              <a:rPr lang="en-US" sz="3900" b="1" dirty="0">
                <a:solidFill>
                  <a:srgbClr val="2863EB"/>
                </a:solidFill>
                <a:latin typeface="Inter" pitchFamily="34" charset="0"/>
                <a:ea typeface="Inter" pitchFamily="34" charset="-122"/>
                <a:cs typeface="Inter" pitchFamily="34" charset="-120"/>
              </a:rPr>
              <a:t>67</a:t>
            </a:r>
            <a:endParaRPr lang="en-US" sz="3900" dirty="0"/>
          </a:p>
        </p:txBody>
      </p:sp>
      <p:sp>
        <p:nvSpPr>
          <p:cNvPr id="29" name="Text 27"/>
          <p:cNvSpPr/>
          <p:nvPr/>
        </p:nvSpPr>
        <p:spPr>
          <a:xfrm>
            <a:off x="8503920" y="4123944"/>
            <a:ext cx="2825496" cy="676656"/>
          </a:xfrm>
          <a:prstGeom prst="rect">
            <a:avLst/>
          </a:prstGeom>
          <a:noFill/>
          <a:ln/>
        </p:spPr>
        <p:txBody>
          <a:bodyPr wrap="square" lIns="0" tIns="0" rIns="0" bIns="0" rtlCol="0" anchor="ctr">
            <a:normAutofit/>
          </a:bodyPr>
          <a:lstStyle/>
          <a:p>
            <a:pPr indent="0" marL="0">
              <a:buNone/>
            </a:pPr>
            <a:r>
              <a:rPr lang="en-US" sz="1460" dirty="0">
                <a:solidFill>
                  <a:srgbClr val="596779"/>
                </a:solidFill>
                <a:latin typeface="Inter" pitchFamily="34" charset="0"/>
                <a:ea typeface="Inter" pitchFamily="34" charset="-122"/>
                <a:cs typeface="Inter" pitchFamily="34" charset="-120"/>
              </a:rPr>
              <a:t>Gap rating: 4 → 2</a:t>
            </a:r>
            <a:endParaRPr lang="en-US" sz="1460" dirty="0"/>
          </a:p>
          <a:p>
            <a:pPr indent="0" marL="0">
              <a:buNone/>
            </a:pPr>
            <a:r>
              <a:rPr lang="en-US" sz="1460" dirty="0">
                <a:solidFill>
                  <a:srgbClr val="596779"/>
                </a:solidFill>
                <a:latin typeface="Inter" pitchFamily="34" charset="0"/>
                <a:ea typeface="Inter" pitchFamily="34" charset="-122"/>
                <a:cs typeface="Inter" pitchFamily="34" charset="-120"/>
              </a:rPr>
              <a:t>Missing feature → usability need</a:t>
            </a:r>
            <a:endParaRPr lang="en-US" sz="1460" dirty="0"/>
          </a:p>
        </p:txBody>
      </p:sp>
      <p:sp>
        <p:nvSpPr>
          <p:cNvPr id="30" name="Shape 28"/>
          <p:cNvSpPr/>
          <p:nvPr/>
        </p:nvSpPr>
        <p:spPr>
          <a:xfrm>
            <a:off x="8503920" y="5129784"/>
            <a:ext cx="2779776" cy="283464"/>
          </a:xfrm>
          <a:prstGeom prst="roundRect">
            <a:avLst>
              <a:gd name="adj" fmla="val 38710"/>
            </a:avLst>
          </a:prstGeom>
          <a:solidFill>
            <a:srgbClr val="FFFFFF"/>
          </a:solidFill>
          <a:ln w="12700">
            <a:solidFill>
              <a:srgbClr val="FFFFFF"/>
            </a:solidFill>
            <a:prstDash val="solid"/>
          </a:ln>
        </p:spPr>
      </p:sp>
      <p:sp>
        <p:nvSpPr>
          <p:cNvPr id="31" name="Text 29"/>
          <p:cNvSpPr/>
          <p:nvPr/>
        </p:nvSpPr>
        <p:spPr>
          <a:xfrm>
            <a:off x="8595360" y="5138928"/>
            <a:ext cx="2596896" cy="265176"/>
          </a:xfrm>
          <a:prstGeom prst="rect">
            <a:avLst/>
          </a:prstGeom>
          <a:noFill/>
          <a:ln/>
        </p:spPr>
        <p:txBody>
          <a:bodyPr wrap="square" lIns="0" tIns="0" rIns="0" bIns="0" rtlCol="0" anchor="ctr">
            <a:normAutofit/>
          </a:bodyPr>
          <a:lstStyle/>
          <a:p>
            <a:pPr algn="ctr" indent="0" marL="0">
              <a:buNone/>
            </a:pPr>
            <a:r>
              <a:rPr lang="en-US" sz="1000" b="1" dirty="0">
                <a:solidFill>
                  <a:srgbClr val="596779"/>
                </a:solidFill>
                <a:latin typeface="Inter" pitchFamily="34" charset="0"/>
                <a:ea typeface="Inter" pitchFamily="34" charset="-122"/>
                <a:cs typeface="Inter" pitchFamily="34" charset="-120"/>
              </a:rPr>
              <a:t>Evidence: E0 / unsupported</a:t>
            </a:r>
            <a:endParaRPr lang="en-US" sz="1000" dirty="0"/>
          </a:p>
        </p:txBody>
      </p:sp>
      <p:sp>
        <p:nvSpPr>
          <p:cNvPr id="32" name="Shape 30"/>
          <p:cNvSpPr/>
          <p:nvPr/>
        </p:nvSpPr>
        <p:spPr>
          <a:xfrm>
            <a:off x="8503920" y="5596128"/>
            <a:ext cx="2779776" cy="283464"/>
          </a:xfrm>
          <a:prstGeom prst="roundRect">
            <a:avLst>
              <a:gd name="adj" fmla="val 38710"/>
            </a:avLst>
          </a:prstGeom>
          <a:solidFill>
            <a:srgbClr val="EAF0FE"/>
          </a:solidFill>
          <a:ln w="12700">
            <a:solidFill>
              <a:srgbClr val="EAF0FE"/>
            </a:solidFill>
            <a:prstDash val="solid"/>
          </a:ln>
        </p:spPr>
      </p:sp>
      <p:sp>
        <p:nvSpPr>
          <p:cNvPr id="33" name="Text 31"/>
          <p:cNvSpPr/>
          <p:nvPr/>
        </p:nvSpPr>
        <p:spPr>
          <a:xfrm>
            <a:off x="8595360" y="5605272"/>
            <a:ext cx="2596896" cy="265176"/>
          </a:xfrm>
          <a:prstGeom prst="rect">
            <a:avLst/>
          </a:prstGeom>
          <a:noFill/>
          <a:ln/>
        </p:spPr>
        <p:txBody>
          <a:bodyPr wrap="square" lIns="0" tIns="0" rIns="0" bIns="0" rtlCol="0" anchor="ctr">
            <a:normAutofit/>
          </a:bodyPr>
          <a:lstStyle/>
          <a:p>
            <a:pPr algn="ctr" indent="0" marL="0">
              <a:buNone/>
            </a:pPr>
            <a:r>
              <a:rPr lang="en-US" sz="1040" b="1" dirty="0">
                <a:solidFill>
                  <a:srgbClr val="2863EB"/>
                </a:solidFill>
                <a:latin typeface="Inter" pitchFamily="34" charset="0"/>
                <a:ea typeface="Inter" pitchFamily="34" charset="-122"/>
                <a:cs typeface="Inter" pitchFamily="34" charset="-120"/>
              </a:rPr>
              <a:t>Status: Proposed</a:t>
            </a:r>
            <a:endParaRPr lang="en-US" sz="10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HUMAN REVIEW AND AUDIT</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The AI proposes. The PM decides.</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Approval applies to an exact version—not every future edit of a requirement.</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10 / 14</a:t>
            </a:r>
            <a:endParaRPr lang="en-US" sz="890" dirty="0"/>
          </a:p>
        </p:txBody>
      </p:sp>
      <p:sp>
        <p:nvSpPr>
          <p:cNvPr id="12" name="Shape 10"/>
          <p:cNvSpPr/>
          <p:nvPr/>
        </p:nvSpPr>
        <p:spPr>
          <a:xfrm>
            <a:off x="1225296" y="2980944"/>
            <a:ext cx="8513064" cy="0"/>
          </a:xfrm>
          <a:prstGeom prst="line">
            <a:avLst/>
          </a:prstGeom>
          <a:noFill/>
          <a:ln w="25400">
            <a:solidFill>
              <a:srgbClr val="DCE3EC"/>
            </a:solidFill>
            <a:prstDash val="solid"/>
          </a:ln>
        </p:spPr>
      </p:sp>
      <p:sp>
        <p:nvSpPr>
          <p:cNvPr id="13" name="Shape 11"/>
          <p:cNvSpPr/>
          <p:nvPr/>
        </p:nvSpPr>
        <p:spPr>
          <a:xfrm>
            <a:off x="822960" y="2578608"/>
            <a:ext cx="804672" cy="804672"/>
          </a:xfrm>
          <a:prstGeom prst="ellipse">
            <a:avLst/>
          </a:prstGeom>
          <a:solidFill>
            <a:srgbClr val="FFFFFF"/>
          </a:solidFill>
          <a:ln w="19050">
            <a:solidFill>
              <a:srgbClr val="2863EB"/>
            </a:solidFill>
            <a:prstDash val="solid"/>
          </a:ln>
        </p:spPr>
      </p:sp>
      <p:sp>
        <p:nvSpPr>
          <p:cNvPr id="14" name="Text 12"/>
          <p:cNvSpPr/>
          <p:nvPr/>
        </p:nvSpPr>
        <p:spPr>
          <a:xfrm>
            <a:off x="822960" y="2834640"/>
            <a:ext cx="804672" cy="274320"/>
          </a:xfrm>
          <a:prstGeom prst="rect">
            <a:avLst/>
          </a:prstGeom>
          <a:noFill/>
          <a:ln/>
        </p:spPr>
        <p:txBody>
          <a:bodyPr wrap="square" lIns="0" tIns="0" rIns="0" bIns="0" rtlCol="0" anchor="ctr">
            <a:normAutofit/>
          </a:bodyPr>
          <a:lstStyle/>
          <a:p>
            <a:pPr algn="ctr" indent="0" marL="0">
              <a:buNone/>
            </a:pPr>
            <a:r>
              <a:rPr lang="en-US" sz="1900" b="1" dirty="0">
                <a:solidFill>
                  <a:srgbClr val="2863EB"/>
                </a:solidFill>
                <a:latin typeface="Inter" pitchFamily="34" charset="0"/>
                <a:ea typeface="Inter" pitchFamily="34" charset="-122"/>
                <a:cs typeface="Inter" pitchFamily="34" charset="-120"/>
              </a:rPr>
              <a:t>01</a:t>
            </a:r>
            <a:endParaRPr lang="en-US" sz="1900" dirty="0"/>
          </a:p>
        </p:txBody>
      </p:sp>
      <p:sp>
        <p:nvSpPr>
          <p:cNvPr id="15" name="Text 13"/>
          <p:cNvSpPr/>
          <p:nvPr/>
        </p:nvSpPr>
        <p:spPr>
          <a:xfrm>
            <a:off x="694944" y="3657600"/>
            <a:ext cx="2642616" cy="329184"/>
          </a:xfrm>
          <a:prstGeom prst="rect">
            <a:avLst/>
          </a:prstGeom>
          <a:noFill/>
          <a:ln/>
        </p:spPr>
        <p:txBody>
          <a:bodyPr wrap="square" lIns="0" tIns="0" rIns="0" bIns="0" rtlCol="0" anchor="ctr">
            <a:normAutofit/>
          </a:bodyPr>
          <a:lstStyle/>
          <a:p>
            <a:pPr indent="0" marL="0">
              <a:buNone/>
            </a:pPr>
            <a:r>
              <a:rPr lang="en-US" sz="1900" b="1" dirty="0">
                <a:solidFill>
                  <a:srgbClr val="131C29"/>
                </a:solidFill>
                <a:latin typeface="Inter" pitchFamily="34" charset="0"/>
                <a:ea typeface="Inter" pitchFamily="34" charset="-122"/>
                <a:cs typeface="Inter" pitchFamily="34" charset="-120"/>
              </a:rPr>
              <a:t>Proposal v1</a:t>
            </a:r>
            <a:endParaRPr lang="en-US" sz="1900" dirty="0"/>
          </a:p>
        </p:txBody>
      </p:sp>
      <p:sp>
        <p:nvSpPr>
          <p:cNvPr id="16" name="Text 14"/>
          <p:cNvSpPr/>
          <p:nvPr/>
        </p:nvSpPr>
        <p:spPr>
          <a:xfrm>
            <a:off x="694944" y="4197096"/>
            <a:ext cx="2578608" cy="530352"/>
          </a:xfrm>
          <a:prstGeom prst="rect">
            <a:avLst/>
          </a:prstGeom>
          <a:noFill/>
          <a:ln/>
        </p:spPr>
        <p:txBody>
          <a:bodyPr wrap="square" lIns="0" tIns="0" rIns="0" bIns="0" rtlCol="0" anchor="ctr">
            <a:normAutofit/>
          </a:bodyPr>
          <a:lstStyle/>
          <a:p>
            <a:pPr indent="0" marL="0">
              <a:buNone/>
            </a:pPr>
            <a:r>
              <a:rPr lang="en-US" sz="1370" dirty="0">
                <a:solidFill>
                  <a:srgbClr val="596779"/>
                </a:solidFill>
                <a:latin typeface="Inter" pitchFamily="34" charset="0"/>
                <a:ea typeface="Inter" pitchFamily="34" charset="-122"/>
                <a:cs typeface="Inter" pitchFamily="34" charset="-120"/>
              </a:rPr>
              <a:t>Evidence + rationale</a:t>
            </a:r>
            <a:endParaRPr lang="en-US" sz="1370" dirty="0"/>
          </a:p>
        </p:txBody>
      </p:sp>
      <p:sp>
        <p:nvSpPr>
          <p:cNvPr id="17" name="Shape 15"/>
          <p:cNvSpPr/>
          <p:nvPr/>
        </p:nvSpPr>
        <p:spPr>
          <a:xfrm>
            <a:off x="3657600" y="2578608"/>
            <a:ext cx="804672" cy="804672"/>
          </a:xfrm>
          <a:prstGeom prst="ellipse">
            <a:avLst/>
          </a:prstGeom>
          <a:solidFill>
            <a:srgbClr val="FFFFFF"/>
          </a:solidFill>
          <a:ln w="19050">
            <a:solidFill>
              <a:srgbClr val="2863EB"/>
            </a:solidFill>
            <a:prstDash val="solid"/>
          </a:ln>
        </p:spPr>
      </p:sp>
      <p:sp>
        <p:nvSpPr>
          <p:cNvPr id="18" name="Text 16"/>
          <p:cNvSpPr/>
          <p:nvPr/>
        </p:nvSpPr>
        <p:spPr>
          <a:xfrm>
            <a:off x="3657600" y="2834640"/>
            <a:ext cx="804672" cy="274320"/>
          </a:xfrm>
          <a:prstGeom prst="rect">
            <a:avLst/>
          </a:prstGeom>
          <a:noFill/>
          <a:ln/>
        </p:spPr>
        <p:txBody>
          <a:bodyPr wrap="square" lIns="0" tIns="0" rIns="0" bIns="0" rtlCol="0" anchor="ctr">
            <a:normAutofit/>
          </a:bodyPr>
          <a:lstStyle/>
          <a:p>
            <a:pPr algn="ctr" indent="0" marL="0">
              <a:buNone/>
            </a:pPr>
            <a:r>
              <a:rPr lang="en-US" sz="1900" b="1" dirty="0">
                <a:solidFill>
                  <a:srgbClr val="2863EB"/>
                </a:solidFill>
                <a:latin typeface="Inter" pitchFamily="34" charset="0"/>
                <a:ea typeface="Inter" pitchFamily="34" charset="-122"/>
                <a:cs typeface="Inter" pitchFamily="34" charset="-120"/>
              </a:rPr>
              <a:t>02</a:t>
            </a:r>
            <a:endParaRPr lang="en-US" sz="1900" dirty="0"/>
          </a:p>
        </p:txBody>
      </p:sp>
      <p:sp>
        <p:nvSpPr>
          <p:cNvPr id="19" name="Text 17"/>
          <p:cNvSpPr/>
          <p:nvPr/>
        </p:nvSpPr>
        <p:spPr>
          <a:xfrm>
            <a:off x="3529584" y="3657600"/>
            <a:ext cx="2642616" cy="329184"/>
          </a:xfrm>
          <a:prstGeom prst="rect">
            <a:avLst/>
          </a:prstGeom>
          <a:noFill/>
          <a:ln/>
        </p:spPr>
        <p:txBody>
          <a:bodyPr wrap="square" lIns="0" tIns="0" rIns="0" bIns="0" rtlCol="0" anchor="ctr">
            <a:normAutofit/>
          </a:bodyPr>
          <a:lstStyle/>
          <a:p>
            <a:pPr indent="0" marL="0">
              <a:buNone/>
            </a:pPr>
            <a:r>
              <a:rPr lang="en-US" sz="1900" b="1" dirty="0">
                <a:solidFill>
                  <a:srgbClr val="131C29"/>
                </a:solidFill>
                <a:latin typeface="Inter" pitchFamily="34" charset="0"/>
                <a:ea typeface="Inter" pitchFamily="34" charset="-122"/>
                <a:cs typeface="Inter" pitchFamily="34" charset="-120"/>
              </a:rPr>
              <a:t>PM challenge</a:t>
            </a:r>
            <a:endParaRPr lang="en-US" sz="1900" dirty="0"/>
          </a:p>
        </p:txBody>
      </p:sp>
      <p:sp>
        <p:nvSpPr>
          <p:cNvPr id="20" name="Text 18"/>
          <p:cNvSpPr/>
          <p:nvPr/>
        </p:nvSpPr>
        <p:spPr>
          <a:xfrm>
            <a:off x="3529584" y="4197096"/>
            <a:ext cx="2578608" cy="530352"/>
          </a:xfrm>
          <a:prstGeom prst="rect">
            <a:avLst/>
          </a:prstGeom>
          <a:noFill/>
          <a:ln/>
        </p:spPr>
        <p:txBody>
          <a:bodyPr wrap="square" lIns="0" tIns="0" rIns="0" bIns="0" rtlCol="0" anchor="ctr">
            <a:normAutofit/>
          </a:bodyPr>
          <a:lstStyle/>
          <a:p>
            <a:pPr indent="0" marL="0">
              <a:buNone/>
            </a:pPr>
            <a:r>
              <a:rPr lang="en-US" sz="1370" dirty="0">
                <a:solidFill>
                  <a:srgbClr val="596779"/>
                </a:solidFill>
                <a:latin typeface="Inter" pitchFamily="34" charset="0"/>
                <a:ea typeface="Inter" pitchFamily="34" charset="-122"/>
                <a:cs typeface="Inter" pitchFamily="34" charset="-120"/>
              </a:rPr>
              <a:t>Inspect, question or edit</a:t>
            </a:r>
            <a:endParaRPr lang="en-US" sz="1370" dirty="0"/>
          </a:p>
        </p:txBody>
      </p:sp>
      <p:sp>
        <p:nvSpPr>
          <p:cNvPr id="21" name="Shape 19"/>
          <p:cNvSpPr/>
          <p:nvPr/>
        </p:nvSpPr>
        <p:spPr>
          <a:xfrm>
            <a:off x="6501384" y="2578608"/>
            <a:ext cx="804672" cy="804672"/>
          </a:xfrm>
          <a:prstGeom prst="ellipse">
            <a:avLst/>
          </a:prstGeom>
          <a:solidFill>
            <a:srgbClr val="FFFFFF"/>
          </a:solidFill>
          <a:ln w="19050">
            <a:solidFill>
              <a:srgbClr val="2863EB"/>
            </a:solidFill>
            <a:prstDash val="solid"/>
          </a:ln>
        </p:spPr>
      </p:sp>
      <p:sp>
        <p:nvSpPr>
          <p:cNvPr id="22" name="Text 20"/>
          <p:cNvSpPr/>
          <p:nvPr/>
        </p:nvSpPr>
        <p:spPr>
          <a:xfrm>
            <a:off x="6501384" y="2834640"/>
            <a:ext cx="804672" cy="274320"/>
          </a:xfrm>
          <a:prstGeom prst="rect">
            <a:avLst/>
          </a:prstGeom>
          <a:noFill/>
          <a:ln/>
        </p:spPr>
        <p:txBody>
          <a:bodyPr wrap="square" lIns="0" tIns="0" rIns="0" bIns="0" rtlCol="0" anchor="ctr">
            <a:normAutofit/>
          </a:bodyPr>
          <a:lstStyle/>
          <a:p>
            <a:pPr algn="ctr" indent="0" marL="0">
              <a:buNone/>
            </a:pPr>
            <a:r>
              <a:rPr lang="en-US" sz="1900" b="1" dirty="0">
                <a:solidFill>
                  <a:srgbClr val="2863EB"/>
                </a:solidFill>
                <a:latin typeface="Inter" pitchFamily="34" charset="0"/>
                <a:ea typeface="Inter" pitchFamily="34" charset="-122"/>
                <a:cs typeface="Inter" pitchFamily="34" charset="-120"/>
              </a:rPr>
              <a:t>03</a:t>
            </a:r>
            <a:endParaRPr lang="en-US" sz="1900" dirty="0"/>
          </a:p>
        </p:txBody>
      </p:sp>
      <p:sp>
        <p:nvSpPr>
          <p:cNvPr id="23" name="Text 21"/>
          <p:cNvSpPr/>
          <p:nvPr/>
        </p:nvSpPr>
        <p:spPr>
          <a:xfrm>
            <a:off x="6373368" y="3657600"/>
            <a:ext cx="2642616" cy="329184"/>
          </a:xfrm>
          <a:prstGeom prst="rect">
            <a:avLst/>
          </a:prstGeom>
          <a:noFill/>
          <a:ln/>
        </p:spPr>
        <p:txBody>
          <a:bodyPr wrap="square" lIns="0" tIns="0" rIns="0" bIns="0" rtlCol="0" anchor="ctr">
            <a:normAutofit/>
          </a:bodyPr>
          <a:lstStyle/>
          <a:p>
            <a:pPr indent="0" marL="0">
              <a:buNone/>
            </a:pPr>
            <a:r>
              <a:rPr lang="en-US" sz="1900" b="1" dirty="0">
                <a:solidFill>
                  <a:srgbClr val="131C29"/>
                </a:solidFill>
                <a:latin typeface="Inter" pitchFamily="34" charset="0"/>
                <a:ea typeface="Inter" pitchFamily="34" charset="-122"/>
                <a:cs typeface="Inter" pitchFamily="34" charset="-120"/>
              </a:rPr>
              <a:t>Proposal v2</a:t>
            </a:r>
            <a:endParaRPr lang="en-US" sz="1900" dirty="0"/>
          </a:p>
        </p:txBody>
      </p:sp>
      <p:sp>
        <p:nvSpPr>
          <p:cNvPr id="24" name="Text 22"/>
          <p:cNvSpPr/>
          <p:nvPr/>
        </p:nvSpPr>
        <p:spPr>
          <a:xfrm>
            <a:off x="6373368" y="4197096"/>
            <a:ext cx="2578608" cy="530352"/>
          </a:xfrm>
          <a:prstGeom prst="rect">
            <a:avLst/>
          </a:prstGeom>
          <a:noFill/>
          <a:ln/>
        </p:spPr>
        <p:txBody>
          <a:bodyPr wrap="square" lIns="0" tIns="0" rIns="0" bIns="0" rtlCol="0" anchor="ctr">
            <a:normAutofit/>
          </a:bodyPr>
          <a:lstStyle/>
          <a:p>
            <a:pPr indent="0" marL="0">
              <a:buNone/>
            </a:pPr>
            <a:r>
              <a:rPr lang="en-US" sz="1370" dirty="0">
                <a:solidFill>
                  <a:srgbClr val="596779"/>
                </a:solidFill>
                <a:latin typeface="Inter" pitchFamily="34" charset="0"/>
                <a:ea typeface="Inter" pitchFamily="34" charset="-122"/>
                <a:cs typeface="Inter" pitchFamily="34" charset="-120"/>
              </a:rPr>
              <a:t>Revised scope + score</a:t>
            </a:r>
            <a:endParaRPr lang="en-US" sz="1370" dirty="0"/>
          </a:p>
        </p:txBody>
      </p:sp>
      <p:sp>
        <p:nvSpPr>
          <p:cNvPr id="25" name="Shape 23"/>
          <p:cNvSpPr/>
          <p:nvPr/>
        </p:nvSpPr>
        <p:spPr>
          <a:xfrm>
            <a:off x="9336024" y="2578608"/>
            <a:ext cx="804672" cy="804672"/>
          </a:xfrm>
          <a:prstGeom prst="ellipse">
            <a:avLst/>
          </a:prstGeom>
          <a:solidFill>
            <a:srgbClr val="131C29"/>
          </a:solidFill>
          <a:ln w="19050">
            <a:solidFill>
              <a:srgbClr val="131C29"/>
            </a:solidFill>
            <a:prstDash val="solid"/>
          </a:ln>
        </p:spPr>
      </p:sp>
      <p:sp>
        <p:nvSpPr>
          <p:cNvPr id="26" name="Text 24"/>
          <p:cNvSpPr/>
          <p:nvPr/>
        </p:nvSpPr>
        <p:spPr>
          <a:xfrm>
            <a:off x="9336024" y="2834640"/>
            <a:ext cx="804672" cy="274320"/>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Inter" pitchFamily="34" charset="0"/>
                <a:ea typeface="Inter" pitchFamily="34" charset="-122"/>
                <a:cs typeface="Inter" pitchFamily="34" charset="-120"/>
              </a:rPr>
              <a:t>04</a:t>
            </a:r>
            <a:endParaRPr lang="en-US" sz="1900" dirty="0"/>
          </a:p>
        </p:txBody>
      </p:sp>
      <p:sp>
        <p:nvSpPr>
          <p:cNvPr id="27" name="Text 25"/>
          <p:cNvSpPr/>
          <p:nvPr/>
        </p:nvSpPr>
        <p:spPr>
          <a:xfrm>
            <a:off x="9208008" y="3657600"/>
            <a:ext cx="2642616" cy="329184"/>
          </a:xfrm>
          <a:prstGeom prst="rect">
            <a:avLst/>
          </a:prstGeom>
          <a:noFill/>
          <a:ln/>
        </p:spPr>
        <p:txBody>
          <a:bodyPr wrap="square" lIns="0" tIns="0" rIns="0" bIns="0" rtlCol="0" anchor="ctr">
            <a:normAutofit/>
          </a:bodyPr>
          <a:lstStyle/>
          <a:p>
            <a:pPr indent="0" marL="0">
              <a:buNone/>
            </a:pPr>
            <a:r>
              <a:rPr lang="en-US" sz="1900" b="1" dirty="0">
                <a:solidFill>
                  <a:srgbClr val="131C29"/>
                </a:solidFill>
                <a:latin typeface="Inter" pitchFamily="34" charset="0"/>
                <a:ea typeface="Inter" pitchFamily="34" charset="-122"/>
                <a:cs typeface="Inter" pitchFamily="34" charset="-120"/>
              </a:rPr>
              <a:t>Decision on v2</a:t>
            </a:r>
            <a:endParaRPr lang="en-US" sz="1900" dirty="0"/>
          </a:p>
        </p:txBody>
      </p:sp>
      <p:sp>
        <p:nvSpPr>
          <p:cNvPr id="28" name="Text 26"/>
          <p:cNvSpPr/>
          <p:nvPr/>
        </p:nvSpPr>
        <p:spPr>
          <a:xfrm>
            <a:off x="9208008" y="4197096"/>
            <a:ext cx="2578608" cy="530352"/>
          </a:xfrm>
          <a:prstGeom prst="rect">
            <a:avLst/>
          </a:prstGeom>
          <a:noFill/>
          <a:ln/>
        </p:spPr>
        <p:txBody>
          <a:bodyPr wrap="square" lIns="0" tIns="0" rIns="0" bIns="0" rtlCol="0" anchor="ctr">
            <a:normAutofit/>
          </a:bodyPr>
          <a:lstStyle/>
          <a:p>
            <a:pPr indent="0" marL="0">
              <a:buNone/>
            </a:pPr>
            <a:r>
              <a:rPr lang="en-US" sz="1370" dirty="0">
                <a:solidFill>
                  <a:srgbClr val="596779"/>
                </a:solidFill>
                <a:latin typeface="Inter" pitchFamily="34" charset="0"/>
                <a:ea typeface="Inter" pitchFamily="34" charset="-122"/>
                <a:cs typeface="Inter" pitchFamily="34" charset="-120"/>
              </a:rPr>
              <a:t>Approve, reject or defer</a:t>
            </a:r>
            <a:endParaRPr lang="en-US" sz="1370" dirty="0"/>
          </a:p>
        </p:txBody>
      </p:sp>
      <p:sp>
        <p:nvSpPr>
          <p:cNvPr id="29" name="Shape 27"/>
          <p:cNvSpPr/>
          <p:nvPr/>
        </p:nvSpPr>
        <p:spPr>
          <a:xfrm>
            <a:off x="658368" y="5175504"/>
            <a:ext cx="10872216" cy="585216"/>
          </a:xfrm>
          <a:prstGeom prst="rect">
            <a:avLst/>
          </a:prstGeom>
          <a:solidFill>
            <a:srgbClr val="EAF0FE"/>
          </a:solidFill>
          <a:ln w="12700">
            <a:solidFill>
              <a:srgbClr val="EAF0FE"/>
            </a:solidFill>
            <a:prstDash val="solid"/>
          </a:ln>
        </p:spPr>
      </p:sp>
      <p:sp>
        <p:nvSpPr>
          <p:cNvPr id="30" name="Text 28"/>
          <p:cNvSpPr/>
          <p:nvPr/>
        </p:nvSpPr>
        <p:spPr>
          <a:xfrm>
            <a:off x="896112" y="5340096"/>
            <a:ext cx="1581912" cy="210312"/>
          </a:xfrm>
          <a:prstGeom prst="rect">
            <a:avLst/>
          </a:prstGeom>
          <a:noFill/>
          <a:ln/>
        </p:spPr>
        <p:txBody>
          <a:bodyPr wrap="square" lIns="0" tIns="0" rIns="0" bIns="0" rtlCol="0" anchor="ctr">
            <a:normAutofit/>
          </a:bodyPr>
          <a:lstStyle/>
          <a:p>
            <a:pPr indent="0" marL="0">
              <a:buNone/>
            </a:pPr>
            <a:r>
              <a:rPr lang="en-US" sz="1200" b="1" dirty="0">
                <a:solidFill>
                  <a:srgbClr val="2863EB"/>
                </a:solidFill>
                <a:latin typeface="Inter" pitchFamily="34" charset="0"/>
                <a:ea typeface="Inter" pitchFamily="34" charset="-122"/>
                <a:cs typeface="Inter" pitchFamily="34" charset="-120"/>
              </a:rPr>
              <a:t>Audit record</a:t>
            </a:r>
            <a:endParaRPr lang="en-US" sz="1200" dirty="0"/>
          </a:p>
        </p:txBody>
      </p:sp>
      <p:sp>
        <p:nvSpPr>
          <p:cNvPr id="31" name="Text 29"/>
          <p:cNvSpPr/>
          <p:nvPr/>
        </p:nvSpPr>
        <p:spPr>
          <a:xfrm>
            <a:off x="2743200" y="5285232"/>
            <a:ext cx="8430768" cy="301752"/>
          </a:xfrm>
          <a:prstGeom prst="rect">
            <a:avLst/>
          </a:prstGeom>
          <a:noFill/>
          <a:ln/>
        </p:spPr>
        <p:txBody>
          <a:bodyPr wrap="square" lIns="0" tIns="0" rIns="0" bIns="0" rtlCol="0" anchor="ctr">
            <a:normAutofit/>
          </a:bodyPr>
          <a:lstStyle/>
          <a:p>
            <a:pPr indent="0" marL="0">
              <a:buNone/>
            </a:pPr>
            <a:r>
              <a:rPr lang="en-US" sz="1700" dirty="0">
                <a:solidFill>
                  <a:srgbClr val="131C29"/>
                </a:solidFill>
                <a:latin typeface="Inter" pitchFamily="34" charset="0"/>
                <a:ea typeface="Inter" pitchFamily="34" charset="-122"/>
                <a:cs typeface="Inter" pitchFamily="34" charset="-120"/>
              </a:rPr>
              <a:t>Actor  ·  action  ·  timestamp  ·  rationale  ·  exact version</a:t>
            </a:r>
            <a:endParaRPr lang="en-US" sz="1700" dirty="0"/>
          </a:p>
        </p:txBody>
      </p:sp>
      <p:sp>
        <p:nvSpPr>
          <p:cNvPr id="32" name="Text 30"/>
          <p:cNvSpPr/>
          <p:nvPr/>
        </p:nvSpPr>
        <p:spPr>
          <a:xfrm>
            <a:off x="694944" y="6071616"/>
            <a:ext cx="10890504" cy="201168"/>
          </a:xfrm>
          <a:prstGeom prst="rect">
            <a:avLst/>
          </a:prstGeom>
          <a:noFill/>
          <a:ln/>
        </p:spPr>
        <p:txBody>
          <a:bodyPr wrap="square" lIns="0" tIns="0" rIns="0" bIns="0" rtlCol="0" anchor="ctr">
            <a:normAutofit/>
          </a:bodyPr>
          <a:lstStyle/>
          <a:p>
            <a:pPr indent="0" marL="0">
              <a:buNone/>
            </a:pPr>
            <a:r>
              <a:rPr lang="en-US" sz="1100" dirty="0">
                <a:solidFill>
                  <a:srgbClr val="596779"/>
                </a:solidFill>
                <a:latin typeface="Inter" pitchFamily="34" charset="0"/>
                <a:ea typeface="Inter" pitchFamily="34" charset="-122"/>
                <a:cs typeface="Inter" pitchFamily="34" charset="-120"/>
              </a:rPr>
              <a:t>Illustrative review flow • earlier versions and decisions remain inspectable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REIMAGINE</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Make the proposal tangible.</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Selected proposal version → explicit Reimagine → source-linked explanation.</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11 / 14</a:t>
            </a:r>
            <a:endParaRPr lang="en-US" sz="890" dirty="0"/>
          </a:p>
        </p:txBody>
      </p:sp>
      <p:sp>
        <p:nvSpPr>
          <p:cNvPr id="12" name="Text 10"/>
          <p:cNvSpPr/>
          <p:nvPr/>
        </p:nvSpPr>
        <p:spPr>
          <a:xfrm>
            <a:off x="777240" y="2423160"/>
            <a:ext cx="4736592" cy="219456"/>
          </a:xfrm>
          <a:prstGeom prst="rect">
            <a:avLst/>
          </a:prstGeom>
          <a:noFill/>
          <a:ln/>
        </p:spPr>
        <p:txBody>
          <a:bodyPr wrap="square" lIns="0" tIns="0" rIns="0" bIns="0" rtlCol="0" anchor="ctr">
            <a:normAutofit/>
          </a:bodyPr>
          <a:lstStyle/>
          <a:p>
            <a:pPr indent="0" marL="0">
              <a:buNone/>
            </a:pPr>
            <a:r>
              <a:rPr lang="en-US" sz="1050" b="1" spc="85" kern="0" dirty="0">
                <a:solidFill>
                  <a:srgbClr val="596779"/>
                </a:solidFill>
                <a:latin typeface="Inter" pitchFamily="34" charset="0"/>
                <a:ea typeface="Inter" pitchFamily="34" charset="-122"/>
                <a:cs typeface="Inter" pitchFamily="34" charset="-120"/>
              </a:rPr>
              <a:t>BASELINE ILLUSTRATION</a:t>
            </a:r>
            <a:endParaRPr lang="en-US" sz="1050" dirty="0"/>
          </a:p>
        </p:txBody>
      </p:sp>
      <p:sp>
        <p:nvSpPr>
          <p:cNvPr id="13" name="Text 11"/>
          <p:cNvSpPr/>
          <p:nvPr/>
        </p:nvSpPr>
        <p:spPr>
          <a:xfrm>
            <a:off x="6473952" y="2423160"/>
            <a:ext cx="4764024" cy="219456"/>
          </a:xfrm>
          <a:prstGeom prst="rect">
            <a:avLst/>
          </a:prstGeom>
          <a:noFill/>
          <a:ln/>
        </p:spPr>
        <p:txBody>
          <a:bodyPr wrap="square" lIns="0" tIns="0" rIns="0" bIns="0" rtlCol="0" anchor="ctr">
            <a:normAutofit/>
          </a:bodyPr>
          <a:lstStyle/>
          <a:p>
            <a:pPr indent="0" marL="0">
              <a:buNone/>
            </a:pPr>
            <a:r>
              <a:rPr lang="en-US" sz="1050" b="1" spc="85" kern="0" dirty="0">
                <a:solidFill>
                  <a:srgbClr val="2863EB"/>
                </a:solidFill>
                <a:latin typeface="Inter" pitchFamily="34" charset="0"/>
                <a:ea typeface="Inter" pitchFamily="34" charset="-122"/>
                <a:cs typeface="Inter" pitchFamily="34" charset="-120"/>
              </a:rPr>
              <a:t>ANNOTATED PROPOSAL</a:t>
            </a:r>
            <a:endParaRPr lang="en-US" sz="1050" dirty="0"/>
          </a:p>
        </p:txBody>
      </p:sp>
      <p:pic>
        <p:nvPicPr>
          <p:cNvPr id="14" name="Image 0" descr="/mnt/data/fwd_rebuild/assets/bmw_illustrative_cutout.png">    </p:cNvPr>
          <p:cNvPicPr>
            <a:picLocks noChangeAspect="1"/>
          </p:cNvPicPr>
          <p:nvPr/>
        </p:nvPicPr>
        <p:blipFill>
          <a:blip r:embed="rId1"/>
          <a:stretch>
            <a:fillRect/>
          </a:stretch>
        </p:blipFill>
        <p:spPr>
          <a:xfrm>
            <a:off x="713232" y="2816352"/>
            <a:ext cx="4855464" cy="2296594"/>
          </a:xfrm>
          <a:prstGeom prst="rect">
            <a:avLst/>
          </a:prstGeom>
        </p:spPr>
      </p:pic>
      <p:pic>
        <p:nvPicPr>
          <p:cNvPr id="15" name="Image 1" descr="/mnt/data/fwd_rebuild/assets/bmw_illustrative_cutout.png">    </p:cNvPr>
          <p:cNvPicPr>
            <a:picLocks noChangeAspect="1"/>
          </p:cNvPicPr>
          <p:nvPr/>
        </p:nvPicPr>
        <p:blipFill>
          <a:blip r:embed="rId2"/>
          <a:stretch>
            <a:fillRect/>
          </a:stretch>
        </p:blipFill>
        <p:spPr>
          <a:xfrm>
            <a:off x="6419088" y="2816352"/>
            <a:ext cx="4855464" cy="2296594"/>
          </a:xfrm>
          <a:prstGeom prst="rect">
            <a:avLst/>
          </a:prstGeom>
        </p:spPr>
      </p:pic>
      <p:sp>
        <p:nvSpPr>
          <p:cNvPr id="16" name="Shape 12"/>
          <p:cNvSpPr/>
          <p:nvPr/>
        </p:nvSpPr>
        <p:spPr>
          <a:xfrm>
            <a:off x="5760720" y="4005072"/>
            <a:ext cx="429768" cy="0"/>
          </a:xfrm>
          <a:prstGeom prst="line">
            <a:avLst/>
          </a:prstGeom>
          <a:noFill/>
          <a:ln w="27940">
            <a:solidFill>
              <a:srgbClr val="2863EB"/>
            </a:solidFill>
            <a:prstDash val="solid"/>
            <a:tailEnd type="triangle"/>
          </a:ln>
        </p:spPr>
      </p:sp>
      <p:sp>
        <p:nvSpPr>
          <p:cNvPr id="17" name="Shape 13"/>
          <p:cNvSpPr/>
          <p:nvPr/>
        </p:nvSpPr>
        <p:spPr>
          <a:xfrm>
            <a:off x="8883396" y="3488436"/>
            <a:ext cx="265176" cy="265176"/>
          </a:xfrm>
          <a:prstGeom prst="ellipse">
            <a:avLst/>
          </a:prstGeom>
          <a:solidFill>
            <a:srgbClr val="FFFFFF"/>
          </a:solidFill>
          <a:ln w="20320">
            <a:solidFill>
              <a:srgbClr val="2863EB"/>
            </a:solidFill>
            <a:prstDash val="solid"/>
          </a:ln>
        </p:spPr>
      </p:sp>
      <p:sp>
        <p:nvSpPr>
          <p:cNvPr id="18" name="Text 14"/>
          <p:cNvSpPr/>
          <p:nvPr/>
        </p:nvSpPr>
        <p:spPr>
          <a:xfrm>
            <a:off x="8883396" y="3493922"/>
            <a:ext cx="265176" cy="254203"/>
          </a:xfrm>
          <a:prstGeom prst="rect">
            <a:avLst/>
          </a:prstGeom>
          <a:noFill/>
          <a:ln/>
        </p:spPr>
        <p:txBody>
          <a:bodyPr wrap="square" lIns="0" tIns="0" rIns="0" bIns="0" rtlCol="0" anchor="ctr">
            <a:normAutofit/>
          </a:bodyPr>
          <a:lstStyle/>
          <a:p>
            <a:pPr algn="ctr" indent="0" marL="0">
              <a:buNone/>
            </a:pPr>
            <a:r>
              <a:rPr lang="en-US" sz="1050" b="1" dirty="0">
                <a:solidFill>
                  <a:srgbClr val="2863EB"/>
                </a:solidFill>
                <a:latin typeface="Inter" pitchFamily="34" charset="0"/>
                <a:ea typeface="Inter" pitchFamily="34" charset="-122"/>
                <a:cs typeface="Inter" pitchFamily="34" charset="-120"/>
              </a:rPr>
              <a:t>1</a:t>
            </a:r>
            <a:endParaRPr lang="en-US" sz="1050" dirty="0"/>
          </a:p>
        </p:txBody>
      </p:sp>
      <p:sp>
        <p:nvSpPr>
          <p:cNvPr id="19" name="Shape 15"/>
          <p:cNvSpPr/>
          <p:nvPr/>
        </p:nvSpPr>
        <p:spPr>
          <a:xfrm>
            <a:off x="9015984" y="3749040"/>
            <a:ext cx="0" cy="1271016"/>
          </a:xfrm>
          <a:prstGeom prst="line">
            <a:avLst/>
          </a:prstGeom>
          <a:noFill/>
          <a:ln w="15240">
            <a:solidFill>
              <a:srgbClr val="2863EB"/>
            </a:solidFill>
            <a:prstDash val="solid"/>
          </a:ln>
        </p:spPr>
      </p:sp>
      <p:sp>
        <p:nvSpPr>
          <p:cNvPr id="20" name="Shape 16"/>
          <p:cNvSpPr/>
          <p:nvPr/>
        </p:nvSpPr>
        <p:spPr>
          <a:xfrm>
            <a:off x="740664" y="5148072"/>
            <a:ext cx="4791456" cy="630936"/>
          </a:xfrm>
          <a:prstGeom prst="rect">
            <a:avLst/>
          </a:prstGeom>
          <a:solidFill>
            <a:srgbClr val="FFFFFF"/>
          </a:solidFill>
          <a:ln w="10160">
            <a:solidFill>
              <a:srgbClr val="DCE3EC"/>
            </a:solidFill>
            <a:prstDash val="solid"/>
          </a:ln>
        </p:spPr>
      </p:sp>
      <p:sp>
        <p:nvSpPr>
          <p:cNvPr id="21" name="Text 17"/>
          <p:cNvSpPr/>
          <p:nvPr/>
        </p:nvSpPr>
        <p:spPr>
          <a:xfrm>
            <a:off x="941832" y="5321808"/>
            <a:ext cx="4379976" cy="274320"/>
          </a:xfrm>
          <a:prstGeom prst="rect">
            <a:avLst/>
          </a:prstGeom>
          <a:noFill/>
          <a:ln/>
        </p:spPr>
        <p:txBody>
          <a:bodyPr wrap="square" lIns="0" tIns="0" rIns="0" bIns="0" rtlCol="0" anchor="ctr">
            <a:normAutofit/>
          </a:bodyPr>
          <a:lstStyle/>
          <a:p>
            <a:pPr indent="0" marL="0">
              <a:buNone/>
            </a:pPr>
            <a:r>
              <a:rPr lang="en-US" sz="1620" dirty="0">
                <a:solidFill>
                  <a:srgbClr val="596779"/>
                </a:solidFill>
                <a:latin typeface="Inter" pitchFamily="34" charset="0"/>
                <a:ea typeface="Inter" pitchFamily="34" charset="-122"/>
                <a:cs typeface="Inter" pitchFamily="34" charset="-120"/>
              </a:rPr>
              <a:t>Menu  →  comfort settings</a:t>
            </a:r>
            <a:endParaRPr lang="en-US" sz="1620" dirty="0"/>
          </a:p>
        </p:txBody>
      </p:sp>
      <p:sp>
        <p:nvSpPr>
          <p:cNvPr id="22" name="Shape 18"/>
          <p:cNvSpPr/>
          <p:nvPr/>
        </p:nvSpPr>
        <p:spPr>
          <a:xfrm>
            <a:off x="6446520" y="5148072"/>
            <a:ext cx="4791456" cy="630936"/>
          </a:xfrm>
          <a:prstGeom prst="rect">
            <a:avLst/>
          </a:prstGeom>
          <a:solidFill>
            <a:srgbClr val="EAF0FE"/>
          </a:solidFill>
          <a:ln w="12700">
            <a:solidFill>
              <a:srgbClr val="EAF0FE"/>
            </a:solidFill>
            <a:prstDash val="solid"/>
          </a:ln>
        </p:spPr>
      </p:sp>
      <p:sp>
        <p:nvSpPr>
          <p:cNvPr id="23" name="Shape 19"/>
          <p:cNvSpPr/>
          <p:nvPr/>
        </p:nvSpPr>
        <p:spPr>
          <a:xfrm>
            <a:off x="6684264" y="5312664"/>
            <a:ext cx="1453896" cy="292608"/>
          </a:xfrm>
          <a:prstGeom prst="roundRect">
            <a:avLst>
              <a:gd name="adj" fmla="val 37500"/>
            </a:avLst>
          </a:prstGeom>
          <a:solidFill>
            <a:srgbClr val="2863EB"/>
          </a:solidFill>
          <a:ln w="12700">
            <a:solidFill>
              <a:srgbClr val="2863EB"/>
            </a:solidFill>
            <a:prstDash val="solid"/>
          </a:ln>
        </p:spPr>
      </p:sp>
      <p:sp>
        <p:nvSpPr>
          <p:cNvPr id="24" name="Text 20"/>
          <p:cNvSpPr/>
          <p:nvPr/>
        </p:nvSpPr>
        <p:spPr>
          <a:xfrm>
            <a:off x="6775704" y="5321808"/>
            <a:ext cx="1271016" cy="274320"/>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Inter" pitchFamily="34" charset="0"/>
                <a:ea typeface="Inter" pitchFamily="34" charset="-122"/>
                <a:cs typeface="Inter" pitchFamily="34" charset="-120"/>
              </a:rPr>
              <a:t>Comfort</a:t>
            </a:r>
            <a:endParaRPr lang="en-US" sz="1150" dirty="0"/>
          </a:p>
        </p:txBody>
      </p:sp>
      <p:sp>
        <p:nvSpPr>
          <p:cNvPr id="25" name="Text 21"/>
          <p:cNvSpPr/>
          <p:nvPr/>
        </p:nvSpPr>
        <p:spPr>
          <a:xfrm>
            <a:off x="8339328" y="5303520"/>
            <a:ext cx="2679192" cy="292608"/>
          </a:xfrm>
          <a:prstGeom prst="rect">
            <a:avLst/>
          </a:prstGeom>
          <a:noFill/>
          <a:ln/>
        </p:spPr>
        <p:txBody>
          <a:bodyPr wrap="square" lIns="0" tIns="0" rIns="0" bIns="0" rtlCol="0" anchor="ctr">
            <a:normAutofit/>
          </a:bodyPr>
          <a:lstStyle/>
          <a:p>
            <a:pPr indent="0" marL="0">
              <a:buNone/>
            </a:pPr>
            <a:r>
              <a:rPr lang="en-US" sz="1430" dirty="0">
                <a:solidFill>
                  <a:srgbClr val="131C29"/>
                </a:solidFill>
                <a:latin typeface="Inter" pitchFamily="34" charset="0"/>
                <a:ea typeface="Inter" pitchFamily="34" charset="-122"/>
                <a:cs typeface="Inter" pitchFamily="34" charset="-120"/>
              </a:rPr>
              <a:t>A proposed direct entry</a:t>
            </a:r>
            <a:endParaRPr lang="en-US" sz="1430" dirty="0"/>
          </a:p>
        </p:txBody>
      </p:sp>
      <p:sp>
        <p:nvSpPr>
          <p:cNvPr id="26" name="Text 22"/>
          <p:cNvSpPr/>
          <p:nvPr/>
        </p:nvSpPr>
        <p:spPr>
          <a:xfrm>
            <a:off x="786384" y="6053328"/>
            <a:ext cx="10844784" cy="192024"/>
          </a:xfrm>
          <a:prstGeom prst="rect">
            <a:avLst/>
          </a:prstGeom>
          <a:noFill/>
          <a:ln/>
        </p:spPr>
        <p:txBody>
          <a:bodyPr wrap="square" lIns="0" tIns="0" rIns="0" bIns="0" rtlCol="0" anchor="ctr">
            <a:normAutofit/>
          </a:bodyPr>
          <a:lstStyle/>
          <a:p>
            <a:pPr indent="0" marL="0">
              <a:buNone/>
            </a:pPr>
            <a:r>
              <a:rPr lang="en-US" sz="1050" dirty="0">
                <a:solidFill>
                  <a:srgbClr val="596779"/>
                </a:solidFill>
                <a:latin typeface="Inter" pitchFamily="34" charset="0"/>
                <a:ea typeface="Inter" pitchFamily="34" charset="-122"/>
                <a:cs typeface="Inter" pitchFamily="34" charset="-120"/>
              </a:rPr>
              <a:t>Synthetic UI concept • same exterior shown • no generated geometry or engineering validation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ARCHITECTURE AND RESPONSIBILITY</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Keep AI interpretation separate from authority.</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Target architecture • application code validates; AI drafts; the PM accepts.</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12 / 14</a:t>
            </a:r>
            <a:endParaRPr lang="en-US" sz="890" dirty="0"/>
          </a:p>
        </p:txBody>
      </p:sp>
      <p:sp>
        <p:nvSpPr>
          <p:cNvPr id="12" name="Shape 10"/>
          <p:cNvSpPr/>
          <p:nvPr/>
        </p:nvSpPr>
        <p:spPr>
          <a:xfrm>
            <a:off x="630936" y="2761488"/>
            <a:ext cx="2606040" cy="1280160"/>
          </a:xfrm>
          <a:prstGeom prst="rect">
            <a:avLst/>
          </a:prstGeom>
          <a:solidFill>
            <a:srgbClr val="FFFFFF"/>
          </a:solidFill>
          <a:ln w="10160">
            <a:solidFill>
              <a:srgbClr val="DCE3EC"/>
            </a:solidFill>
            <a:prstDash val="solid"/>
          </a:ln>
        </p:spPr>
      </p:sp>
      <p:sp>
        <p:nvSpPr>
          <p:cNvPr id="13" name="Text 11"/>
          <p:cNvSpPr/>
          <p:nvPr/>
        </p:nvSpPr>
        <p:spPr>
          <a:xfrm>
            <a:off x="868680" y="2962656"/>
            <a:ext cx="2103120" cy="310896"/>
          </a:xfrm>
          <a:prstGeom prst="rect">
            <a:avLst/>
          </a:prstGeom>
          <a:noFill/>
          <a:ln/>
        </p:spPr>
        <p:txBody>
          <a:bodyPr wrap="square" lIns="0" tIns="0" rIns="0" bIns="0" rtlCol="0" anchor="ctr">
            <a:normAutofit/>
          </a:bodyPr>
          <a:lstStyle/>
          <a:p>
            <a:pPr indent="0" marL="0">
              <a:buNone/>
            </a:pPr>
            <a:r>
              <a:rPr lang="en-US" sz="2000" b="1" dirty="0">
                <a:solidFill>
                  <a:srgbClr val="131C29"/>
                </a:solidFill>
                <a:latin typeface="Inter" pitchFamily="34" charset="0"/>
                <a:ea typeface="Inter" pitchFamily="34" charset="-122"/>
                <a:cs typeface="Inter" pitchFamily="34" charset="-120"/>
              </a:rPr>
              <a:t>PM workspace</a:t>
            </a:r>
            <a:endParaRPr lang="en-US" sz="2000" dirty="0"/>
          </a:p>
        </p:txBody>
      </p:sp>
      <p:sp>
        <p:nvSpPr>
          <p:cNvPr id="14" name="Text 12"/>
          <p:cNvSpPr/>
          <p:nvPr/>
        </p:nvSpPr>
        <p:spPr>
          <a:xfrm>
            <a:off x="868680" y="3447288"/>
            <a:ext cx="2103120" cy="429768"/>
          </a:xfrm>
          <a:prstGeom prst="rect">
            <a:avLst/>
          </a:prstGeom>
          <a:noFill/>
          <a:ln/>
        </p:spPr>
        <p:txBody>
          <a:bodyPr wrap="square" lIns="0" tIns="0" rIns="0" bIns="0" rtlCol="0" anchor="ctr">
            <a:normAutofit/>
          </a:bodyPr>
          <a:lstStyle/>
          <a:p>
            <a:pPr indent="0" marL="0">
              <a:buNone/>
            </a:pPr>
            <a:r>
              <a:rPr lang="en-US" sz="1260" dirty="0">
                <a:solidFill>
                  <a:srgbClr val="596779"/>
                </a:solidFill>
                <a:latin typeface="Inter" pitchFamily="34" charset="0"/>
                <a:ea typeface="Inter" pitchFamily="34" charset="-122"/>
                <a:cs typeface="Inter" pitchFamily="34" charset="-120"/>
              </a:rPr>
              <a:t>React + TypeScript</a:t>
            </a:r>
            <a:endParaRPr lang="en-US" sz="1260" dirty="0"/>
          </a:p>
          <a:p>
            <a:pPr indent="0" marL="0">
              <a:buNone/>
            </a:pPr>
            <a:r>
              <a:rPr lang="en-US" sz="1260" dirty="0">
                <a:solidFill>
                  <a:srgbClr val="596779"/>
                </a:solidFill>
                <a:latin typeface="Inter" pitchFamily="34" charset="0"/>
                <a:ea typeface="Inter" pitchFamily="34" charset="-122"/>
                <a:cs typeface="Inter" pitchFamily="34" charset="-120"/>
              </a:rPr>
              <a:t>Vehicle · graph · review</a:t>
            </a:r>
            <a:endParaRPr lang="en-US" sz="1260" dirty="0"/>
          </a:p>
        </p:txBody>
      </p:sp>
      <p:sp>
        <p:nvSpPr>
          <p:cNvPr id="15" name="Shape 13"/>
          <p:cNvSpPr/>
          <p:nvPr/>
        </p:nvSpPr>
        <p:spPr>
          <a:xfrm>
            <a:off x="3913632" y="2761488"/>
            <a:ext cx="3995928" cy="1280160"/>
          </a:xfrm>
          <a:prstGeom prst="rect">
            <a:avLst/>
          </a:prstGeom>
          <a:solidFill>
            <a:srgbClr val="EAF0FE"/>
          </a:solidFill>
          <a:ln w="12700">
            <a:solidFill>
              <a:srgbClr val="EAF0FE"/>
            </a:solidFill>
            <a:prstDash val="solid"/>
          </a:ln>
        </p:spPr>
      </p:sp>
      <p:sp>
        <p:nvSpPr>
          <p:cNvPr id="16" name="Text 14"/>
          <p:cNvSpPr/>
          <p:nvPr/>
        </p:nvSpPr>
        <p:spPr>
          <a:xfrm>
            <a:off x="4169664" y="2962656"/>
            <a:ext cx="3493008" cy="310896"/>
          </a:xfrm>
          <a:prstGeom prst="rect">
            <a:avLst/>
          </a:prstGeom>
          <a:noFill/>
          <a:ln/>
        </p:spPr>
        <p:txBody>
          <a:bodyPr wrap="square" lIns="0" tIns="0" rIns="0" bIns="0" rtlCol="0" anchor="ctr">
            <a:normAutofit/>
          </a:bodyPr>
          <a:lstStyle/>
          <a:p>
            <a:pPr indent="0" marL="0">
              <a:buNone/>
            </a:pPr>
            <a:r>
              <a:rPr lang="en-US" sz="2100" b="1" dirty="0">
                <a:solidFill>
                  <a:srgbClr val="131C29"/>
                </a:solidFill>
                <a:latin typeface="Inter" pitchFamily="34" charset="0"/>
                <a:ea typeface="Inter" pitchFamily="34" charset="-122"/>
                <a:cs typeface="Inter" pitchFamily="34" charset="-120"/>
              </a:rPr>
              <a:t>Authenticated FastAPI</a:t>
            </a:r>
            <a:endParaRPr lang="en-US" sz="2100" dirty="0"/>
          </a:p>
        </p:txBody>
      </p:sp>
      <p:sp>
        <p:nvSpPr>
          <p:cNvPr id="17" name="Text 15"/>
          <p:cNvSpPr/>
          <p:nvPr/>
        </p:nvSpPr>
        <p:spPr>
          <a:xfrm>
            <a:off x="4169664" y="3529584"/>
            <a:ext cx="3493008" cy="246888"/>
          </a:xfrm>
          <a:prstGeom prst="rect">
            <a:avLst/>
          </a:prstGeom>
          <a:noFill/>
          <a:ln/>
        </p:spPr>
        <p:txBody>
          <a:bodyPr wrap="square" lIns="0" tIns="0" rIns="0" bIns="0" rtlCol="0" anchor="ctr">
            <a:normAutofit/>
          </a:bodyPr>
          <a:lstStyle/>
          <a:p>
            <a:pPr indent="0" marL="0">
              <a:buNone/>
            </a:pPr>
            <a:r>
              <a:rPr lang="en-US" sz="1200" dirty="0">
                <a:solidFill>
                  <a:srgbClr val="596779"/>
                </a:solidFill>
                <a:latin typeface="Inter" pitchFamily="34" charset="0"/>
                <a:ea typeface="Inter" pitchFamily="34" charset="-122"/>
                <a:cs typeface="Inter" pitchFamily="34" charset="-120"/>
              </a:rPr>
              <a:t>Counts · scoring · versions · publication gates</a:t>
            </a:r>
            <a:endParaRPr lang="en-US" sz="1200" dirty="0"/>
          </a:p>
        </p:txBody>
      </p:sp>
      <p:sp>
        <p:nvSpPr>
          <p:cNvPr id="18" name="Shape 16"/>
          <p:cNvSpPr/>
          <p:nvPr/>
        </p:nvSpPr>
        <p:spPr>
          <a:xfrm>
            <a:off x="8595360" y="2761488"/>
            <a:ext cx="2944368" cy="1280160"/>
          </a:xfrm>
          <a:prstGeom prst="rect">
            <a:avLst/>
          </a:prstGeom>
          <a:solidFill>
            <a:srgbClr val="FFFFFF"/>
          </a:solidFill>
          <a:ln w="10160">
            <a:solidFill>
              <a:srgbClr val="DCE3EC"/>
            </a:solidFill>
            <a:prstDash val="solid"/>
          </a:ln>
        </p:spPr>
      </p:sp>
      <p:sp>
        <p:nvSpPr>
          <p:cNvPr id="19" name="Text 17"/>
          <p:cNvSpPr/>
          <p:nvPr/>
        </p:nvSpPr>
        <p:spPr>
          <a:xfrm>
            <a:off x="8842248" y="2962656"/>
            <a:ext cx="2432304" cy="310896"/>
          </a:xfrm>
          <a:prstGeom prst="rect">
            <a:avLst/>
          </a:prstGeom>
          <a:noFill/>
          <a:ln/>
        </p:spPr>
        <p:txBody>
          <a:bodyPr wrap="square" lIns="0" tIns="0" rIns="0" bIns="0" rtlCol="0" anchor="ctr">
            <a:normAutofit/>
          </a:bodyPr>
          <a:lstStyle/>
          <a:p>
            <a:pPr indent="0" marL="0">
              <a:buNone/>
            </a:pPr>
            <a:r>
              <a:rPr lang="en-US" sz="2000" b="1" dirty="0">
                <a:solidFill>
                  <a:srgbClr val="131C29"/>
                </a:solidFill>
                <a:latin typeface="Inter" pitchFamily="34" charset="0"/>
                <a:ea typeface="Inter" pitchFamily="34" charset="-122"/>
                <a:cs typeface="Inter" pitchFamily="34" charset="-120"/>
              </a:rPr>
              <a:t>PostgreSQL</a:t>
            </a:r>
            <a:endParaRPr lang="en-US" sz="2000" dirty="0"/>
          </a:p>
        </p:txBody>
      </p:sp>
      <p:sp>
        <p:nvSpPr>
          <p:cNvPr id="20" name="Text 18"/>
          <p:cNvSpPr/>
          <p:nvPr/>
        </p:nvSpPr>
        <p:spPr>
          <a:xfrm>
            <a:off x="8842248" y="3447288"/>
            <a:ext cx="2432304" cy="429768"/>
          </a:xfrm>
          <a:prstGeom prst="rect">
            <a:avLst/>
          </a:prstGeom>
          <a:noFill/>
          <a:ln/>
        </p:spPr>
        <p:txBody>
          <a:bodyPr wrap="square" lIns="0" tIns="0" rIns="0" bIns="0" rtlCol="0" anchor="ctr">
            <a:normAutofit/>
          </a:bodyPr>
          <a:lstStyle/>
          <a:p>
            <a:pPr indent="0" marL="0">
              <a:buNone/>
            </a:pPr>
            <a:r>
              <a:rPr lang="en-US" sz="1240" dirty="0">
                <a:solidFill>
                  <a:srgbClr val="596779"/>
                </a:solidFill>
                <a:latin typeface="Inter" pitchFamily="34" charset="0"/>
                <a:ea typeface="Inter" pitchFamily="34" charset="-122"/>
                <a:cs typeface="Inter" pitchFamily="34" charset="-120"/>
              </a:rPr>
              <a:t>Source-linked records</a:t>
            </a:r>
            <a:endParaRPr lang="en-US" sz="1240" dirty="0"/>
          </a:p>
          <a:p>
            <a:pPr indent="0" marL="0">
              <a:buNone/>
            </a:pPr>
            <a:r>
              <a:rPr lang="en-US" sz="1240" dirty="0">
                <a:solidFill>
                  <a:srgbClr val="596779"/>
                </a:solidFill>
                <a:latin typeface="Inter" pitchFamily="34" charset="0"/>
                <a:ea typeface="Inter" pitchFamily="34" charset="-122"/>
                <a:cs typeface="Inter" pitchFamily="34" charset="-120"/>
              </a:rPr>
              <a:t>Private original-file storage</a:t>
            </a:r>
            <a:endParaRPr lang="en-US" sz="1240" dirty="0"/>
          </a:p>
        </p:txBody>
      </p:sp>
      <p:sp>
        <p:nvSpPr>
          <p:cNvPr id="21" name="Shape 19"/>
          <p:cNvSpPr/>
          <p:nvPr/>
        </p:nvSpPr>
        <p:spPr>
          <a:xfrm>
            <a:off x="3255264" y="3410712"/>
            <a:ext cx="530352" cy="0"/>
          </a:xfrm>
          <a:prstGeom prst="line">
            <a:avLst/>
          </a:prstGeom>
          <a:noFill/>
          <a:ln w="21590">
            <a:solidFill>
              <a:srgbClr val="2863EB"/>
            </a:solidFill>
            <a:prstDash val="solid"/>
            <a:tailEnd type="triangle"/>
          </a:ln>
        </p:spPr>
      </p:sp>
      <p:sp>
        <p:nvSpPr>
          <p:cNvPr id="22" name="Shape 20"/>
          <p:cNvSpPr/>
          <p:nvPr/>
        </p:nvSpPr>
        <p:spPr>
          <a:xfrm>
            <a:off x="7955280" y="3410712"/>
            <a:ext cx="521208" cy="0"/>
          </a:xfrm>
          <a:prstGeom prst="line">
            <a:avLst/>
          </a:prstGeom>
          <a:noFill/>
          <a:ln w="21590">
            <a:solidFill>
              <a:srgbClr val="2863EB"/>
            </a:solidFill>
            <a:prstDash val="solid"/>
            <a:tailEnd type="triangle"/>
          </a:ln>
        </p:spPr>
      </p:sp>
      <p:sp>
        <p:nvSpPr>
          <p:cNvPr id="23" name="Shape 21"/>
          <p:cNvSpPr/>
          <p:nvPr/>
        </p:nvSpPr>
        <p:spPr>
          <a:xfrm>
            <a:off x="658368" y="2276856"/>
            <a:ext cx="2542032" cy="265176"/>
          </a:xfrm>
          <a:prstGeom prst="roundRect">
            <a:avLst>
              <a:gd name="adj" fmla="val 41379"/>
            </a:avLst>
          </a:prstGeom>
          <a:solidFill>
            <a:srgbClr val="EAF0FE"/>
          </a:solidFill>
          <a:ln w="12700">
            <a:solidFill>
              <a:srgbClr val="EAF0FE"/>
            </a:solidFill>
            <a:prstDash val="solid"/>
          </a:ln>
        </p:spPr>
      </p:sp>
      <p:sp>
        <p:nvSpPr>
          <p:cNvPr id="24" name="Text 22"/>
          <p:cNvSpPr/>
          <p:nvPr/>
        </p:nvSpPr>
        <p:spPr>
          <a:xfrm>
            <a:off x="749808" y="2286000"/>
            <a:ext cx="2359152" cy="246888"/>
          </a:xfrm>
          <a:prstGeom prst="rect">
            <a:avLst/>
          </a:prstGeom>
          <a:noFill/>
          <a:ln/>
        </p:spPr>
        <p:txBody>
          <a:bodyPr wrap="square" lIns="0" tIns="0" rIns="0" bIns="0" rtlCol="0" anchor="ctr">
            <a:normAutofit/>
          </a:bodyPr>
          <a:lstStyle/>
          <a:p>
            <a:pPr algn="ctr" indent="0" marL="0">
              <a:buNone/>
            </a:pPr>
            <a:r>
              <a:rPr lang="en-US" sz="1010" b="1" dirty="0">
                <a:solidFill>
                  <a:srgbClr val="2863EB"/>
                </a:solidFill>
                <a:latin typeface="Inter" pitchFamily="34" charset="0"/>
                <a:ea typeface="Inter" pitchFamily="34" charset="-122"/>
                <a:cs typeface="Inter" pitchFamily="34" charset="-120"/>
              </a:rPr>
              <a:t>Human decision authority</a:t>
            </a:r>
            <a:endParaRPr lang="en-US" sz="1010" dirty="0"/>
          </a:p>
        </p:txBody>
      </p:sp>
      <p:sp>
        <p:nvSpPr>
          <p:cNvPr id="25" name="Shape 23"/>
          <p:cNvSpPr/>
          <p:nvPr/>
        </p:nvSpPr>
        <p:spPr>
          <a:xfrm>
            <a:off x="5916168" y="4059936"/>
            <a:ext cx="0" cy="667512"/>
          </a:xfrm>
          <a:prstGeom prst="line">
            <a:avLst/>
          </a:prstGeom>
          <a:noFill/>
          <a:ln w="21590">
            <a:solidFill>
              <a:srgbClr val="2863EB"/>
            </a:solidFill>
            <a:prstDash val="solid"/>
            <a:tailEnd type="triangle"/>
          </a:ln>
        </p:spPr>
      </p:sp>
      <p:sp>
        <p:nvSpPr>
          <p:cNvPr id="26" name="Shape 24"/>
          <p:cNvSpPr/>
          <p:nvPr/>
        </p:nvSpPr>
        <p:spPr>
          <a:xfrm>
            <a:off x="3913632" y="4873752"/>
            <a:ext cx="3995928" cy="923544"/>
          </a:xfrm>
          <a:prstGeom prst="rect">
            <a:avLst/>
          </a:prstGeom>
          <a:solidFill>
            <a:srgbClr val="FFFFFF"/>
          </a:solidFill>
          <a:ln w="10160">
            <a:solidFill>
              <a:srgbClr val="DCE3EC"/>
            </a:solidFill>
            <a:prstDash val="solid"/>
          </a:ln>
        </p:spPr>
      </p:sp>
      <p:sp>
        <p:nvSpPr>
          <p:cNvPr id="27" name="Text 25"/>
          <p:cNvSpPr/>
          <p:nvPr/>
        </p:nvSpPr>
        <p:spPr>
          <a:xfrm>
            <a:off x="4160520" y="5020056"/>
            <a:ext cx="3529584" cy="256032"/>
          </a:xfrm>
          <a:prstGeom prst="rect">
            <a:avLst/>
          </a:prstGeom>
          <a:noFill/>
          <a:ln/>
        </p:spPr>
        <p:txBody>
          <a:bodyPr wrap="square" lIns="0" tIns="0" rIns="0" bIns="0" rtlCol="0" anchor="ctr">
            <a:normAutofit/>
          </a:bodyPr>
          <a:lstStyle/>
          <a:p>
            <a:pPr indent="0" marL="0">
              <a:buNone/>
            </a:pPr>
            <a:r>
              <a:rPr lang="en-US" sz="1800" b="1" dirty="0">
                <a:solidFill>
                  <a:srgbClr val="131C29"/>
                </a:solidFill>
                <a:latin typeface="Inter" pitchFamily="34" charset="0"/>
                <a:ea typeface="Inter" pitchFamily="34" charset="-122"/>
                <a:cs typeface="Inter" pitchFamily="34" charset="-120"/>
              </a:rPr>
              <a:t>Temporal workflow</a:t>
            </a:r>
            <a:endParaRPr lang="en-US" sz="1800" dirty="0"/>
          </a:p>
        </p:txBody>
      </p:sp>
      <p:sp>
        <p:nvSpPr>
          <p:cNvPr id="28" name="Text 26"/>
          <p:cNvSpPr/>
          <p:nvPr/>
        </p:nvSpPr>
        <p:spPr>
          <a:xfrm>
            <a:off x="4160520" y="5422392"/>
            <a:ext cx="3529584" cy="228600"/>
          </a:xfrm>
          <a:prstGeom prst="rect">
            <a:avLst/>
          </a:prstGeom>
          <a:noFill/>
          <a:ln/>
        </p:spPr>
        <p:txBody>
          <a:bodyPr wrap="square" lIns="0" tIns="0" rIns="0" bIns="0" rtlCol="0" anchor="ctr">
            <a:normAutofit/>
          </a:bodyPr>
          <a:lstStyle/>
          <a:p>
            <a:pPr indent="0" marL="0">
              <a:buNone/>
            </a:pPr>
            <a:r>
              <a:rPr lang="en-US" sz="1240" dirty="0">
                <a:solidFill>
                  <a:srgbClr val="596779"/>
                </a:solidFill>
                <a:latin typeface="Inter" pitchFamily="34" charset="0"/>
                <a:ea typeface="Inter" pitchFamily="34" charset="-122"/>
                <a:cs typeface="Inter" pitchFamily="34" charset="-120"/>
              </a:rPr>
              <a:t>Bounded AI tasks + optional research</a:t>
            </a:r>
            <a:endParaRPr lang="en-US" sz="1240" dirty="0"/>
          </a:p>
        </p:txBody>
      </p:sp>
      <p:sp>
        <p:nvSpPr>
          <p:cNvPr id="29" name="Shape 27"/>
          <p:cNvSpPr/>
          <p:nvPr/>
        </p:nvSpPr>
        <p:spPr>
          <a:xfrm>
            <a:off x="8595360" y="4873752"/>
            <a:ext cx="2944368" cy="923544"/>
          </a:xfrm>
          <a:prstGeom prst="rect">
            <a:avLst/>
          </a:prstGeom>
          <a:solidFill>
            <a:srgbClr val="FFFFFF"/>
          </a:solidFill>
          <a:ln w="10160">
            <a:solidFill>
              <a:srgbClr val="DCE3EC"/>
            </a:solidFill>
            <a:prstDash val="solid"/>
          </a:ln>
        </p:spPr>
      </p:sp>
      <p:sp>
        <p:nvSpPr>
          <p:cNvPr id="30" name="Text 28"/>
          <p:cNvSpPr/>
          <p:nvPr/>
        </p:nvSpPr>
        <p:spPr>
          <a:xfrm>
            <a:off x="8833104" y="5020056"/>
            <a:ext cx="2478024" cy="256032"/>
          </a:xfrm>
          <a:prstGeom prst="rect">
            <a:avLst/>
          </a:prstGeom>
          <a:noFill/>
          <a:ln/>
        </p:spPr>
        <p:txBody>
          <a:bodyPr wrap="square" lIns="0" tIns="0" rIns="0" bIns="0" rtlCol="0" anchor="ctr">
            <a:normAutofit/>
          </a:bodyPr>
          <a:lstStyle/>
          <a:p>
            <a:pPr indent="0" marL="0">
              <a:buNone/>
            </a:pPr>
            <a:r>
              <a:rPr lang="en-US" sz="1700" b="1" dirty="0">
                <a:solidFill>
                  <a:srgbClr val="131C29"/>
                </a:solidFill>
                <a:latin typeface="Inter" pitchFamily="34" charset="0"/>
                <a:ea typeface="Inter" pitchFamily="34" charset="-122"/>
                <a:cs typeface="Inter" pitchFamily="34" charset="-120"/>
              </a:rPr>
              <a:t>Renderer interface</a:t>
            </a:r>
            <a:endParaRPr lang="en-US" sz="1700" dirty="0"/>
          </a:p>
        </p:txBody>
      </p:sp>
      <p:sp>
        <p:nvSpPr>
          <p:cNvPr id="31" name="Text 29"/>
          <p:cNvSpPr/>
          <p:nvPr/>
        </p:nvSpPr>
        <p:spPr>
          <a:xfrm>
            <a:off x="8833104" y="5422392"/>
            <a:ext cx="2478024" cy="228600"/>
          </a:xfrm>
          <a:prstGeom prst="rect">
            <a:avLst/>
          </a:prstGeom>
          <a:noFill/>
          <a:ln/>
        </p:spPr>
        <p:txBody>
          <a:bodyPr wrap="square" lIns="0" tIns="0" rIns="0" bIns="0" rtlCol="0" anchor="ctr">
            <a:normAutofit/>
          </a:bodyPr>
          <a:lstStyle/>
          <a:p>
            <a:pPr indent="0" marL="0">
              <a:buNone/>
            </a:pPr>
            <a:r>
              <a:rPr lang="en-US" sz="1050" dirty="0">
                <a:solidFill>
                  <a:srgbClr val="596779"/>
                </a:solidFill>
                <a:latin typeface="Inter" pitchFamily="34" charset="0"/>
                <a:ea typeface="Inter" pitchFamily="34" charset="-122"/>
                <a:cs typeface="Inter" pitchFamily="34" charset="-120"/>
              </a:rPr>
              <a:t>Separate, version-bound integration</a:t>
            </a:r>
            <a:endParaRPr lang="en-US" sz="1050" dirty="0"/>
          </a:p>
        </p:txBody>
      </p:sp>
      <p:sp>
        <p:nvSpPr>
          <p:cNvPr id="32" name="Shape 30"/>
          <p:cNvSpPr/>
          <p:nvPr/>
        </p:nvSpPr>
        <p:spPr>
          <a:xfrm>
            <a:off x="7964424" y="5340096"/>
            <a:ext cx="502920" cy="0"/>
          </a:xfrm>
          <a:prstGeom prst="line">
            <a:avLst/>
          </a:prstGeom>
          <a:noFill/>
          <a:ln w="21590">
            <a:solidFill>
              <a:srgbClr val="2863EB"/>
            </a:solidFill>
            <a:prstDash val="solid"/>
            <a:tailEnd type="triangle"/>
          </a:ln>
        </p:spPr>
      </p:sp>
      <p:sp>
        <p:nvSpPr>
          <p:cNvPr id="33" name="Text 31"/>
          <p:cNvSpPr/>
          <p:nvPr/>
        </p:nvSpPr>
        <p:spPr>
          <a:xfrm>
            <a:off x="658368" y="6099048"/>
            <a:ext cx="10954512" cy="182880"/>
          </a:xfrm>
          <a:prstGeom prst="rect">
            <a:avLst/>
          </a:prstGeom>
          <a:noFill/>
          <a:ln/>
        </p:spPr>
        <p:txBody>
          <a:bodyPr wrap="square" lIns="0" tIns="0" rIns="0" bIns="0" rtlCol="0" anchor="ctr">
            <a:normAutofit/>
          </a:bodyPr>
          <a:lstStyle/>
          <a:p>
            <a:pPr indent="0" marL="0">
              <a:buNone/>
            </a:pPr>
            <a:r>
              <a:rPr lang="en-US" sz="1060" dirty="0">
                <a:solidFill>
                  <a:srgbClr val="596779"/>
                </a:solidFill>
                <a:latin typeface="Inter" pitchFamily="34" charset="0"/>
                <a:ea typeface="Inter" pitchFamily="34" charset="-122"/>
                <a:cs typeface="Inter" pitchFamily="34" charset="-120"/>
              </a:rPr>
              <a:t>Foundation is present in the repository; end-to-end analysis and renderer integration remain staged.</a:t>
            </a:r>
            <a:endParaRPr lang="en-US" sz="10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131C29"/>
                </a:solidFill>
                <a:latin typeface="Inter" pitchFamily="34" charset="0"/>
                <a:ea typeface="Inter" pitchFamily="34" charset="-122"/>
                <a:cs typeface="Inter" pitchFamily="34" charset="-120"/>
              </a:rPr>
              <a:t>FWD</a:t>
            </a:r>
            <a:endParaRPr lang="en-US" sz="1500" dirty="0"/>
          </a:p>
        </p:txBody>
      </p:sp>
      <p:sp>
        <p:nvSpPr>
          <p:cNvPr id="3" name="Shape 1"/>
          <p:cNvSpPr/>
          <p:nvPr/>
        </p:nvSpPr>
        <p:spPr>
          <a:xfrm>
            <a:off x="1280160" y="228600"/>
            <a:ext cx="100584" cy="219456"/>
          </a:xfrm>
          <a:prstGeom prst="line">
            <a:avLst/>
          </a:prstGeom>
          <a:noFill/>
          <a:ln w="35560">
            <a:solidFill>
              <a:srgbClr val="2863EB"/>
            </a:solidFill>
            <a:prstDash val="solid"/>
          </a:ln>
        </p:spPr>
      </p:sp>
      <p:sp>
        <p:nvSpPr>
          <p:cNvPr id="4" name="Shape 2"/>
          <p:cNvSpPr/>
          <p:nvPr/>
        </p:nvSpPr>
        <p:spPr>
          <a:xfrm>
            <a:off x="1408176" y="228600"/>
            <a:ext cx="100584" cy="219456"/>
          </a:xfrm>
          <a:prstGeom prst="line">
            <a:avLst/>
          </a:prstGeom>
          <a:noFill/>
          <a:ln w="35560">
            <a:solidFill>
              <a:srgbClr val="2863EB"/>
            </a:solidFill>
            <a:prstDash val="solid"/>
          </a:ln>
        </p:spPr>
      </p:sp>
      <p:sp>
        <p:nvSpPr>
          <p:cNvPr id="5"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596779"/>
                </a:solidFill>
                <a:latin typeface="Inter" pitchFamily="34" charset="0"/>
                <a:ea typeface="Inter" pitchFamily="34" charset="-122"/>
                <a:cs typeface="Inter" pitchFamily="34" charset="-120"/>
              </a:rPr>
              <a:t>AI VEHICLE REQUIREMENTS LAB</a:t>
            </a:r>
            <a:endParaRPr lang="en-US" sz="940" dirty="0"/>
          </a:p>
        </p:txBody>
      </p:sp>
      <p:sp>
        <p:nvSpPr>
          <p:cNvPr id="6" name="Text 4"/>
          <p:cNvSpPr/>
          <p:nvPr/>
        </p:nvSpPr>
        <p:spPr>
          <a:xfrm>
            <a:off x="548640" y="740664"/>
            <a:ext cx="10972800" cy="201168"/>
          </a:xfrm>
          <a:prstGeom prst="rect">
            <a:avLst/>
          </a:prstGeom>
          <a:noFill/>
          <a:ln/>
        </p:spPr>
        <p:txBody>
          <a:bodyPr wrap="square" lIns="0" tIns="0" rIns="0" bIns="0" rtlCol="0" anchor="ctr">
            <a:normAutofit/>
          </a:bodyPr>
          <a:lstStyle/>
          <a:p>
            <a:pPr indent="0" marL="0">
              <a:buNone/>
            </a:pPr>
            <a:r>
              <a:rPr lang="en-US" sz="1070" b="1" spc="150" kern="0" dirty="0">
                <a:solidFill>
                  <a:srgbClr val="2863EB"/>
                </a:solidFill>
                <a:latin typeface="Inter" pitchFamily="34" charset="0"/>
                <a:ea typeface="Inter" pitchFamily="34" charset="-122"/>
                <a:cs typeface="Inter" pitchFamily="34" charset="-120"/>
              </a:rPr>
              <a:t>PROTOTYPE STATUS AND DEMO GATE</a:t>
            </a:r>
            <a:endParaRPr lang="en-US" sz="1070" dirty="0"/>
          </a:p>
        </p:txBody>
      </p:sp>
      <p:sp>
        <p:nvSpPr>
          <p:cNvPr id="7" name="Text 5"/>
          <p:cNvSpPr/>
          <p:nvPr/>
        </p:nvSpPr>
        <p:spPr>
          <a:xfrm>
            <a:off x="548640" y="1042416"/>
            <a:ext cx="11064240" cy="594360"/>
          </a:xfrm>
          <a:prstGeom prst="rect">
            <a:avLst/>
          </a:prstGeom>
          <a:noFill/>
          <a:ln/>
        </p:spPr>
        <p:txBody>
          <a:bodyPr wrap="square" lIns="0" tIns="0" rIns="0" bIns="0" rtlCol="0" anchor="ctr">
            <a:normAutofit/>
          </a:bodyPr>
          <a:lstStyle/>
          <a:p>
            <a:pPr indent="0" marL="0">
              <a:buNone/>
            </a:pPr>
            <a:r>
              <a:rPr lang="en-US" sz="3300" b="1" dirty="0">
                <a:solidFill>
                  <a:srgbClr val="131C29"/>
                </a:solidFill>
                <a:latin typeface="Inter" pitchFamily="34" charset="0"/>
                <a:ea typeface="Inter" pitchFamily="34" charset="-122"/>
                <a:cs typeface="Inter" pitchFamily="34" charset="-120"/>
              </a:rPr>
              <a:t>The prototype today. The proof point next.</a:t>
            </a:r>
            <a:endParaRPr lang="en-US" sz="3300" dirty="0"/>
          </a:p>
        </p:txBody>
      </p:sp>
      <p:sp>
        <p:nvSpPr>
          <p:cNvPr id="8" name="Text 6"/>
          <p:cNvSpPr/>
          <p:nvPr/>
        </p:nvSpPr>
        <p:spPr>
          <a:xfrm>
            <a:off x="557784" y="1755648"/>
            <a:ext cx="10972800" cy="438912"/>
          </a:xfrm>
          <a:prstGeom prst="rect">
            <a:avLst/>
          </a:prstGeom>
          <a:noFill/>
          <a:ln/>
        </p:spPr>
        <p:txBody>
          <a:bodyPr wrap="square" lIns="0" tIns="0" rIns="0" bIns="0" rtlCol="0" anchor="ctr">
            <a:normAutofit/>
          </a:bodyPr>
          <a:lstStyle/>
          <a:p>
            <a:pPr indent="0" marL="0">
              <a:buNone/>
            </a:pPr>
            <a:r>
              <a:rPr lang="en-US" sz="1650" dirty="0">
                <a:solidFill>
                  <a:srgbClr val="596779"/>
                </a:solidFill>
                <a:latin typeface="Inter" pitchFamily="34" charset="0"/>
                <a:ea typeface="Inter" pitchFamily="34" charset="-122"/>
                <a:cs typeface="Inter" pitchFamily="34" charset="-120"/>
              </a:rPr>
              <a:t>Repository snapshot: 10 October 2026 • branch work is not the same as live integration.</a:t>
            </a:r>
            <a:endParaRPr lang="en-US" sz="1650" dirty="0"/>
          </a:p>
        </p:txBody>
      </p:sp>
      <p:sp>
        <p:nvSpPr>
          <p:cNvPr id="9" name="Shape 7"/>
          <p:cNvSpPr/>
          <p:nvPr/>
        </p:nvSpPr>
        <p:spPr>
          <a:xfrm>
            <a:off x="548640" y="6409944"/>
            <a:ext cx="11091672" cy="0"/>
          </a:xfrm>
          <a:prstGeom prst="line">
            <a:avLst/>
          </a:prstGeom>
          <a:noFill/>
          <a:ln w="9525">
            <a:solidFill>
              <a:srgbClr val="DCE3EC"/>
            </a:solidFill>
            <a:prstDash val="solid"/>
          </a:ln>
        </p:spPr>
      </p:sp>
      <p:sp>
        <p:nvSpPr>
          <p:cNvPr id="10" name="Text 8"/>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596779"/>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11" name="Text 9"/>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596779"/>
                </a:solidFill>
                <a:latin typeface="Inter" pitchFamily="34" charset="0"/>
                <a:ea typeface="Inter" pitchFamily="34" charset="-122"/>
                <a:cs typeface="Inter" pitchFamily="34" charset="-120"/>
              </a:rPr>
              <a:t>13 / 14</a:t>
            </a:r>
            <a:endParaRPr lang="en-US" sz="890" dirty="0"/>
          </a:p>
        </p:txBody>
      </p:sp>
      <p:sp>
        <p:nvSpPr>
          <p:cNvPr id="12" name="Text 10"/>
          <p:cNvSpPr/>
          <p:nvPr/>
        </p:nvSpPr>
        <p:spPr>
          <a:xfrm>
            <a:off x="667512" y="2578608"/>
            <a:ext cx="5010912" cy="228600"/>
          </a:xfrm>
          <a:prstGeom prst="rect">
            <a:avLst/>
          </a:prstGeom>
          <a:noFill/>
          <a:ln/>
        </p:spPr>
        <p:txBody>
          <a:bodyPr wrap="square" lIns="0" tIns="0" rIns="0" bIns="0" rtlCol="0" anchor="ctr">
            <a:normAutofit/>
          </a:bodyPr>
          <a:lstStyle/>
          <a:p>
            <a:pPr indent="0" marL="0">
              <a:buNone/>
            </a:pPr>
            <a:r>
              <a:rPr lang="en-US" sz="1080" b="1" spc="70" kern="0" dirty="0">
                <a:solidFill>
                  <a:srgbClr val="2863EB"/>
                </a:solidFill>
                <a:latin typeface="Inter" pitchFamily="34" charset="0"/>
                <a:ea typeface="Inter" pitchFamily="34" charset="-122"/>
                <a:cs typeface="Inter" pitchFamily="34" charset="-120"/>
              </a:rPr>
              <a:t>FRONTEND FEATURE BRANCHES</a:t>
            </a:r>
            <a:endParaRPr lang="en-US" sz="1080" dirty="0"/>
          </a:p>
        </p:txBody>
      </p:sp>
      <p:sp>
        <p:nvSpPr>
          <p:cNvPr id="13" name="Text 11"/>
          <p:cNvSpPr/>
          <p:nvPr/>
        </p:nvSpPr>
        <p:spPr>
          <a:xfrm>
            <a:off x="667512" y="2980944"/>
            <a:ext cx="5074920" cy="420624"/>
          </a:xfrm>
          <a:prstGeom prst="rect">
            <a:avLst/>
          </a:prstGeom>
          <a:noFill/>
          <a:ln/>
        </p:spPr>
        <p:txBody>
          <a:bodyPr wrap="square" lIns="0" tIns="0" rIns="0" bIns="0" rtlCol="0" anchor="ctr">
            <a:normAutofit/>
          </a:bodyPr>
          <a:lstStyle/>
          <a:p>
            <a:pPr indent="0" marL="0">
              <a:buNone/>
            </a:pPr>
            <a:r>
              <a:rPr lang="en-US" sz="2300" b="1" dirty="0">
                <a:solidFill>
                  <a:srgbClr val="131C29"/>
                </a:solidFill>
                <a:latin typeface="Inter" pitchFamily="34" charset="0"/>
                <a:ea typeface="Inter" pitchFamily="34" charset="-122"/>
                <a:cs typeface="Inter" pitchFamily="34" charset="-120"/>
              </a:rPr>
              <a:t>Vehicle workspace + PM interactions</a:t>
            </a:r>
            <a:endParaRPr lang="en-US" sz="2300" dirty="0"/>
          </a:p>
        </p:txBody>
      </p:sp>
      <p:sp>
        <p:nvSpPr>
          <p:cNvPr id="14" name="Text 12"/>
          <p:cNvSpPr/>
          <p:nvPr/>
        </p:nvSpPr>
        <p:spPr>
          <a:xfrm>
            <a:off x="667512" y="3584448"/>
            <a:ext cx="4937760" cy="630936"/>
          </a:xfrm>
          <a:prstGeom prst="rect">
            <a:avLst/>
          </a:prstGeom>
          <a:noFill/>
          <a:ln/>
        </p:spPr>
        <p:txBody>
          <a:bodyPr wrap="square" lIns="0" tIns="0" rIns="0" bIns="0" rtlCol="0" anchor="ctr">
            <a:normAutofit/>
          </a:bodyPr>
          <a:lstStyle/>
          <a:p>
            <a:pPr indent="0" marL="0">
              <a:buNone/>
            </a:pPr>
            <a:r>
              <a:rPr lang="en-US" sz="1610" dirty="0">
                <a:solidFill>
                  <a:srgbClr val="596779"/>
                </a:solidFill>
                <a:latin typeface="Inter" pitchFamily="34" charset="0"/>
                <a:ea typeface="Inter" pitchFamily="34" charset="-122"/>
                <a:cs typeface="Inter" pitchFamily="34" charset="-120"/>
              </a:rPr>
              <a:t>Evidence panels, versions and render states</a:t>
            </a:r>
            <a:endParaRPr lang="en-US" sz="1610" dirty="0"/>
          </a:p>
          <a:p>
            <a:pPr indent="0" marL="0">
              <a:buNone/>
            </a:pPr>
            <a:r>
              <a:rPr lang="en-US" sz="1610" dirty="0">
                <a:solidFill>
                  <a:srgbClr val="596779"/>
                </a:solidFill>
                <a:latin typeface="Inter" pitchFamily="34" charset="0"/>
                <a:ea typeface="Inter" pitchFamily="34" charset="-122"/>
                <a:cs typeface="Inter" pitchFamily="34" charset="-120"/>
              </a:rPr>
              <a:t>exercised with synthetic fixtures.</a:t>
            </a:r>
            <a:endParaRPr lang="en-US" sz="1610" dirty="0"/>
          </a:p>
        </p:txBody>
      </p:sp>
      <p:sp>
        <p:nvSpPr>
          <p:cNvPr id="15" name="Shape 13"/>
          <p:cNvSpPr/>
          <p:nvPr/>
        </p:nvSpPr>
        <p:spPr>
          <a:xfrm>
            <a:off x="667512" y="4462272"/>
            <a:ext cx="5020056" cy="0"/>
          </a:xfrm>
          <a:prstGeom prst="line">
            <a:avLst/>
          </a:prstGeom>
          <a:noFill/>
          <a:ln w="12700">
            <a:solidFill>
              <a:srgbClr val="DCE3EC"/>
            </a:solidFill>
            <a:prstDash val="solid"/>
          </a:ln>
        </p:spPr>
      </p:sp>
      <p:sp>
        <p:nvSpPr>
          <p:cNvPr id="16" name="Text 14"/>
          <p:cNvSpPr/>
          <p:nvPr/>
        </p:nvSpPr>
        <p:spPr>
          <a:xfrm>
            <a:off x="667512" y="4700016"/>
            <a:ext cx="5010912" cy="228600"/>
          </a:xfrm>
          <a:prstGeom prst="rect">
            <a:avLst/>
          </a:prstGeom>
          <a:noFill/>
          <a:ln/>
        </p:spPr>
        <p:txBody>
          <a:bodyPr wrap="square" lIns="0" tIns="0" rIns="0" bIns="0" rtlCol="0" anchor="ctr">
            <a:normAutofit/>
          </a:bodyPr>
          <a:lstStyle/>
          <a:p>
            <a:pPr indent="0" marL="0">
              <a:buNone/>
            </a:pPr>
            <a:r>
              <a:rPr lang="en-US" sz="1080" b="1" spc="70" kern="0" dirty="0">
                <a:solidFill>
                  <a:srgbClr val="2863EB"/>
                </a:solidFill>
                <a:latin typeface="Inter" pitchFamily="34" charset="0"/>
                <a:ea typeface="Inter" pitchFamily="34" charset="-122"/>
                <a:cs typeface="Inter" pitchFamily="34" charset="-120"/>
              </a:rPr>
              <a:t>BACKEND FOUNDATION</a:t>
            </a:r>
            <a:endParaRPr lang="en-US" sz="1080" dirty="0"/>
          </a:p>
        </p:txBody>
      </p:sp>
      <p:sp>
        <p:nvSpPr>
          <p:cNvPr id="17" name="Text 15"/>
          <p:cNvSpPr/>
          <p:nvPr/>
        </p:nvSpPr>
        <p:spPr>
          <a:xfrm>
            <a:off x="667512" y="5120640"/>
            <a:ext cx="5074920" cy="393192"/>
          </a:xfrm>
          <a:prstGeom prst="rect">
            <a:avLst/>
          </a:prstGeom>
          <a:noFill/>
          <a:ln/>
        </p:spPr>
        <p:txBody>
          <a:bodyPr wrap="square" lIns="0" tIns="0" rIns="0" bIns="0" rtlCol="0" anchor="ctr">
            <a:normAutofit/>
          </a:bodyPr>
          <a:lstStyle/>
          <a:p>
            <a:pPr indent="0" marL="0">
              <a:buNone/>
            </a:pPr>
            <a:r>
              <a:rPr lang="en-US" sz="2170" b="1" dirty="0">
                <a:solidFill>
                  <a:srgbClr val="131C29"/>
                </a:solidFill>
                <a:latin typeface="Inter" pitchFamily="34" charset="0"/>
                <a:ea typeface="Inter" pitchFamily="34" charset="-122"/>
                <a:cs typeface="Inter" pitchFamily="34" charset="-120"/>
              </a:rPr>
              <a:t>API, persistence + durable execution</a:t>
            </a:r>
            <a:endParaRPr lang="en-US" sz="2170" dirty="0"/>
          </a:p>
        </p:txBody>
      </p:sp>
      <p:sp>
        <p:nvSpPr>
          <p:cNvPr id="18" name="Text 16"/>
          <p:cNvSpPr/>
          <p:nvPr/>
        </p:nvSpPr>
        <p:spPr>
          <a:xfrm>
            <a:off x="667512" y="5678424"/>
            <a:ext cx="5010912" cy="301752"/>
          </a:xfrm>
          <a:prstGeom prst="rect">
            <a:avLst/>
          </a:prstGeom>
          <a:noFill/>
          <a:ln/>
        </p:spPr>
        <p:txBody>
          <a:bodyPr wrap="square" lIns="0" tIns="0" rIns="0" bIns="0" rtlCol="0" anchor="ctr">
            <a:normAutofit/>
          </a:bodyPr>
          <a:lstStyle/>
          <a:p>
            <a:pPr indent="0" marL="0">
              <a:buNone/>
            </a:pPr>
            <a:r>
              <a:rPr lang="en-US" sz="1350" dirty="0">
                <a:solidFill>
                  <a:srgbClr val="596779"/>
                </a:solidFill>
                <a:latin typeface="Inter" pitchFamily="34" charset="0"/>
                <a:ea typeface="Inter" pitchFamily="34" charset="-122"/>
                <a:cs typeface="Inter" pitchFamily="34" charset="-120"/>
              </a:rPr>
              <a:t>Ingestion and downstream analysis remain staged.</a:t>
            </a:r>
            <a:endParaRPr lang="en-US" sz="1350" dirty="0"/>
          </a:p>
        </p:txBody>
      </p:sp>
      <p:sp>
        <p:nvSpPr>
          <p:cNvPr id="19" name="Shape 17"/>
          <p:cNvSpPr/>
          <p:nvPr/>
        </p:nvSpPr>
        <p:spPr>
          <a:xfrm>
            <a:off x="6382512" y="2560320"/>
            <a:ext cx="5129784" cy="3383280"/>
          </a:xfrm>
          <a:prstGeom prst="rect">
            <a:avLst/>
          </a:prstGeom>
          <a:solidFill>
            <a:srgbClr val="131C29"/>
          </a:solidFill>
          <a:ln w="12700">
            <a:solidFill>
              <a:srgbClr val="131C29"/>
            </a:solidFill>
            <a:prstDash val="solid"/>
          </a:ln>
        </p:spPr>
      </p:sp>
      <p:sp>
        <p:nvSpPr>
          <p:cNvPr id="20" name="Text 18"/>
          <p:cNvSpPr/>
          <p:nvPr/>
        </p:nvSpPr>
        <p:spPr>
          <a:xfrm>
            <a:off x="6665976" y="2852928"/>
            <a:ext cx="4553712" cy="384048"/>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Inter" pitchFamily="34" charset="0"/>
                <a:ea typeface="Inter" pitchFamily="34" charset="-122"/>
                <a:cs typeface="Inter" pitchFamily="34" charset="-120"/>
              </a:rPr>
              <a:t>Next integration proof</a:t>
            </a:r>
            <a:endParaRPr lang="en-US" sz="2400" dirty="0"/>
          </a:p>
        </p:txBody>
      </p:sp>
      <p:sp>
        <p:nvSpPr>
          <p:cNvPr id="21" name="Text 19"/>
          <p:cNvSpPr/>
          <p:nvPr/>
        </p:nvSpPr>
        <p:spPr>
          <a:xfrm>
            <a:off x="6675120" y="3474720"/>
            <a:ext cx="4526280" cy="329184"/>
          </a:xfrm>
          <a:prstGeom prst="rect">
            <a:avLst/>
          </a:prstGeom>
          <a:noFill/>
          <a:ln/>
        </p:spPr>
        <p:txBody>
          <a:bodyPr wrap="square" lIns="0" tIns="0" rIns="0" bIns="0" rtlCol="0" anchor="ctr">
            <a:normAutofit/>
          </a:bodyPr>
          <a:lstStyle/>
          <a:p>
            <a:pPr indent="0" marL="0">
              <a:buNone/>
            </a:pPr>
            <a:r>
              <a:rPr lang="en-US" sz="1650" dirty="0">
                <a:solidFill>
                  <a:srgbClr val="D7E0ED"/>
                </a:solidFill>
                <a:latin typeface="Inter" pitchFamily="34" charset="0"/>
                <a:ea typeface="Inter" pitchFamily="34" charset="-122"/>
                <a:cs typeface="Inter" pitchFamily="34" charset="-120"/>
              </a:rPr>
              <a:t>One derivative. One supported market.</a:t>
            </a:r>
            <a:endParaRPr lang="en-US" sz="1650" dirty="0"/>
          </a:p>
        </p:txBody>
      </p:sp>
      <p:sp>
        <p:nvSpPr>
          <p:cNvPr id="22" name="Shape 20"/>
          <p:cNvSpPr/>
          <p:nvPr/>
        </p:nvSpPr>
        <p:spPr>
          <a:xfrm>
            <a:off x="6711696" y="4142232"/>
            <a:ext cx="82296" cy="82296"/>
          </a:xfrm>
          <a:prstGeom prst="ellipse">
            <a:avLst/>
          </a:prstGeom>
          <a:solidFill>
            <a:srgbClr val="6C96FF"/>
          </a:solidFill>
          <a:ln w="12700">
            <a:solidFill>
              <a:srgbClr val="6C96FF"/>
            </a:solidFill>
            <a:prstDash val="solid"/>
          </a:ln>
        </p:spPr>
      </p:sp>
      <p:sp>
        <p:nvSpPr>
          <p:cNvPr id="23" name="Text 21"/>
          <p:cNvSpPr/>
          <p:nvPr/>
        </p:nvSpPr>
        <p:spPr>
          <a:xfrm>
            <a:off x="6949440" y="4032504"/>
            <a:ext cx="4133088" cy="338328"/>
          </a:xfrm>
          <a:prstGeom prst="rect">
            <a:avLst/>
          </a:prstGeom>
          <a:noFill/>
          <a:ln/>
        </p:spPr>
        <p:txBody>
          <a:bodyPr wrap="square" lIns="0" tIns="0" rIns="0" bIns="0" rtlCol="0" anchor="ctr">
            <a:normAutofit/>
          </a:bodyPr>
          <a:lstStyle/>
          <a:p>
            <a:pPr indent="0" marL="0">
              <a:buNone/>
            </a:pPr>
            <a:r>
              <a:rPr lang="en-US" sz="1480" dirty="0">
                <a:solidFill>
                  <a:srgbClr val="FFFFFF"/>
                </a:solidFill>
                <a:latin typeface="Inter" pitchFamily="34" charset="0"/>
                <a:ea typeface="Inter" pitchFamily="34" charset="-122"/>
                <a:cs typeface="Inter" pitchFamily="34" charset="-120"/>
              </a:rPr>
              <a:t>Real source → inspectable finding</a:t>
            </a:r>
            <a:endParaRPr lang="en-US" sz="1480" dirty="0"/>
          </a:p>
        </p:txBody>
      </p:sp>
      <p:sp>
        <p:nvSpPr>
          <p:cNvPr id="24" name="Shape 22"/>
          <p:cNvSpPr/>
          <p:nvPr/>
        </p:nvSpPr>
        <p:spPr>
          <a:xfrm>
            <a:off x="6711696" y="4645152"/>
            <a:ext cx="82296" cy="82296"/>
          </a:xfrm>
          <a:prstGeom prst="ellipse">
            <a:avLst/>
          </a:prstGeom>
          <a:solidFill>
            <a:srgbClr val="6C96FF"/>
          </a:solidFill>
          <a:ln w="12700">
            <a:solidFill>
              <a:srgbClr val="6C96FF"/>
            </a:solidFill>
            <a:prstDash val="solid"/>
          </a:ln>
        </p:spPr>
      </p:sp>
      <p:sp>
        <p:nvSpPr>
          <p:cNvPr id="25" name="Text 23"/>
          <p:cNvSpPr/>
          <p:nvPr/>
        </p:nvSpPr>
        <p:spPr>
          <a:xfrm>
            <a:off x="6949440" y="4535424"/>
            <a:ext cx="4133088" cy="338328"/>
          </a:xfrm>
          <a:prstGeom prst="rect">
            <a:avLst/>
          </a:prstGeom>
          <a:noFill/>
          <a:ln/>
        </p:spPr>
        <p:txBody>
          <a:bodyPr wrap="square" lIns="0" tIns="0" rIns="0" bIns="0" rtlCol="0" anchor="ctr">
            <a:normAutofit/>
          </a:bodyPr>
          <a:lstStyle/>
          <a:p>
            <a:pPr indent="0" marL="0">
              <a:buNone/>
            </a:pPr>
            <a:r>
              <a:rPr lang="en-US" sz="1480" dirty="0">
                <a:solidFill>
                  <a:srgbClr val="FFFFFF"/>
                </a:solidFill>
                <a:latin typeface="Inter" pitchFamily="34" charset="0"/>
                <a:ea typeface="Inter" pitchFamily="34" charset="-122"/>
                <a:cs typeface="Inter" pitchFamily="34" charset="-120"/>
              </a:rPr>
              <a:t>Requirement → priority + evidence level</a:t>
            </a:r>
            <a:endParaRPr lang="en-US" sz="1480" dirty="0"/>
          </a:p>
        </p:txBody>
      </p:sp>
      <p:sp>
        <p:nvSpPr>
          <p:cNvPr id="26" name="Shape 24"/>
          <p:cNvSpPr/>
          <p:nvPr/>
        </p:nvSpPr>
        <p:spPr>
          <a:xfrm>
            <a:off x="6711696" y="5148072"/>
            <a:ext cx="82296" cy="82296"/>
          </a:xfrm>
          <a:prstGeom prst="ellipse">
            <a:avLst/>
          </a:prstGeom>
          <a:solidFill>
            <a:srgbClr val="6C96FF"/>
          </a:solidFill>
          <a:ln w="12700">
            <a:solidFill>
              <a:srgbClr val="6C96FF"/>
            </a:solidFill>
            <a:prstDash val="solid"/>
          </a:ln>
        </p:spPr>
      </p:sp>
      <p:sp>
        <p:nvSpPr>
          <p:cNvPr id="27" name="Text 25"/>
          <p:cNvSpPr/>
          <p:nvPr/>
        </p:nvSpPr>
        <p:spPr>
          <a:xfrm>
            <a:off x="6949440" y="5038344"/>
            <a:ext cx="4133088" cy="338328"/>
          </a:xfrm>
          <a:prstGeom prst="rect">
            <a:avLst/>
          </a:prstGeom>
          <a:noFill/>
          <a:ln/>
        </p:spPr>
        <p:txBody>
          <a:bodyPr wrap="square" lIns="0" tIns="0" rIns="0" bIns="0" rtlCol="0" anchor="ctr">
            <a:normAutofit/>
          </a:bodyPr>
          <a:lstStyle/>
          <a:p>
            <a:pPr indent="0" marL="0">
              <a:buNone/>
            </a:pPr>
            <a:r>
              <a:rPr lang="en-US" sz="1480" dirty="0">
                <a:solidFill>
                  <a:srgbClr val="FFFFFF"/>
                </a:solidFill>
                <a:latin typeface="Inter" pitchFamily="34" charset="0"/>
                <a:ea typeface="Inter" pitchFamily="34" charset="-122"/>
                <a:cs typeface="Inter" pitchFamily="34" charset="-120"/>
              </a:rPr>
              <a:t>PM decision → versioned audit + export</a:t>
            </a:r>
            <a:endParaRPr lang="en-US" sz="1480" dirty="0"/>
          </a:p>
        </p:txBody>
      </p:sp>
      <p:sp>
        <p:nvSpPr>
          <p:cNvPr id="28" name="Text 26"/>
          <p:cNvSpPr/>
          <p:nvPr/>
        </p:nvSpPr>
        <p:spPr>
          <a:xfrm>
            <a:off x="685800" y="6144768"/>
            <a:ext cx="10917936" cy="164592"/>
          </a:xfrm>
          <a:prstGeom prst="rect">
            <a:avLst/>
          </a:prstGeom>
          <a:noFill/>
          <a:ln/>
        </p:spPr>
        <p:txBody>
          <a:bodyPr wrap="square" lIns="0" tIns="0" rIns="0" bIns="0" rtlCol="0" anchor="ctr">
            <a:normAutofit/>
          </a:bodyPr>
          <a:lstStyle/>
          <a:p>
            <a:pPr indent="0" marL="0">
              <a:buNone/>
            </a:pPr>
            <a:r>
              <a:rPr lang="en-US" sz="1050" dirty="0">
                <a:solidFill>
                  <a:srgbClr val="596779"/>
                </a:solidFill>
                <a:latin typeface="Inter" pitchFamily="34" charset="0"/>
                <a:ea typeface="Inter" pitchFamily="34" charset="-122"/>
                <a:cs typeface="Inter" pitchFamily="34" charset="-120"/>
              </a:rPr>
              <a:t>Live extraction, research and rendering were not end-to-end verified in this review.</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21B"/>
        </a:solidFill>
      </p:bgPr>
    </p:bg>
    <p:spTree>
      <p:nvGrpSpPr>
        <p:cNvPr id="1" name=""/>
        <p:cNvGrpSpPr/>
        <p:nvPr/>
      </p:nvGrpSpPr>
      <p:grpSpPr>
        <a:xfrm>
          <a:off x="0" y="0"/>
          <a:ext cx="0" cy="0"/>
          <a:chOff x="0" y="0"/>
          <a:chExt cx="0" cy="0"/>
        </a:xfrm>
      </p:grpSpPr>
      <p:pic>
        <p:nvPicPr>
          <p:cNvPr id="2" name="Image 0" descr="/mnt/data/fwd_rebuild/assets/cover_background.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30352" y="210312"/>
            <a:ext cx="713232" cy="27432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Inter" pitchFamily="34" charset="0"/>
                <a:ea typeface="Inter" pitchFamily="34" charset="-122"/>
                <a:cs typeface="Inter" pitchFamily="34" charset="-120"/>
              </a:rPr>
              <a:t>FWD</a:t>
            </a:r>
            <a:endParaRPr lang="en-US" sz="1500" dirty="0"/>
          </a:p>
        </p:txBody>
      </p:sp>
      <p:sp>
        <p:nvSpPr>
          <p:cNvPr id="4" name="Shape 1"/>
          <p:cNvSpPr/>
          <p:nvPr/>
        </p:nvSpPr>
        <p:spPr>
          <a:xfrm>
            <a:off x="1280160" y="228600"/>
            <a:ext cx="100584" cy="219456"/>
          </a:xfrm>
          <a:prstGeom prst="line">
            <a:avLst/>
          </a:prstGeom>
          <a:noFill/>
          <a:ln w="35560">
            <a:solidFill>
              <a:srgbClr val="2863EB"/>
            </a:solidFill>
            <a:prstDash val="solid"/>
          </a:ln>
        </p:spPr>
      </p:sp>
      <p:sp>
        <p:nvSpPr>
          <p:cNvPr id="5" name="Shape 2"/>
          <p:cNvSpPr/>
          <p:nvPr/>
        </p:nvSpPr>
        <p:spPr>
          <a:xfrm>
            <a:off x="1408176" y="228600"/>
            <a:ext cx="100584" cy="219456"/>
          </a:xfrm>
          <a:prstGeom prst="line">
            <a:avLst/>
          </a:prstGeom>
          <a:noFill/>
          <a:ln w="35560">
            <a:solidFill>
              <a:srgbClr val="2863EB"/>
            </a:solidFill>
            <a:prstDash val="solid"/>
          </a:ln>
        </p:spPr>
      </p:sp>
      <p:sp>
        <p:nvSpPr>
          <p:cNvPr id="6" name="Text 3"/>
          <p:cNvSpPr/>
          <p:nvPr/>
        </p:nvSpPr>
        <p:spPr>
          <a:xfrm>
            <a:off x="1691640" y="246888"/>
            <a:ext cx="5486400" cy="182880"/>
          </a:xfrm>
          <a:prstGeom prst="rect">
            <a:avLst/>
          </a:prstGeom>
          <a:noFill/>
          <a:ln/>
        </p:spPr>
        <p:txBody>
          <a:bodyPr wrap="square" lIns="0" tIns="0" rIns="0" bIns="0" rtlCol="0" anchor="ctr">
            <a:normAutofit/>
          </a:bodyPr>
          <a:lstStyle/>
          <a:p>
            <a:pPr indent="0" marL="0">
              <a:buNone/>
            </a:pPr>
            <a:r>
              <a:rPr lang="en-US" sz="940" spc="125" kern="0" dirty="0">
                <a:solidFill>
                  <a:srgbClr val="A9B7CB"/>
                </a:solidFill>
                <a:latin typeface="Inter" pitchFamily="34" charset="0"/>
                <a:ea typeface="Inter" pitchFamily="34" charset="-122"/>
                <a:cs typeface="Inter" pitchFamily="34" charset="-120"/>
              </a:rPr>
              <a:t>AI VEHICLE REQUIREMENTS LAB</a:t>
            </a:r>
            <a:endParaRPr lang="en-US" sz="940" dirty="0"/>
          </a:p>
        </p:txBody>
      </p:sp>
      <p:sp>
        <p:nvSpPr>
          <p:cNvPr id="7" name="Text 4"/>
          <p:cNvSpPr/>
          <p:nvPr/>
        </p:nvSpPr>
        <p:spPr>
          <a:xfrm>
            <a:off x="566928" y="1124712"/>
            <a:ext cx="10835640" cy="1207008"/>
          </a:xfrm>
          <a:prstGeom prst="rect">
            <a:avLst/>
          </a:prstGeom>
          <a:noFill/>
          <a:ln/>
        </p:spPr>
        <p:txBody>
          <a:bodyPr wrap="square" lIns="0" tIns="0" rIns="0" bIns="0" rtlCol="0" anchor="ctr">
            <a:normAutofit/>
          </a:bodyPr>
          <a:lstStyle/>
          <a:p>
            <a:pPr indent="0" marL="0">
              <a:buNone/>
            </a:pPr>
            <a:r>
              <a:rPr lang="en-US" sz="3900" b="1" dirty="0">
                <a:solidFill>
                  <a:srgbClr val="FFFFFF"/>
                </a:solidFill>
                <a:latin typeface="Inter" pitchFamily="34" charset="0"/>
                <a:ea typeface="Inter" pitchFamily="34" charset="-122"/>
                <a:cs typeface="Inter" pitchFamily="34" charset="-120"/>
              </a:rPr>
              <a:t>A requirement should come</a:t>
            </a:r>
            <a:endParaRPr lang="en-US" sz="3900" dirty="0"/>
          </a:p>
          <a:p>
            <a:pPr indent="0" marL="0">
              <a:buNone/>
            </a:pPr>
            <a:r>
              <a:rPr lang="en-US" sz="3900" b="1" dirty="0">
                <a:solidFill>
                  <a:srgbClr val="FFFFFF"/>
                </a:solidFill>
                <a:latin typeface="Inter" pitchFamily="34" charset="0"/>
                <a:ea typeface="Inter" pitchFamily="34" charset="-122"/>
                <a:cs typeface="Inter" pitchFamily="34" charset="-120"/>
              </a:rPr>
              <a:t>with its evidence.</a:t>
            </a:r>
            <a:endParaRPr lang="en-US" sz="3900" dirty="0"/>
          </a:p>
        </p:txBody>
      </p:sp>
      <p:sp>
        <p:nvSpPr>
          <p:cNvPr id="8" name="Text 5"/>
          <p:cNvSpPr/>
          <p:nvPr/>
        </p:nvSpPr>
        <p:spPr>
          <a:xfrm>
            <a:off x="630936" y="3017520"/>
            <a:ext cx="1728216" cy="301752"/>
          </a:xfrm>
          <a:prstGeom prst="rect">
            <a:avLst/>
          </a:prstGeom>
          <a:noFill/>
          <a:ln/>
        </p:spPr>
        <p:txBody>
          <a:bodyPr wrap="square" lIns="0" tIns="0" rIns="0" bIns="0" rtlCol="0" anchor="ctr">
            <a:normAutofit/>
          </a:bodyPr>
          <a:lstStyle/>
          <a:p>
            <a:pPr indent="0" marL="0">
              <a:buNone/>
            </a:pPr>
            <a:r>
              <a:rPr lang="en-US" sz="1850" b="1" dirty="0">
                <a:solidFill>
                  <a:srgbClr val="FFFFFF"/>
                </a:solidFill>
                <a:latin typeface="Inter" pitchFamily="34" charset="0"/>
                <a:ea typeface="Inter" pitchFamily="34" charset="-122"/>
                <a:cs typeface="Inter" pitchFamily="34" charset="-120"/>
              </a:rPr>
              <a:t>Understand</a:t>
            </a:r>
            <a:endParaRPr lang="en-US" sz="1850" dirty="0"/>
          </a:p>
        </p:txBody>
      </p:sp>
      <p:sp>
        <p:nvSpPr>
          <p:cNvPr id="9" name="Text 6"/>
          <p:cNvSpPr/>
          <p:nvPr/>
        </p:nvSpPr>
        <p:spPr>
          <a:xfrm>
            <a:off x="2377440" y="3035808"/>
            <a:ext cx="3264408" cy="283464"/>
          </a:xfrm>
          <a:prstGeom prst="rect">
            <a:avLst/>
          </a:prstGeom>
          <a:noFill/>
          <a:ln/>
        </p:spPr>
        <p:txBody>
          <a:bodyPr wrap="square" lIns="0" tIns="0" rIns="0" bIns="0" rtlCol="0" anchor="ctr">
            <a:normAutofit/>
          </a:bodyPr>
          <a:lstStyle/>
          <a:p>
            <a:pPr indent="0" marL="0">
              <a:buNone/>
            </a:pPr>
            <a:r>
              <a:rPr lang="en-US" sz="1550" dirty="0">
                <a:solidFill>
                  <a:srgbClr val="A7BAD3"/>
                </a:solidFill>
                <a:latin typeface="Inter" pitchFamily="34" charset="0"/>
                <a:ea typeface="Inter" pitchFamily="34" charset="-122"/>
                <a:cs typeface="Inter" pitchFamily="34" charset="-120"/>
              </a:rPr>
              <a:t>the customer need</a:t>
            </a:r>
            <a:endParaRPr lang="en-US" sz="1550" dirty="0"/>
          </a:p>
        </p:txBody>
      </p:sp>
      <p:sp>
        <p:nvSpPr>
          <p:cNvPr id="10" name="Text 7"/>
          <p:cNvSpPr/>
          <p:nvPr/>
        </p:nvSpPr>
        <p:spPr>
          <a:xfrm>
            <a:off x="630936" y="3529584"/>
            <a:ext cx="1728216" cy="301752"/>
          </a:xfrm>
          <a:prstGeom prst="rect">
            <a:avLst/>
          </a:prstGeom>
          <a:noFill/>
          <a:ln/>
        </p:spPr>
        <p:txBody>
          <a:bodyPr wrap="square" lIns="0" tIns="0" rIns="0" bIns="0" rtlCol="0" anchor="ctr">
            <a:normAutofit/>
          </a:bodyPr>
          <a:lstStyle/>
          <a:p>
            <a:pPr indent="0" marL="0">
              <a:buNone/>
            </a:pPr>
            <a:r>
              <a:rPr lang="en-US" sz="1850" b="1" dirty="0">
                <a:solidFill>
                  <a:srgbClr val="FFFFFF"/>
                </a:solidFill>
                <a:latin typeface="Inter" pitchFamily="34" charset="0"/>
                <a:ea typeface="Inter" pitchFamily="34" charset="-122"/>
                <a:cs typeface="Inter" pitchFamily="34" charset="-120"/>
              </a:rPr>
              <a:t>Compare</a:t>
            </a:r>
            <a:endParaRPr lang="en-US" sz="1850" dirty="0"/>
          </a:p>
        </p:txBody>
      </p:sp>
      <p:sp>
        <p:nvSpPr>
          <p:cNvPr id="11" name="Text 8"/>
          <p:cNvSpPr/>
          <p:nvPr/>
        </p:nvSpPr>
        <p:spPr>
          <a:xfrm>
            <a:off x="2377440" y="3547872"/>
            <a:ext cx="3264408" cy="283464"/>
          </a:xfrm>
          <a:prstGeom prst="rect">
            <a:avLst/>
          </a:prstGeom>
          <a:noFill/>
          <a:ln/>
        </p:spPr>
        <p:txBody>
          <a:bodyPr wrap="square" lIns="0" tIns="0" rIns="0" bIns="0" rtlCol="0" anchor="ctr">
            <a:normAutofit/>
          </a:bodyPr>
          <a:lstStyle/>
          <a:p>
            <a:pPr indent="0" marL="0">
              <a:buNone/>
            </a:pPr>
            <a:r>
              <a:rPr lang="en-US" sz="1550" dirty="0">
                <a:solidFill>
                  <a:srgbClr val="A7BAD3"/>
                </a:solidFill>
                <a:latin typeface="Inter" pitchFamily="34" charset="0"/>
                <a:ea typeface="Inter" pitchFamily="34" charset="-122"/>
                <a:cs typeface="Inter" pitchFamily="34" charset="-120"/>
              </a:rPr>
              <a:t>defensible alternatives</a:t>
            </a:r>
            <a:endParaRPr lang="en-US" sz="1550" dirty="0"/>
          </a:p>
        </p:txBody>
      </p:sp>
      <p:sp>
        <p:nvSpPr>
          <p:cNvPr id="12" name="Text 9"/>
          <p:cNvSpPr/>
          <p:nvPr/>
        </p:nvSpPr>
        <p:spPr>
          <a:xfrm>
            <a:off x="630936" y="4041648"/>
            <a:ext cx="1728216" cy="301752"/>
          </a:xfrm>
          <a:prstGeom prst="rect">
            <a:avLst/>
          </a:prstGeom>
          <a:noFill/>
          <a:ln/>
        </p:spPr>
        <p:txBody>
          <a:bodyPr wrap="square" lIns="0" tIns="0" rIns="0" bIns="0" rtlCol="0" anchor="ctr">
            <a:normAutofit/>
          </a:bodyPr>
          <a:lstStyle/>
          <a:p>
            <a:pPr indent="0" marL="0">
              <a:buNone/>
            </a:pPr>
            <a:r>
              <a:rPr lang="en-US" sz="1850" b="1" dirty="0">
                <a:solidFill>
                  <a:srgbClr val="FFFFFF"/>
                </a:solidFill>
                <a:latin typeface="Inter" pitchFamily="34" charset="0"/>
                <a:ea typeface="Inter" pitchFamily="34" charset="-122"/>
                <a:cs typeface="Inter" pitchFamily="34" charset="-120"/>
              </a:rPr>
              <a:t>Visualize</a:t>
            </a:r>
            <a:endParaRPr lang="en-US" sz="1850" dirty="0"/>
          </a:p>
        </p:txBody>
      </p:sp>
      <p:sp>
        <p:nvSpPr>
          <p:cNvPr id="13" name="Text 10"/>
          <p:cNvSpPr/>
          <p:nvPr/>
        </p:nvSpPr>
        <p:spPr>
          <a:xfrm>
            <a:off x="2377440" y="4059936"/>
            <a:ext cx="3264408" cy="283464"/>
          </a:xfrm>
          <a:prstGeom prst="rect">
            <a:avLst/>
          </a:prstGeom>
          <a:noFill/>
          <a:ln/>
        </p:spPr>
        <p:txBody>
          <a:bodyPr wrap="square" lIns="0" tIns="0" rIns="0" bIns="0" rtlCol="0" anchor="ctr">
            <a:normAutofit/>
          </a:bodyPr>
          <a:lstStyle/>
          <a:p>
            <a:pPr indent="0" marL="0">
              <a:buNone/>
            </a:pPr>
            <a:r>
              <a:rPr lang="en-US" sz="1550" dirty="0">
                <a:solidFill>
                  <a:srgbClr val="A7BAD3"/>
                </a:solidFill>
                <a:latin typeface="Inter" pitchFamily="34" charset="0"/>
                <a:ea typeface="Inter" pitchFamily="34" charset="-122"/>
                <a:cs typeface="Inter" pitchFamily="34" charset="-120"/>
              </a:rPr>
              <a:t>the proposed change</a:t>
            </a:r>
            <a:endParaRPr lang="en-US" sz="1550" dirty="0"/>
          </a:p>
        </p:txBody>
      </p:sp>
      <p:sp>
        <p:nvSpPr>
          <p:cNvPr id="14" name="Text 11"/>
          <p:cNvSpPr/>
          <p:nvPr/>
        </p:nvSpPr>
        <p:spPr>
          <a:xfrm>
            <a:off x="630936" y="4553712"/>
            <a:ext cx="1728216" cy="301752"/>
          </a:xfrm>
          <a:prstGeom prst="rect">
            <a:avLst/>
          </a:prstGeom>
          <a:noFill/>
          <a:ln/>
        </p:spPr>
        <p:txBody>
          <a:bodyPr wrap="square" lIns="0" tIns="0" rIns="0" bIns="0" rtlCol="0" anchor="ctr">
            <a:normAutofit/>
          </a:bodyPr>
          <a:lstStyle/>
          <a:p>
            <a:pPr indent="0" marL="0">
              <a:buNone/>
            </a:pPr>
            <a:r>
              <a:rPr lang="en-US" sz="1850" b="1" dirty="0">
                <a:solidFill>
                  <a:srgbClr val="FFFFFF"/>
                </a:solidFill>
                <a:latin typeface="Inter" pitchFamily="34" charset="0"/>
                <a:ea typeface="Inter" pitchFamily="34" charset="-122"/>
                <a:cs typeface="Inter" pitchFamily="34" charset="-120"/>
              </a:rPr>
              <a:t>Record</a:t>
            </a:r>
            <a:endParaRPr lang="en-US" sz="1850" dirty="0"/>
          </a:p>
        </p:txBody>
      </p:sp>
      <p:sp>
        <p:nvSpPr>
          <p:cNvPr id="15" name="Text 12"/>
          <p:cNvSpPr/>
          <p:nvPr/>
        </p:nvSpPr>
        <p:spPr>
          <a:xfrm>
            <a:off x="2377440" y="4572000"/>
            <a:ext cx="3264408" cy="283464"/>
          </a:xfrm>
          <a:prstGeom prst="rect">
            <a:avLst/>
          </a:prstGeom>
          <a:noFill/>
          <a:ln/>
        </p:spPr>
        <p:txBody>
          <a:bodyPr wrap="square" lIns="0" tIns="0" rIns="0" bIns="0" rtlCol="0" anchor="ctr">
            <a:normAutofit/>
          </a:bodyPr>
          <a:lstStyle/>
          <a:p>
            <a:pPr indent="0" marL="0">
              <a:buNone/>
            </a:pPr>
            <a:r>
              <a:rPr lang="en-US" sz="1550" dirty="0">
                <a:solidFill>
                  <a:srgbClr val="A7BAD3"/>
                </a:solidFill>
                <a:latin typeface="Inter" pitchFamily="34" charset="0"/>
                <a:ea typeface="Inter" pitchFamily="34" charset="-122"/>
                <a:cs typeface="Inter" pitchFamily="34" charset="-120"/>
              </a:rPr>
              <a:t>the PM decision</a:t>
            </a:r>
            <a:endParaRPr lang="en-US" sz="1550" dirty="0"/>
          </a:p>
        </p:txBody>
      </p:sp>
      <p:pic>
        <p:nvPicPr>
          <p:cNvPr id="16" name="Image 1" descr="/mnt/data/fwd_rebuild/assets/bmw_illustrative_cutout.png">    </p:cNvPr>
          <p:cNvPicPr>
            <a:picLocks noChangeAspect="1"/>
          </p:cNvPicPr>
          <p:nvPr/>
        </p:nvPicPr>
        <p:blipFill>
          <a:blip r:embed="rId2"/>
          <a:stretch>
            <a:fillRect/>
          </a:stretch>
        </p:blipFill>
        <p:spPr>
          <a:xfrm>
            <a:off x="5303520" y="2944368"/>
            <a:ext cx="6336792" cy="2997250"/>
          </a:xfrm>
          <a:prstGeom prst="rect">
            <a:avLst/>
          </a:prstGeom>
        </p:spPr>
      </p:pic>
      <p:sp>
        <p:nvSpPr>
          <p:cNvPr id="17" name="Shape 13"/>
          <p:cNvSpPr/>
          <p:nvPr/>
        </p:nvSpPr>
        <p:spPr>
          <a:xfrm>
            <a:off x="630936" y="5477256"/>
            <a:ext cx="1261872" cy="0"/>
          </a:xfrm>
          <a:prstGeom prst="line">
            <a:avLst/>
          </a:prstGeom>
          <a:noFill/>
          <a:ln w="44450">
            <a:solidFill>
              <a:srgbClr val="2863EB"/>
            </a:solidFill>
            <a:prstDash val="solid"/>
          </a:ln>
        </p:spPr>
      </p:sp>
      <p:sp>
        <p:nvSpPr>
          <p:cNvPr id="18" name="Text 14"/>
          <p:cNvSpPr/>
          <p:nvPr/>
        </p:nvSpPr>
        <p:spPr>
          <a:xfrm>
            <a:off x="630936" y="5806440"/>
            <a:ext cx="10872216" cy="301752"/>
          </a:xfrm>
          <a:prstGeom prst="rect">
            <a:avLst/>
          </a:prstGeom>
          <a:noFill/>
          <a:ln/>
        </p:spPr>
        <p:txBody>
          <a:bodyPr wrap="square" lIns="0" tIns="0" rIns="0" bIns="0" rtlCol="0" anchor="ctr">
            <a:normAutofit/>
          </a:bodyPr>
          <a:lstStyle/>
          <a:p>
            <a:pPr indent="0" marL="0">
              <a:buNone/>
            </a:pPr>
            <a:r>
              <a:rPr lang="en-US" sz="1610" dirty="0">
                <a:solidFill>
                  <a:srgbClr val="D7E0ED"/>
                </a:solidFill>
                <a:latin typeface="Inter" pitchFamily="34" charset="0"/>
                <a:ea typeface="Inter" pitchFamily="34" charset="-122"/>
                <a:cs typeface="Inter" pitchFamily="34" charset="-120"/>
              </a:rPr>
              <a:t>Next proof: one real vehicle case, one traceable requirement, one PM decision.</a:t>
            </a:r>
            <a:endParaRPr lang="en-US" sz="1610" dirty="0"/>
          </a:p>
        </p:txBody>
      </p:sp>
      <p:sp>
        <p:nvSpPr>
          <p:cNvPr id="19" name="Text 15"/>
          <p:cNvSpPr/>
          <p:nvPr/>
        </p:nvSpPr>
        <p:spPr>
          <a:xfrm>
            <a:off x="8595360" y="6245352"/>
            <a:ext cx="2999232" cy="137160"/>
          </a:xfrm>
          <a:prstGeom prst="rect">
            <a:avLst/>
          </a:prstGeom>
          <a:noFill/>
          <a:ln/>
        </p:spPr>
        <p:txBody>
          <a:bodyPr wrap="square" lIns="0" tIns="0" rIns="0" bIns="0" rtlCol="0" anchor="ctr">
            <a:normAutofit/>
          </a:bodyPr>
          <a:lstStyle/>
          <a:p>
            <a:pPr algn="r" indent="0" marL="0">
              <a:buNone/>
            </a:pPr>
            <a:r>
              <a:rPr lang="en-US" sz="800" dirty="0">
                <a:solidFill>
                  <a:srgbClr val="91A2B9"/>
                </a:solidFill>
                <a:latin typeface="Inter" pitchFamily="34" charset="0"/>
                <a:ea typeface="Inter" pitchFamily="34" charset="-122"/>
                <a:cs typeface="Inter" pitchFamily="34" charset="-120"/>
              </a:rPr>
              <a:t>BMW-inspired AI illustration</a:t>
            </a:r>
            <a:endParaRPr lang="en-US" sz="800" dirty="0"/>
          </a:p>
        </p:txBody>
      </p:sp>
      <p:sp>
        <p:nvSpPr>
          <p:cNvPr id="20" name="Shape 16"/>
          <p:cNvSpPr/>
          <p:nvPr/>
        </p:nvSpPr>
        <p:spPr>
          <a:xfrm>
            <a:off x="548640" y="6409944"/>
            <a:ext cx="11091672" cy="0"/>
          </a:xfrm>
          <a:prstGeom prst="line">
            <a:avLst/>
          </a:prstGeom>
          <a:noFill/>
          <a:ln w="9525">
            <a:solidFill>
              <a:srgbClr val="2B394B"/>
            </a:solidFill>
            <a:prstDash val="solid"/>
          </a:ln>
        </p:spPr>
      </p:sp>
      <p:sp>
        <p:nvSpPr>
          <p:cNvPr id="21" name="Text 17"/>
          <p:cNvSpPr/>
          <p:nvPr/>
        </p:nvSpPr>
        <p:spPr>
          <a:xfrm>
            <a:off x="548640" y="6510528"/>
            <a:ext cx="10424160" cy="146304"/>
          </a:xfrm>
          <a:prstGeom prst="rect">
            <a:avLst/>
          </a:prstGeom>
          <a:noFill/>
          <a:ln/>
        </p:spPr>
        <p:txBody>
          <a:bodyPr wrap="square" lIns="0" tIns="0" rIns="0" bIns="0" rtlCol="0" anchor="ctr">
            <a:normAutofit/>
          </a:bodyPr>
          <a:lstStyle/>
          <a:p>
            <a:pPr indent="0" marL="0">
              <a:buNone/>
            </a:pPr>
            <a:r>
              <a:rPr lang="en-US" sz="830" spc="48" kern="0" dirty="0">
                <a:solidFill>
                  <a:srgbClr val="90A0B7"/>
                </a:solidFill>
                <a:latin typeface="Inter" pitchFamily="34" charset="0"/>
                <a:ea typeface="Inter" pitchFamily="34" charset="-122"/>
                <a:cs typeface="Inter" pitchFamily="34" charset="-120"/>
              </a:rPr>
              <a:t>BMW VEHICLE REQUIREMENTS CHALLENGE  /  INDEPENDENT CONCEPT &amp; PROTOTYPE</a:t>
            </a:r>
            <a:endParaRPr lang="en-US" sz="830" dirty="0"/>
          </a:p>
        </p:txBody>
      </p:sp>
      <p:sp>
        <p:nvSpPr>
          <p:cNvPr id="22" name="Text 18"/>
          <p:cNvSpPr/>
          <p:nvPr/>
        </p:nvSpPr>
        <p:spPr>
          <a:xfrm>
            <a:off x="10927080" y="6510528"/>
            <a:ext cx="713232" cy="155448"/>
          </a:xfrm>
          <a:prstGeom prst="rect">
            <a:avLst/>
          </a:prstGeom>
          <a:noFill/>
          <a:ln/>
        </p:spPr>
        <p:txBody>
          <a:bodyPr wrap="square" lIns="0" tIns="0" rIns="0" bIns="0" rtlCol="0" anchor="ctr">
            <a:normAutofit/>
          </a:bodyPr>
          <a:lstStyle/>
          <a:p>
            <a:pPr algn="r" indent="0" marL="0">
              <a:buNone/>
            </a:pPr>
            <a:r>
              <a:rPr lang="en-US" sz="890" dirty="0">
                <a:solidFill>
                  <a:srgbClr val="90A0B7"/>
                </a:solidFill>
                <a:latin typeface="Inter" pitchFamily="34" charset="0"/>
                <a:ea typeface="Inter" pitchFamily="34" charset="-122"/>
                <a:cs typeface="Inter" pitchFamily="34" charset="-120"/>
              </a:rPr>
              <a:t>14 / 14</a:t>
            </a:r>
            <a:endParaRPr lang="en-US" sz="8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Independent BMW challenge submission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FWD | From customer evidence to product decisions</dc:title>
  <dc:subject>BMW hackathon concept and prototype pitch, based on repository source and branch status</dc:subject>
  <dc:creator>FWD — Vehicle Requirements AI</dc:creator>
  <cp:lastModifiedBy>FWD — Vehicle Requirements AI</cp:lastModifiedBy>
  <cp:revision>1</cp:revision>
  <dcterms:created xsi:type="dcterms:W3CDTF">2026-10-10T20:56:38Z</dcterms:created>
  <dcterms:modified xsi:type="dcterms:W3CDTF">2026-10-10T20:56:38Z</dcterms:modified>
</cp:coreProperties>
</file>