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cbe65a35b241fb" /><Relationship Type="http://schemas.openxmlformats.org/officeDocument/2006/relationships/extended-properties" Target="/docProps/app.xml" Id="Rb978322a76e947d5" /><Relationship Type="http://schemas.openxmlformats.org/officeDocument/2006/relationships/officeDocument" Target="/ppt/presentation.xml" Id="R2c7346f96df5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dd1c5fe93f427e"/>
  </p:sldMasterIdLst>
  <p:notesMasterIdLst>
    <p:notesMasterId xmlns:r="http://schemas.openxmlformats.org/officeDocument/2006/relationships" r:id="Rcc2ce93acba5493a"/>
  </p:notesMasterIdLst>
  <p:sldIdLst>
    <p:sldId xmlns:r="http://schemas.openxmlformats.org/officeDocument/2006/relationships" id="256" r:id="R01d54f53c30f445b"/>
    <p:sldId xmlns:r="http://schemas.openxmlformats.org/officeDocument/2006/relationships" id="257" r:id="R0727e3f6e778479f"/>
    <p:sldId xmlns:r="http://schemas.openxmlformats.org/officeDocument/2006/relationships" id="258" r:id="R3aa811efb0d24c8f"/>
    <p:sldId xmlns:r="http://schemas.openxmlformats.org/officeDocument/2006/relationships" id="259" r:id="R3b23435253d94489"/>
    <p:sldId xmlns:r="http://schemas.openxmlformats.org/officeDocument/2006/relationships" id="260" r:id="R80e8a2462792485c"/>
    <p:sldId xmlns:r="http://schemas.openxmlformats.org/officeDocument/2006/relationships" id="261" r:id="R659686a7505b43e9"/>
    <p:sldId xmlns:r="http://schemas.openxmlformats.org/officeDocument/2006/relationships" id="262" r:id="Rd43aa908a0924c43"/>
    <p:sldId xmlns:r="http://schemas.openxmlformats.org/officeDocument/2006/relationships" id="263" r:id="R648370e409de4a3d"/>
    <p:sldId xmlns:r="http://schemas.openxmlformats.org/officeDocument/2006/relationships" id="264" r:id="Rf5c999d2b0d7419d"/>
    <p:sldId xmlns:r="http://schemas.openxmlformats.org/officeDocument/2006/relationships" id="265" r:id="R57551ac2eeba48ef"/>
    <p:sldId xmlns:r="http://schemas.openxmlformats.org/officeDocument/2006/relationships" id="266" r:id="R08fa112435404fb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ca9a536be04b08" /><Relationship Type="http://schemas.openxmlformats.org/officeDocument/2006/relationships/slideMaster" Target="/ppt/slideMasters/slideMaster1.xml" Id="Re8dd1c5fe93f427e" /><Relationship Type="http://schemas.openxmlformats.org/officeDocument/2006/relationships/notesMaster" Target="/ppt/notesMasters/notesMaster1.xml" Id="Rcc2ce93acba5493a" /><Relationship Type="http://schemas.openxmlformats.org/officeDocument/2006/relationships/presProps" Target="/ppt/presProps.xml" Id="Rd447289b9ba941e9" /><Relationship Type="http://schemas.openxmlformats.org/officeDocument/2006/relationships/viewProps" Target="/ppt/viewProps.xml" Id="R20eebfd705024abe" /><Relationship Type="http://schemas.openxmlformats.org/officeDocument/2006/relationships/tableStyles" Target="/ppt/tableStyles.xml" Id="R9f30179fbd0f4079" /><Relationship Type="http://schemas.openxmlformats.org/officeDocument/2006/relationships/slide" Target="/ppt/slides/slide1.xml" Id="R01d54f53c30f445b" /><Relationship Type="http://schemas.openxmlformats.org/officeDocument/2006/relationships/slide" Target="/ppt/slides/slide2.xml" Id="R0727e3f6e778479f" /><Relationship Type="http://schemas.openxmlformats.org/officeDocument/2006/relationships/slide" Target="/ppt/slides/slide3.xml" Id="R3aa811efb0d24c8f" /><Relationship Type="http://schemas.openxmlformats.org/officeDocument/2006/relationships/slide" Target="/ppt/slides/slide4.xml" Id="R3b23435253d94489" /><Relationship Type="http://schemas.openxmlformats.org/officeDocument/2006/relationships/slide" Target="/ppt/slides/slide5.xml" Id="R80e8a2462792485c" /><Relationship Type="http://schemas.openxmlformats.org/officeDocument/2006/relationships/slide" Target="/ppt/slides/slide6.xml" Id="R659686a7505b43e9" /><Relationship Type="http://schemas.openxmlformats.org/officeDocument/2006/relationships/slide" Target="/ppt/slides/slide7.xml" Id="Rd43aa908a0924c43" /><Relationship Type="http://schemas.openxmlformats.org/officeDocument/2006/relationships/slide" Target="/ppt/slides/slide8.xml" Id="R648370e409de4a3d" /><Relationship Type="http://schemas.openxmlformats.org/officeDocument/2006/relationships/slide" Target="/ppt/slides/slide9.xml" Id="Rf5c999d2b0d7419d" /><Relationship Type="http://schemas.openxmlformats.org/officeDocument/2006/relationships/slide" Target="/ppt/slides/slide10.xml" Id="R57551ac2eeba48ef" /><Relationship Type="http://schemas.openxmlformats.org/officeDocument/2006/relationships/slide" Target="/ppt/slides/slide11.xml" Id="R08fa11243540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b51ea59a5a48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a1954708fb4533" /><Relationship Type="http://schemas.openxmlformats.org/officeDocument/2006/relationships/notesMaster" Target="/ppt/notesMasters/notesMaster1.xml" Id="R367bd261ece24a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27af418e3439e" /><Relationship Type="http://schemas.openxmlformats.org/officeDocument/2006/relationships/notesMaster" Target="/ppt/notesMasters/notesMaster1.xml" Id="R72c7ab5aa1ab44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d1cdfca9704f03" /><Relationship Type="http://schemas.openxmlformats.org/officeDocument/2006/relationships/notesMaster" Target="/ppt/notesMasters/notesMaster1.xml" Id="R2d81a02af2f54c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a372e735c34ddc" /><Relationship Type="http://schemas.openxmlformats.org/officeDocument/2006/relationships/notesMaster" Target="/ppt/notesMasters/notesMaster1.xml" Id="R12c35bcffb9746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7b4ba9cec84fd2" /><Relationship Type="http://schemas.openxmlformats.org/officeDocument/2006/relationships/notesMaster" Target="/ppt/notesMasters/notesMaster1.xml" Id="R1cc41522b4974b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0df8b885ae4b30" /><Relationship Type="http://schemas.openxmlformats.org/officeDocument/2006/relationships/notesMaster" Target="/ppt/notesMasters/notesMaster1.xml" Id="R1ab8b547a9cc4b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a61e4cd90c4529" /><Relationship Type="http://schemas.openxmlformats.org/officeDocument/2006/relationships/notesMaster" Target="/ppt/notesMasters/notesMaster1.xml" Id="Rac9d550bfd164b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77fff1fafb4c86" /><Relationship Type="http://schemas.openxmlformats.org/officeDocument/2006/relationships/notesMaster" Target="/ppt/notesMasters/notesMaster1.xml" Id="Rdfd75458134c45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20864714b540ad" /><Relationship Type="http://schemas.openxmlformats.org/officeDocument/2006/relationships/notesMaster" Target="/ppt/notesMasters/notesMaster1.xml" Id="Rd0e67c201a0446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9719607c604eec" /><Relationship Type="http://schemas.openxmlformats.org/officeDocument/2006/relationships/notesMaster" Target="/ppt/notesMasters/notesMaster1.xml" Id="Rb5692835a7d741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941789a4d64312" /><Relationship Type="http://schemas.openxmlformats.org/officeDocument/2006/relationships/notesMaster" Target="/ppt/notesMasters/notesMaster1.xml" Id="Ra741bc2383c64e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Introduce VehicleLense and its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18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VehicleLense helps a product manager turn customer feedback into a requirement they can inspect.</a:t>
            </a:r>
          </a:p>
          <a:p xmlns:a="http://schemas.openxmlformats.org/drawingml/2006/main">
            <a:r>
              <a:t>- The product keeps the customer source, vehicle context and decision connected.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Start with the problem: a complaint needs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Keep the opening to about 20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Explain why feedback alone does not define a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30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The same complaint can imply a missing capability, an availability gap or a usability problem.</a:t>
            </a:r>
          </a:p>
          <a:p xmlns:a="http://schemas.openxmlformats.org/drawingml/2006/main">
            <a:r>
              <a:t>- We check equipment, studies and market context before proposing a change.</a:t>
            </a:r>
          </a:p>
          <a:p xmlns:a="http://schemas.openxmlformats.org/drawingml/2006/main">
            <a:r>
              <a:t>- The chart counts unique feedback IDs in the supplied files. It measures source coverage, not customer prevalence or sentiment.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Now show the vehicle reference used to discuss a proposed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Counts verified from the ID column in Feedback_Explorer: F70 2,128; G60 4,000; G70 4,000. Repeated taxonomy rows count once. G68 has no feedback workbook in the supplied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Show the product path and let the audience inspect a 3D visual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30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The browser version embeds the same public BMW i5 M60 reference used by the frontend.</a:t>
            </a:r>
          </a:p>
          <a:p xmlns:a="http://schemas.openxmlformats.org/drawingml/2006/main">
            <a:r>
              <a:t>- Drag to rotate and use the wheel to zoom.</a:t>
            </a:r>
          </a:p>
          <a:p xmlns:a="http://schemas.openxmlformats.org/drawingml/2006/main">
            <a:r>
              <a:t>- This is a community visual reference. It does not establish exact-trim geometry, verified feedback mapping or engineering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The model supports discussion. The next slide explains how the evidence becomes a proposal.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Model: 2023 BMW i5 M60 by Nazh Design, Sketchfab, CC BY 4.0. https://sketchfab.com/3d-models/2023-bmw-i5-m60-207fd872d28b4cafa7fefe061ae98e26 . Requires internet. The PowerPoint link opens this reference in a browser, not the deployed project frontend. Awaiting the project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</a:t>
            </a:r>
          </a:p>
          <a:p xmlns:a="http://schemas.openxmlformats.org/drawingml/2006/main">
            <a:r>
              <a:t>If the viewer cannot load, use the static preview and continue. Do not describe it as renderer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Explain the five stages without technical jargon.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30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Each finding remains linked to a source location.</a:t>
            </a:r>
          </a:p>
          <a:p xmlns:a="http://schemas.openxmlformats.org/drawingml/2006/main">
            <a:r>
              <a:t>- Vehicle context helps distinguish a missing feature from a feature that is hard to find.</a:t>
            </a:r>
          </a:p>
          <a:p xmlns:a="http://schemas.openxmlformats.org/drawingml/2006/main">
            <a:r>
              <a:t>- Optional research and visual concepts support review. The PM owns the final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Use one real feedback excerpt to make the need concrete.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The diagram shows the intended evidence-to-decision workflow, not a claim that every integration path has passed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Ground the pitch in an actual source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24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Read the customer quote once.</a:t>
            </a:r>
          </a:p>
          <a:p xmlns:a="http://schemas.openxmlformats.org/drawingml/2006/main">
            <a:r>
              <a:t>- It raises a hypothesis about discoverability. It does not prove that a feature is missing.</a:t>
            </a:r>
          </a:p>
          <a:p xmlns:a="http://schemas.openxmlformats.org/drawingml/2006/main">
            <a:r>
              <a:t>- We need the current vehicle baseline and the PM's judgment to interpret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There can be more than one plausible response to that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G60_feedback_hackathon.xlsx, Feedback_Explorer, row 313, record G60-0248. Individual example, not a prevalence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Present alternatives rather than treat the first AI proposal as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24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shortcut and a physical control are candidate approaches, not approved product decisions.</a:t>
            </a:r>
          </a:p>
          <a:p xmlns:a="http://schemas.openxmlformats.org/drawingml/2006/main">
            <a:r>
              <a:t>- Compare them with what the vehicle already offers.</a:t>
            </a:r>
          </a:p>
          <a:p xmlns:a="http://schemas.openxmlformats.org/drawingml/2006/main">
            <a:r>
              <a:t>- A task-based usability test can determine whether either approach improves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Choosing a design and assigning its priority both require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Design hypotheses only. No measured time saving or verified new hardware proposal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Make the evidence gap explicit without inventing a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24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The earlier synthetic 75-to-67 walkthrough illustrates a calculation only. It is not a result for this real G60 example.</a:t>
            </a:r>
          </a:p>
          <a:p xmlns:a="http://schemas.openxmlformats.org/drawingml/2006/main">
            <a:r>
              <a:t>- The real case remains unscored because reach, baseline and impact are not established.</a:t>
            </a:r>
          </a:p>
          <a:p xmlns:a="http://schemas.openxmlformats.org/drawingml/2006/main">
            <a:r>
              <a:t>- Any weighting is a project policy, not BMW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Even before a score is defensible, the PM can inspect a clearly labeled draft.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No numeric priority is asserted for this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Show the editable review interface and the human decision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30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The interface pairs proposed wording with vehicle scope and evidence.</a:t>
            </a:r>
          </a:p>
          <a:p xmlns:a="http://schemas.openxmlformats.org/drawingml/2006/main">
            <a:r>
              <a:t>- A PM can challenge the proposal, revise it or request more validation.</a:t>
            </a:r>
          </a:p>
          <a:p xmlns:a="http://schemas.openxmlformats.org/drawingml/2006/main">
            <a:r>
              <a:t>- Changes create a new version. Decisions and exports must refer to the exact version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The next visual is a concept for discussing the proposed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Native editable interface mockup, not a screenshot of a completed live acceptance test. Supporting source examples: G60-0248 row 313 and G60-0635 row 797. Two examples do not establish prevalence.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Make the proposed access change concrete without claiming it is built.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24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This is an editable concept screen.</a:t>
            </a:r>
          </a:p>
          <a:p xmlns:a="http://schemas.openxmlformats.org/drawingml/2006/main">
            <a:r>
              <a:t>- Saved actions represent frequent tasks; their content needs validation.</a:t>
            </a:r>
          </a:p>
          <a:p xmlns:a="http://schemas.openxmlformats.org/drawingml/2006/main">
            <a:r>
              <a:t>- Current geometry proof supports a bounded front-seat resize, not this dashboard redesign.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Separate what the prototype has exercised from what the next proof must establish.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Concept only. No measured improvement or dashboard-renderer support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Report progress and the remaining proof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30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The repository documents bounded sample pipeline and API runs.</a:t>
            </a:r>
          </a:p>
          <a:p xmlns:a="http://schemas.openxmlformats.org/drawingml/2006/main">
            <a:r>
              <a:t>- The frontend and backend are combined, but this does not prove every renderer or research path.</a:t>
            </a:r>
          </a:p>
          <a:p xmlns:a="http://schemas.openxmlformats.org/drawingml/2006/main">
            <a:r>
              <a:t>- Broader research quality and a coherent real-case demonstration remain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Close with the small, specific pilot needed to test the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Status grounded in the supplied deck and repository README. Avoid presenting a community reference model as engineering-validated geometry.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Ask for the reviewer and case needed for the next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</a:t>
            </a:r>
          </a:p>
          <a:p xmlns:a="http://schemas.openxmlformats.org/drawingml/2006/main">
            <a:r>
              <a:t>24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We need one PM reviewer and one supported vehicle-market case.</a:t>
            </a:r>
          </a:p>
          <a:p xmlns:a="http://schemas.openxmlformats.org/drawingml/2006/main">
            <a:r>
              <a:t>- Choose one requirement, inspect its evidence and baseline, then record the decision.</a:t>
            </a:r>
          </a:p>
          <a:p xmlns:a="http://schemas.openxmlformats.org/drawingml/2006/main">
            <a:r>
              <a:t>- Success is a traceable reviewed decision, not a claim of production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Invite the reviewer to suggest the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/ CUE</a:t>
            </a:r>
          </a:p>
          <a:p xmlns:a="http://schemas.openxmlformats.org/drawingml/2006/main">
            <a:r>
              <a:t>Pause after the ask. Proposed pilot, not an already completed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0bf8ed19f49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bcd1395304f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0dde1543541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efcb902ed48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c584d6e784f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d35da328c4f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0530A1-CFCC-411C-9F8A-DE4FA15FFF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9BD806-047A-4C50-B9C0-337F90FF7F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E8DF05-DB74-43D7-B8C0-6796C36E7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002450-DB43-4287-B03A-A68201DE2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DF3331-BD79-4466-A552-72E8A1B99E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637B0C-DDA2-4823-87C2-C5E0620C4E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630295-2069-4279-AE98-9B7EDE6492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C743B3-2CE7-4A32-9607-F24575D025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AB1928-D4C4-4A36-893C-24232EA919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A6380C-17AA-45CA-8BA8-FFB7BA19A7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4bf3f866b74bf3" /><Relationship Type="http://schemas.openxmlformats.org/officeDocument/2006/relationships/slideLayout" Target="/ppt/slideLayouts/slideLayout1.xml" Id="R1760e11b1bd74db6" /><Relationship Type="http://schemas.openxmlformats.org/officeDocument/2006/relationships/slideLayout" Target="/ppt/slideLayouts/slideLayout2.xml" Id="Rb2f68673c0cb4edc" /><Relationship Type="http://schemas.openxmlformats.org/officeDocument/2006/relationships/slideLayout" Target="/ppt/slideLayouts/slideLayout3.xml" Id="R00e0d37fcfef4e84" /><Relationship Type="http://schemas.openxmlformats.org/officeDocument/2006/relationships/slideLayout" Target="/ppt/slideLayouts/slideLayout4.xml" Id="R0424a3354db64603" /><Relationship Type="http://schemas.openxmlformats.org/officeDocument/2006/relationships/slideLayout" Target="/ppt/slideLayouts/slideLayout5.xml" Id="Rb05a68d54f5d4281" /><Relationship Type="http://schemas.openxmlformats.org/officeDocument/2006/relationships/slideLayout" Target="/ppt/slideLayouts/slideLayout6.xml" Id="R4eb27bd16b2f4e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0e11b1bd74db6"/>
    <p:sldLayoutId xmlns:r="http://schemas.openxmlformats.org/officeDocument/2006/relationships" id="2147483650" r:id="Rb2f68673c0cb4edc"/>
    <p:sldLayoutId xmlns:r="http://schemas.openxmlformats.org/officeDocument/2006/relationships" id="2147483651" r:id="R00e0d37fcfef4e84"/>
    <p:sldLayoutId xmlns:r="http://schemas.openxmlformats.org/officeDocument/2006/relationships" id="2147483652" r:id="R0424a3354db64603"/>
    <p:sldLayoutId xmlns:r="http://schemas.openxmlformats.org/officeDocument/2006/relationships" id="2147483653" r:id="Rb05a68d54f5d4281"/>
    <p:sldLayoutId xmlns:r="http://schemas.openxmlformats.org/officeDocument/2006/relationships" id="2147483654" r:id="R4eb27bd16b2f4e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c030da0f4fd4e87"/><Relationship Type="http://schemas.openxmlformats.org/officeDocument/2006/relationships/image" Target="/ppt/media/image.png" Id="Ra8df8847d1a24c33"/><Relationship Type="http://schemas.openxmlformats.org/officeDocument/2006/relationships/image" Target="/ppt/media/image2.png" Id="Raa2eed0a8c1249f6"/><Relationship Type="http://schemas.openxmlformats.org/officeDocument/2006/relationships/notesSlide" Target="/ppt/notesSlides/notesSlide1.xml" Id="Re4adc6bb9ed647f8"/><Relationship Id="rIdVehicleLense9" Type="http://schemas.openxmlformats.org/officeDocument/2006/relationships/image" Target="../media/vehiclelense-cover-image1.png"/><Relationship Id="rIdVehicleLense3" Type="http://schemas.openxmlformats.org/officeDocument/2006/relationships/image" Target="../media/vehiclelense-cover-image2.png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f5029e8434904" /><Relationship Type="http://schemas.openxmlformats.org/officeDocument/2006/relationships/image" Target="/ppt/media/image3.png" Id="R46c2e03745ae46b1" /><Relationship Type="http://schemas.openxmlformats.org/officeDocument/2006/relationships/chart" Target="/ppt/slides/charts/chart1.xml" Id="R25b169a3777c47c6" /><Relationship Type="http://schemas.openxmlformats.org/officeDocument/2006/relationships/notesSlide" Target="/ppt/notesSlides/notesSlide2.xml" Id="R9af8442551044a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ad5335c2d4368" /><Relationship Type="http://schemas.openxmlformats.org/officeDocument/2006/relationships/image" Target="/ppt/media/image4.png" Id="Ra500421912584560" /><Relationship Type="http://schemas.openxmlformats.org/officeDocument/2006/relationships/image" Target="/ppt/media/image.jpeg" Id="R2c77a6959abd44ff" /><Relationship Type="http://schemas.openxmlformats.org/officeDocument/2006/relationships/hyperlink" Target="https://sketchfab.com/3d-models/2023-bmw-i5-m60-207fd872d28b4cafa7fefe061ae98e26" TargetMode="External" Id="Rfcccb49196d944cf" /><Relationship Type="http://schemas.openxmlformats.org/officeDocument/2006/relationships/notesSlide" Target="/ppt/notesSlides/notesSlide3.xml" Id="Rcaedd362988c46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7d2c7fa5e403b" /><Relationship Type="http://schemas.openxmlformats.org/officeDocument/2006/relationships/image" Target="/ppt/media/image5.png" Id="R81ac6fde40ff4b9c" /><Relationship Type="http://schemas.openxmlformats.org/officeDocument/2006/relationships/notesSlide" Target="/ppt/notesSlides/notesSlide4.xml" Id="R8f4d7df8efdc4a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8638050424d7f" /><Relationship Type="http://schemas.openxmlformats.org/officeDocument/2006/relationships/image" Target="/ppt/media/image6.png" Id="R8d93e36570bf42e7" /><Relationship Type="http://schemas.openxmlformats.org/officeDocument/2006/relationships/notesSlide" Target="/ppt/notesSlides/notesSlide5.xml" Id="Rb7cff44265504c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174bfe2a945df" /><Relationship Type="http://schemas.openxmlformats.org/officeDocument/2006/relationships/image" Target="/ppt/media/image7.png" Id="Rc53bfbc526794094" /><Relationship Type="http://schemas.openxmlformats.org/officeDocument/2006/relationships/notesSlide" Target="/ppt/notesSlides/notesSlide6.xml" Id="R1c9c688c025f43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42981ce404c18" /><Relationship Type="http://schemas.openxmlformats.org/officeDocument/2006/relationships/image" Target="/ppt/media/image8.png" Id="Ra7e0e3e78cbf407e" /><Relationship Type="http://schemas.openxmlformats.org/officeDocument/2006/relationships/notesSlide" Target="/ppt/notesSlides/notesSlide7.xml" Id="Rf518f28e074b4e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dbe462a624abc" /><Relationship Type="http://schemas.openxmlformats.org/officeDocument/2006/relationships/image" Target="/ppt/media/image9.png" Id="R14203af9f2d24508" /><Relationship Type="http://schemas.openxmlformats.org/officeDocument/2006/relationships/notesSlide" Target="/ppt/notesSlides/notesSlide8.xml" Id="Rd0e0d09222ae4d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1994dfd9cc41a3" /><Relationship Type="http://schemas.openxmlformats.org/officeDocument/2006/relationships/image" Target="/ppt/media/image10.png" Id="R5e17ff83ee2448a9" /><Relationship Type="http://schemas.openxmlformats.org/officeDocument/2006/relationships/notesSlide" Target="/ppt/notesSlides/notesSlide9.xml" Id="R185724ae30d64a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12d96a193449f" /><Relationship Type="http://schemas.openxmlformats.org/officeDocument/2006/relationships/image" Target="/ppt/media/image11.png" Id="R75ea08b066ea4bd1" /><Relationship Type="http://schemas.openxmlformats.org/officeDocument/2006/relationships/notesSlide" Target="/ppt/notesSlides/notesSlide10.xml" Id="R7d52086bb0424e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a3d87f8cc4596" /><Relationship Type="http://schemas.openxmlformats.org/officeDocument/2006/relationships/image" Target="/ppt/media/image12.png" Id="R62a08a42c9a84de4" /><Relationship Type="http://schemas.openxmlformats.org/officeDocument/2006/relationships/notesSlide" Target="/ppt/notesSlides/notesSlide11.xml" Id="Ra031217e518e42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Unique feedback IDs</c:v>
          </c:tx>
          <c:spPr>
            <a:solidFill xmlns:a="http://schemas.openxmlformats.org/drawingml/2006/main">
              <a:srgbClr val="2D5FF4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F70</c:v>
                </c:pt>
                <c:pt idx="1">
                  <c:v>G60</c:v>
                </c:pt>
                <c:pt idx="2">
                  <c:v>G70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2128</c:v>
                </c:pt>
                <c:pt idx="1">
                  <c:v>4000</c:v>
                </c:pt>
                <c:pt idx="2">
                  <c:v>4000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2131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FEC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771CE8-7F60-48ED-AB28-D83E4B0597BD}"/>
              </a:ext>
            </a:extLst>
          </p:cNvPr>
          <p:cNvPicPr>
            <a:picLocks noChangeAspect="1"/>
          </p:cNvPicPr>
          <p:nvPr/>
        </p:nvPicPr>
        <p:blipFill>
          <a:blip r:embed="rIdVehicleLense9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C5BF0-5BC8-4C64-BA73-3D20EFE73D32}"/>
              </a:ext>
            </a:extLst>
          </p:cNvPr>
          <p:cNvSpPr>
            <a:spLocks noGrp="1"/>
          </p:cNvSpPr>
          <p:nvPr/>
        </p:nvSpPr>
        <p:spPr>
          <a:xfrm>
            <a:off x="4362450" y="1076325"/>
            <a:ext cx="7239000" cy="2000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2000" b="1">
                <a:solidFill>
                  <a:srgbClr val="C5BFB7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buNone/>
              <a:defRPr sz="12000" b="1">
                <a:solidFill>
                  <a:srgbClr val="C5BFB7"/>
                </a:solidFill>
                <a:latin typeface="Calibri"/>
                <a:ea typeface="Calibri"/>
                <a:cs typeface="Calibri"/>
              </a:defRPr>
            </a:pPr>
            <a:r>
              <a:rPr sz="12000" b="1">
                <a:solidFill>
                  <a:srgbClr val="C5BFB7"/>
                </a:solidFill>
                <a:latin typeface="Calibri"/>
                <a:ea typeface="Calibri"/>
                <a:cs typeface="Calibri"/>
              </a:rPr>
              <a:t>1 SERIES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28E561-C0C2-4507-B5D9-D1CA16D09F3D}"/>
              </a:ext>
            </a:extLst>
          </p:cNvPr>
          <p:cNvPicPr>
            <a:picLocks noChangeAspect="1"/>
          </p:cNvPicPr>
          <p:nvPr/>
        </p:nvPicPr>
        <p:blipFill>
          <a:blip r:embed="rIdVehicleLense3"/>
          <a:srcRect l="10039" t="33611" r="21523" b="17917"/>
          <a:stretch>
            <a:fillRect/>
          </a:stretch>
        </p:blipFill>
        <p:spPr>
          <a:xfrm>
            <a:off x="1223963" y="2305050"/>
            <a:ext cx="8343900" cy="3324225"/>
          </a:xfrm>
          <a:prstGeom prst="rect">
            <a:avLst/>
          </a:prstGeom>
        </p:spPr>
      </p:pic>
      <p:sp>
        <p:nvSpPr>
          <p:cNvPr id="4" name="Editable project name">
            <a:extLst>
              <a:ext uri="{FF2B5EF4-FFF2-40B4-BE49-F238E27FC236}">
                <a16:creationId xmlns:a16="http://schemas.microsoft.com/office/drawing/2014/main" id="{A8E0FD52-A276-4A05-A504-C2B535F398D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50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buNone/>
              <a:defRPr sz="150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9235C5-B12A-4B92-B22B-AA9B7B88A9D5}"/>
              </a:ext>
            </a:extLst>
          </p:cNvPr>
          <p:cNvSpPr>
            <a:spLocks noGrp="1"/>
          </p:cNvSpPr>
          <p:nvPr/>
        </p:nvSpPr>
        <p:spPr>
          <a:xfrm>
            <a:off x="2190750" y="714375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575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buNone/>
              <a:defRPr sz="1575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EC687B-91D8-4A09-9859-A71E991268BA}"/>
              </a:ext>
            </a:extLst>
          </p:cNvPr>
          <p:cNvSpPr>
            <a:spLocks noGrp="1"/>
          </p:cNvSpPr>
          <p:nvPr/>
        </p:nvSpPr>
        <p:spPr>
          <a:xfrm>
            <a:off x="2590800" y="78105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90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buNone/>
              <a:defRPr sz="90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0C658D-F5B1-4540-8055-401F947410D8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428625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222"/>
          </a:bodyPr>
          <a:lstStyle>
            <a:defPPr algn="l">
              <a:defRPr sz="360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buNone/>
              <a:defRPr sz="360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AI vehicle</a:t>
            </a:r>
          </a:p>
          <a:p>
            <a:pPr algn="l">
              <a:buNone/>
              <a:defRPr sz="360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requirements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F974C-DB6F-4BCA-8FBD-9F06AED65793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/>
          </a:bodyPr>
          <a:lstStyle>
            <a:defPPr algn="l">
              <a:defRPr sz="142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buNone/>
              <a:defRPr sz="142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From customer evidence to PM decisions</a:t>
            </a:r>
          </a:p>
        </p:txBody>
      </p:sp>
    </p:spTree>
    <p:extLst>
      <p:ext uri="{BB962C8B-B14F-4D97-AF65-F5344CB8AC3E}">
        <p14:creationId xmlns:p14="http://schemas.microsoft.com/office/powerpoint/2010/main" val="393149835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6F9C7-C156-4221-BD9A-236A003A1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2e03745ae46b1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C55FCF79-307C-435B-848B-CCE230C7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3" name="//">
            <a:extLst xmlns:a="http://schemas.openxmlformats.org/drawingml/2006/main">
              <a:ext uri="{FF2B5EF4-FFF2-40B4-BE49-F238E27FC236}">
                <a16:creationId xmlns:a16="http://schemas.microsoft.com/office/drawing/2014/main" id="{14E3D125-DE8F-4433-A7CB-70F2CA19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4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8F4B209F-23B3-4E9F-BD56-5CC988D4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5" name="THE CHALLENGE">
            <a:extLst xmlns:a="http://schemas.openxmlformats.org/drawingml/2006/main">
              <a:ext uri="{FF2B5EF4-FFF2-40B4-BE49-F238E27FC236}">
                <a16:creationId xmlns:a16="http://schemas.microsoft.com/office/drawing/2014/main" id="{0A426FE0-C819-4CA6-BC8E-69BB531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THE CHALLENGE</a:t>
            </a:r>
          </a:p>
        </p:txBody>
      </p:sp>
      <p:sp>
        <p:nvSpPr>
          <p:cNvPr id="6" name="One G60 complaint can point to different need">
            <a:extLst xmlns:a="http://schemas.openxmlformats.org/drawingml/2006/main">
              <a:ext uri="{FF2B5EF4-FFF2-40B4-BE49-F238E27FC236}">
                <a16:creationId xmlns:a16="http://schemas.microsoft.com/office/drawing/2014/main" id="{A46197F0-FC44-45FE-B67E-C6914C35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One G60 complaint can point to different needs</a:t>
            </a:r>
          </a:p>
        </p:txBody>
      </p:sp>
      <p:sp>
        <p:nvSpPr>
          <p:cNvPr id="7" name="02 / 11">
            <a:extLst xmlns:a="http://schemas.openxmlformats.org/drawingml/2006/main">
              <a:ext uri="{FF2B5EF4-FFF2-40B4-BE49-F238E27FC236}">
                <a16:creationId xmlns:a16="http://schemas.microsoft.com/office/drawing/2014/main" id="{523144C1-519C-4928-9D7A-C45B3178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02 / 11</a:t>
            </a:r>
          </a:p>
        </p:txBody>
      </p:sp>
      <p:sp>
        <p:nvSpPr>
          <p:cNvPr id="8" name="Add a missing function">
            <a:extLst xmlns:a="http://schemas.openxmlformats.org/drawingml/2006/main">
              <a:ext uri="{FF2B5EF4-FFF2-40B4-BE49-F238E27FC236}">
                <a16:creationId xmlns:a16="http://schemas.microsoft.com/office/drawing/2014/main" id="{4D6ED63B-A499-46BC-B27B-82DE62EF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Add a missing function</a:t>
            </a:r>
          </a:p>
        </p:txBody>
      </p:sp>
      <p:sp>
        <p:nvSpPr>
          <p:cNvPr id="9" name="Offer it in the right vehicle variant">
            <a:extLst xmlns:a="http://schemas.openxmlformats.org/drawingml/2006/main">
              <a:ext uri="{FF2B5EF4-FFF2-40B4-BE49-F238E27FC236}">
                <a16:creationId xmlns:a16="http://schemas.microsoft.com/office/drawing/2014/main" id="{E24976B8-3499-4C38-B8E3-B34C8D15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Offer it in the right vehicle variant</a:t>
            </a:r>
          </a:p>
        </p:txBody>
      </p:sp>
      <p:sp>
        <p:nvSpPr>
          <p:cNvPr id="10" name="Make an existing function easier to use">
            <a:extLst xmlns:a="http://schemas.openxmlformats.org/drawingml/2006/main">
              <a:ext uri="{FF2B5EF4-FFF2-40B4-BE49-F238E27FC236}">
                <a16:creationId xmlns:a16="http://schemas.microsoft.com/office/drawing/2014/main" id="{EC79ECF3-2E30-4B95-9151-3DA00282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Make an existing function easier to use</a:t>
            </a:r>
          </a:p>
        </p:txBody>
      </p:sp>
      <p:sp>
        <p:nvSpPr>
          <p:cNvPr id="11" name="Check the feedback against equipment and mark">
            <a:extLst xmlns:a="http://schemas.openxmlformats.org/drawingml/2006/main">
              <a:ext uri="{FF2B5EF4-FFF2-40B4-BE49-F238E27FC236}">
                <a16:creationId xmlns:a16="http://schemas.microsoft.com/office/drawing/2014/main" id="{D9B2E9BB-1A5D-4D67-9F70-53A499DC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/>
            </a:r>
          </a:p>
        </p:txBody>
      </p:sp>
      <p:sp>
        <p:nvSpPr>
          <p:cNvPr id="12" name="Supplied feedback records">
            <a:extLst xmlns:a="http://schemas.openxmlformats.org/drawingml/2006/main">
              <a:ext uri="{FF2B5EF4-FFF2-40B4-BE49-F238E27FC236}">
                <a16:creationId xmlns:a16="http://schemas.microsoft.com/office/drawing/2014/main" id="{89138D11-B7DD-4578-855F-BB974106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57500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Supplied feedback records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6F2C112F-6056-4BB7-9E4E-91B9BC06DF12}"/>
              </a:ext>
            </a:extLst>
          </p:cNvPr>
          <p:cNvGraphicFramePr/>
          <p:nvPr/>
        </p:nvGraphicFramePr>
        <p:xfrm>
          <a:off xmlns:a="http://schemas.openxmlformats.org/drawingml/2006/main" x="7058025" y="3400425"/>
          <a:ext xmlns:a="http://schemas.openxmlformats.org/drawingml/2006/main" cx="45720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b169a3777c47c6"/>
          </a:graphicData>
        </a:graphic>
      </p:graphicFrame>
      <p:sp>
        <p:nvSpPr>
          <p:cNvPr id="14" name="Unique IDs, counted once">
            <a:extLst xmlns:a="http://schemas.openxmlformats.org/drawingml/2006/main">
              <a:ext uri="{FF2B5EF4-FFF2-40B4-BE49-F238E27FC236}">
                <a16:creationId xmlns:a16="http://schemas.microsoft.com/office/drawing/2014/main" id="{4BCF0EFD-EE89-4D81-A6C0-23981CA6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1150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Unique IDs, counted once</a:t>
            </a:r>
          </a:p>
        </p:txBody>
      </p:sp>
    </p:spTree>
    <p:extLst>
      <p:ext uri="{BB962C8B-B14F-4D97-AF65-F5344CB8AC3E}">
        <p14:creationId xmlns:p14="http://schemas.microsoft.com/office/powerpoint/2010/main" val="1161935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93187-4C5E-4C97-AFF4-0CF9D46013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0421912584560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E68EEA8D-5A15-4F2A-A8E1-BBEC570E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11" name="//">
            <a:extLst xmlns:a="http://schemas.openxmlformats.org/drawingml/2006/main">
              <a:ext uri="{FF2B5EF4-FFF2-40B4-BE49-F238E27FC236}">
                <a16:creationId xmlns:a16="http://schemas.microsoft.com/office/drawing/2014/main" id="{A37B2404-054B-46E5-9785-4971BCA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12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1C825FC4-E693-4C70-9307-A4C29E87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13" name="THE SOLUTION">
            <a:extLst xmlns:a="http://schemas.openxmlformats.org/drawingml/2006/main">
              <a:ext uri="{FF2B5EF4-FFF2-40B4-BE49-F238E27FC236}">
                <a16:creationId xmlns:a16="http://schemas.microsoft.com/office/drawing/2014/main" id="{604A1840-F082-47C6-91DF-D1BAF4FD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THE SOLUTION</a:t>
            </a:r>
          </a:p>
        </p:txBody>
      </p:sp>
      <p:sp>
        <p:nvSpPr>
          <p:cNvPr id="14" name="VehicleLense connects customer evidence to PM">
            <a:extLst xmlns:a="http://schemas.openxmlformats.org/drawingml/2006/main">
              <a:ext uri="{FF2B5EF4-FFF2-40B4-BE49-F238E27FC236}">
                <a16:creationId xmlns:a16="http://schemas.microsoft.com/office/drawing/2014/main" id="{97672EB4-F210-4ED9-9A11-88BC2186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VehicleLense connects customer evidence to PM decisions</a:t>
            </a:r>
          </a:p>
        </p:txBody>
      </p:sp>
      <p:sp>
        <p:nvSpPr>
          <p:cNvPr id="15" name="03 / 11">
            <a:extLst xmlns:a="http://schemas.openxmlformats.org/drawingml/2006/main">
              <a:ext uri="{FF2B5EF4-FFF2-40B4-BE49-F238E27FC236}">
                <a16:creationId xmlns:a16="http://schemas.microsoft.com/office/drawing/2014/main" id="{6909F20B-57C5-4FC8-8CF3-8CCDDBE6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03 / 11</a:t>
            </a:r>
          </a:p>
        </p:txBody>
      </p:sp>
      <p:sp>
        <p:nvSpPr>
          <p:cNvPr id="16" name="Choose the vehicle and upload sources">
            <a:extLst xmlns:a="http://schemas.openxmlformats.org/drawingml/2006/main">
              <a:ext uri="{FF2B5EF4-FFF2-40B4-BE49-F238E27FC236}">
                <a16:creationId xmlns:a16="http://schemas.microsoft.com/office/drawing/2014/main" id="{664E8B96-80EF-4A2C-ABE1-809781D3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Choose the vehicle and upload sources</a:t>
            </a:r>
          </a:p>
        </p:txBody>
      </p:sp>
      <p:sp>
        <p:nvSpPr>
          <p:cNvPr id="17" name="Link findings to their source evidence">
            <a:extLst xmlns:a="http://schemas.openxmlformats.org/drawingml/2006/main">
              <a:ext uri="{FF2B5EF4-FFF2-40B4-BE49-F238E27FC236}">
                <a16:creationId xmlns:a16="http://schemas.microsoft.com/office/drawing/2014/main" id="{D019FCA1-30FB-4A64-9247-D79630D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Link findings to their source evidence</a:t>
            </a:r>
          </a:p>
        </p:txBody>
      </p:sp>
      <p:sp>
        <p:nvSpPr>
          <p:cNvPr id="18" name="Draft requirements and explain priority">
            <a:extLst xmlns:a="http://schemas.openxmlformats.org/drawingml/2006/main">
              <a:ext uri="{FF2B5EF4-FFF2-40B4-BE49-F238E27FC236}">
                <a16:creationId xmlns:a16="http://schemas.microsoft.com/office/drawing/2014/main" id="{89723AF2-5D98-4830-AE43-88FEBC62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Draft requirements and explain priority</a:t>
            </a:r>
          </a:p>
        </p:txBody>
      </p:sp>
      <p:sp>
        <p:nvSpPr>
          <p:cNvPr id="19" name="Review, save a version and export">
            <a:extLst xmlns:a="http://schemas.openxmlformats.org/drawingml/2006/main">
              <a:ext uri="{FF2B5EF4-FFF2-40B4-BE49-F238E27FC236}">
                <a16:creationId xmlns:a16="http://schemas.microsoft.com/office/drawing/2014/main" id="{8AA78CBB-C6B7-4521-8432-8A5C699D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Review, save a version and export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5258F1E6-EE78-41E8-A400-ED92B02F43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7a6959abd44ff"/>
          <a:srcRect xmlns:a="http://schemas.openxmlformats.org/drawingml/2006/main" l="0" t="2512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2275" y="2800350"/>
            <a:ext cx="4848225" cy="3200400"/>
          </a:xfrm>
          <a:prstGeom xmlns:a="http://schemas.openxmlformats.org/drawingml/2006/main" prst="rect">
            <a:avLst/>
          </a:prstGeom>
        </p:spPr>
      </p:pic>
      <p:sp>
        <p:nvSpPr>
          <p:cNvPr id="20" name="Model preview">
            <a:extLst xmlns:a="http://schemas.openxmlformats.org/drawingml/2006/main">
              <a:ext uri="{FF2B5EF4-FFF2-40B4-BE49-F238E27FC236}">
                <a16:creationId xmlns:a16="http://schemas.microsoft.com/office/drawing/2014/main" id="{4D3B033B-64F7-4717-B04E-84A21DB9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6124575"/>
            <a:ext cx="4848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D5FF4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cccb49196d944cf"/>
              </a:rPr>
              <a:t>Open interactive 3D reference</a:t>
            </a:r>
          </a:p>
        </p:txBody>
      </p:sp>
    </p:spTree>
    <p:extLst>
      <p:ext uri="{BB962C8B-B14F-4D97-AF65-F5344CB8AC3E}">
        <p14:creationId xmlns:p14="http://schemas.microsoft.com/office/powerpoint/2010/main" val="78861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DEC97-30B4-4594-9B45-D93B501E72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c6fde40ff4b9c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93FB7C79-DF33-4CAB-ADB2-363CF03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3" name="//">
            <a:extLst xmlns:a="http://schemas.openxmlformats.org/drawingml/2006/main">
              <a:ext uri="{FF2B5EF4-FFF2-40B4-BE49-F238E27FC236}">
                <a16:creationId xmlns:a16="http://schemas.microsoft.com/office/drawing/2014/main" id="{471BB89B-29CF-44AF-AD7E-AF16C725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4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6A030248-69DC-4A44-8752-3B415247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5" name="THE WORKFLOW">
            <a:extLst xmlns:a="http://schemas.openxmlformats.org/drawingml/2006/main">
              <a:ext uri="{FF2B5EF4-FFF2-40B4-BE49-F238E27FC236}">
                <a16:creationId xmlns:a16="http://schemas.microsoft.com/office/drawing/2014/main" id="{92426260-77D6-475E-8E16-F88F2B73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THE WORKFLOW</a:t>
            </a:r>
          </a:p>
        </p:txBody>
      </p:sp>
      <p:sp>
        <p:nvSpPr>
          <p:cNvPr id="6" name="AI prepares the analysis. The product manager">
            <a:extLst xmlns:a="http://schemas.openxmlformats.org/drawingml/2006/main">
              <a:ext uri="{FF2B5EF4-FFF2-40B4-BE49-F238E27FC236}">
                <a16:creationId xmlns:a16="http://schemas.microsoft.com/office/drawing/2014/main" id="{FC96FA1E-39F9-4A0B-ADE0-C93BF838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AI prepares the analysis. The product manager decides.</a:t>
            </a:r>
          </a:p>
        </p:txBody>
      </p:sp>
      <p:sp>
        <p:nvSpPr>
          <p:cNvPr id="7" name="04 / 11">
            <a:extLst xmlns:a="http://schemas.openxmlformats.org/drawingml/2006/main">
              <a:ext uri="{FF2B5EF4-FFF2-40B4-BE49-F238E27FC236}">
                <a16:creationId xmlns:a16="http://schemas.microsoft.com/office/drawing/2014/main" id="{F7FB72E4-F891-4814-9E68-9679EDB6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04 / 11</a:t>
            </a:r>
          </a:p>
        </p:txBody>
      </p:sp>
      <p:sp>
        <p:nvSpPr>
          <p:cNvPr id="8" name="Set the vehicle, market and sources">
            <a:extLst xmlns:a="http://schemas.openxmlformats.org/drawingml/2006/main">
              <a:ext uri="{FF2B5EF4-FFF2-40B4-BE49-F238E27FC236}">
                <a16:creationId xmlns:a16="http://schemas.microsoft.com/office/drawing/2014/main" id="{C1EEA5F6-EB16-4686-9FC2-CD1A78B2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Set the vehicle, market and sources</a:t>
            </a:r>
          </a:p>
        </p:txBody>
      </p:sp>
      <p:sp>
        <p:nvSpPr>
          <p:cNvPr id="9" name="Remove duplicates and retain source links">
            <a:extLst xmlns:a="http://schemas.openxmlformats.org/drawingml/2006/main">
              <a:ext uri="{FF2B5EF4-FFF2-40B4-BE49-F238E27FC236}">
                <a16:creationId xmlns:a16="http://schemas.microsoft.com/office/drawing/2014/main" id="{6CCD56C1-968E-4D59-8AD3-06C5896C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Remove duplicates and retain source links</a:t>
            </a:r>
          </a:p>
        </p:txBody>
      </p:sp>
      <p:sp>
        <p:nvSpPr>
          <p:cNvPr id="10" name="Group findings and check current features">
            <a:extLst xmlns:a="http://schemas.openxmlformats.org/drawingml/2006/main">
              <a:ext uri="{FF2B5EF4-FFF2-40B4-BE49-F238E27FC236}">
                <a16:creationId xmlns:a16="http://schemas.microsoft.com/office/drawing/2014/main" id="{1FB32059-3D45-45D8-BE4C-A506A131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Group findings and check current features</a:t>
            </a:r>
          </a:p>
        </p:txBody>
      </p:sp>
      <p:sp>
        <p:nvSpPr>
          <p:cNvPr id="11" name="Draft alternatives and requirements">
            <a:extLst xmlns:a="http://schemas.openxmlformats.org/drawingml/2006/main">
              <a:ext uri="{FF2B5EF4-FFF2-40B4-BE49-F238E27FC236}">
                <a16:creationId xmlns:a16="http://schemas.microsoft.com/office/drawing/2014/main" id="{225171D0-D1CC-44FF-98B0-14BDBDF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Draft alternatives and requirements</a:t>
            </a:r>
          </a:p>
        </p:txBody>
      </p:sp>
      <p:sp>
        <p:nvSpPr>
          <p:cNvPr id="12" name="Review, decide and export the version">
            <a:extLst xmlns:a="http://schemas.openxmlformats.org/drawingml/2006/main">
              <a:ext uri="{FF2B5EF4-FFF2-40B4-BE49-F238E27FC236}">
                <a16:creationId xmlns:a16="http://schemas.microsoft.com/office/drawing/2014/main" id="{99023389-8AB3-449B-9427-CC438C9D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Review, decide and export the 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A6F93-B856-497C-8F77-967B146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05100"/>
            <a:ext cx="304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5FF4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160F6-64BE-459F-AB4C-0DC4C9BB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48050"/>
            <a:ext cx="304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5FF4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Normalize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5F5E0-A68E-42AE-894D-F25B7900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91000"/>
            <a:ext cx="304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5FF4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A83E8-12ED-4B36-B01D-23CF25FE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33950"/>
            <a:ext cx="304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5FF4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Propose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82EC6-AD4C-4E10-ABC1-33DAF054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76900"/>
            <a:ext cx="304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FF4"/>
          </a:solidFill>
          <a:ln xmlns:a="http://schemas.openxmlformats.org/drawingml/2006/main" w="19050">
            <a:solidFill>
              <a:srgbClr val="2D5FF4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 review</a:t>
            </a:r>
          </a:p>
        </p:txBody>
      </p:sp>
      <p:sp>
        <p:nvSpPr>
          <p:cNvPr id="18" name="Workflow arrow 0">
            <a:extLst xmlns:a="http://schemas.openxmlformats.org/drawingml/2006/main">
              <a:ext uri="{FF2B5EF4-FFF2-40B4-BE49-F238E27FC236}">
                <a16:creationId xmlns:a16="http://schemas.microsoft.com/office/drawing/2014/main" id="{4EC8B319-12A8-4443-BC61-82AE6E67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209925"/>
            <a:ext cx="2667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D5FF4"/>
          </a:solidFill>
          <a:ln xmlns:a="http://schemas.openxmlformats.org/drawingml/2006/main" w="0">
            <a:noFill/>
          </a:ln>
        </p:spPr>
      </p:sp>
      <p:sp>
        <p:nvSpPr>
          <p:cNvPr id="19" name="Workflow arrow 1">
            <a:extLst xmlns:a="http://schemas.openxmlformats.org/drawingml/2006/main">
              <a:ext uri="{FF2B5EF4-FFF2-40B4-BE49-F238E27FC236}">
                <a16:creationId xmlns:a16="http://schemas.microsoft.com/office/drawing/2014/main" id="{EE439033-FBEE-48AE-9FDB-9A80362F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952875"/>
            <a:ext cx="2667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D5FF4"/>
          </a:solidFill>
          <a:ln xmlns:a="http://schemas.openxmlformats.org/drawingml/2006/main" w="0">
            <a:noFill/>
          </a:ln>
        </p:spPr>
      </p:sp>
      <p:sp>
        <p:nvSpPr>
          <p:cNvPr id="20" name="Workflow arrow 2">
            <a:extLst xmlns:a="http://schemas.openxmlformats.org/drawingml/2006/main">
              <a:ext uri="{FF2B5EF4-FFF2-40B4-BE49-F238E27FC236}">
                <a16:creationId xmlns:a16="http://schemas.microsoft.com/office/drawing/2014/main" id="{C8022852-E090-402F-9C02-E7BDA56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95825"/>
            <a:ext cx="2667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D5FF4"/>
          </a:solidFill>
          <a:ln xmlns:a="http://schemas.openxmlformats.org/drawingml/2006/main" w="0">
            <a:noFill/>
          </a:ln>
        </p:spPr>
      </p:sp>
      <p:sp>
        <p:nvSpPr>
          <p:cNvPr id="21" name="Workflow arrow 3">
            <a:extLst xmlns:a="http://schemas.openxmlformats.org/drawingml/2006/main">
              <a:ext uri="{FF2B5EF4-FFF2-40B4-BE49-F238E27FC236}">
                <a16:creationId xmlns:a16="http://schemas.microsoft.com/office/drawing/2014/main" id="{580280EA-300B-4D60-97DE-BA87BBC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438775"/>
            <a:ext cx="2667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D5FF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759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39791-447D-463F-AF24-57A62A4BB0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3e36570bf42e7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9CB6393D-4ED4-4F29-A049-504DE120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3" name="//">
            <a:extLst xmlns:a="http://schemas.openxmlformats.org/drawingml/2006/main">
              <a:ext uri="{FF2B5EF4-FFF2-40B4-BE49-F238E27FC236}">
                <a16:creationId xmlns:a16="http://schemas.microsoft.com/office/drawing/2014/main" id="{7894A615-D880-42BC-B590-99F31401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4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55C55F18-C2C7-4AAD-B092-93371D46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5" name="CUSTOMER FEEDBACK">
            <a:extLst xmlns:a="http://schemas.openxmlformats.org/drawingml/2006/main">
              <a:ext uri="{FF2B5EF4-FFF2-40B4-BE49-F238E27FC236}">
                <a16:creationId xmlns:a16="http://schemas.microsoft.com/office/drawing/2014/main" id="{3697A1CA-7556-4C0A-9EAD-AF2576E1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CUSTOMER FEEDBACK</a:t>
            </a:r>
          </a:p>
        </p:txBody>
      </p:sp>
      <p:sp>
        <p:nvSpPr>
          <p:cNvPr id="6" name="US customer feedback on the BMW 5 Series G60">
            <a:extLst xmlns:a="http://schemas.openxmlformats.org/drawingml/2006/main">
              <a:ext uri="{FF2B5EF4-FFF2-40B4-BE49-F238E27FC236}">
                <a16:creationId xmlns:a16="http://schemas.microsoft.com/office/drawing/2014/main" id="{0589B837-5090-4FE9-B1D4-EA729FBF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US customer feedback on the BMW 5 Series G60</a:t>
            </a:r>
          </a:p>
        </p:txBody>
      </p:sp>
      <p:sp>
        <p:nvSpPr>
          <p:cNvPr id="7" name="05 / 11">
            <a:extLst xmlns:a="http://schemas.openxmlformats.org/drawingml/2006/main">
              <a:ext uri="{FF2B5EF4-FFF2-40B4-BE49-F238E27FC236}">
                <a16:creationId xmlns:a16="http://schemas.microsoft.com/office/drawing/2014/main" id="{28E2B45A-2763-4AD2-8F9E-EEF0C09A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05 / 11</a:t>
            </a:r>
          </a:p>
        </p:txBody>
      </p:sp>
      <p:sp>
        <p:nvSpPr>
          <p:cNvPr id="8" name="“The screen layout is not very intuitive for ">
            <a:extLst xmlns:a="http://schemas.openxmlformats.org/drawingml/2006/main">
              <a:ext uri="{FF2B5EF4-FFF2-40B4-BE49-F238E27FC236}">
                <a16:creationId xmlns:a16="http://schemas.microsoft.com/office/drawing/2014/main" id="{818FD578-DDA4-4D44-99AA-7E6088E6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“The screen layout is not very intuitive for accessing some functions.”</a:t>
            </a:r>
          </a:p>
        </p:txBody>
      </p:sp>
      <p:sp>
        <p:nvSpPr>
          <p:cNvPr id="9" name="This raises an access and usability question">
            <a:extLst xmlns:a="http://schemas.openxmlformats.org/drawingml/2006/main">
              <a:ext uri="{FF2B5EF4-FFF2-40B4-BE49-F238E27FC236}">
                <a16:creationId xmlns:a16="http://schemas.microsoft.com/office/drawing/2014/main" id="{2EA5ED87-BD1C-4C70-A141-A39EEC49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This suggests a possible access or usability issue</a:t>
            </a:r>
          </a:p>
        </p:txBody>
      </p:sp>
      <p:sp>
        <p:nvSpPr>
          <p:cNvPr id="10" name="Check the current interface before proposing ">
            <a:extLst xmlns:a="http://schemas.openxmlformats.org/drawingml/2006/main">
              <a:ext uri="{FF2B5EF4-FFF2-40B4-BE49-F238E27FC236}">
                <a16:creationId xmlns:a16="http://schemas.microsoft.com/office/drawing/2014/main" id="{DA749598-97CF-44C2-A9C3-9683B796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Check the current interface before proposing a new feature</a:t>
            </a:r>
          </a:p>
        </p:txBody>
      </p:sp>
    </p:spTree>
    <p:extLst>
      <p:ext uri="{BB962C8B-B14F-4D97-AF65-F5344CB8AC3E}">
        <p14:creationId xmlns:p14="http://schemas.microsoft.com/office/powerpoint/2010/main" val="631633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B5902-DF96-49A8-BC4F-F73C89A3F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bfbc526794094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CF9332B1-3C7D-4FCF-A67B-0B157A26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3" name="//">
            <a:extLst xmlns:a="http://schemas.openxmlformats.org/drawingml/2006/main">
              <a:ext uri="{FF2B5EF4-FFF2-40B4-BE49-F238E27FC236}">
                <a16:creationId xmlns:a16="http://schemas.microsoft.com/office/drawing/2014/main" id="{87D3E32D-54CE-4C5F-817E-A5B49350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4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953F0020-92BF-4E1C-B66E-47AD3E5E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5" name="DESIGN ALTERNATIVES">
            <a:extLst xmlns:a="http://schemas.openxmlformats.org/drawingml/2006/main">
              <a:ext uri="{FF2B5EF4-FFF2-40B4-BE49-F238E27FC236}">
                <a16:creationId xmlns:a16="http://schemas.microsoft.com/office/drawing/2014/main" id="{F0A85257-0DA5-4AC1-B53F-E3C7698B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DESIGN ALTERNATIVES</a:t>
            </a:r>
          </a:p>
        </p:txBody>
      </p:sp>
      <p:sp>
        <p:nvSpPr>
          <p:cNvPr id="6" name="The task: reach frequent vehicle functions mo">
            <a:extLst xmlns:a="http://schemas.openxmlformats.org/drawingml/2006/main">
              <a:ext uri="{FF2B5EF4-FFF2-40B4-BE49-F238E27FC236}">
                <a16:creationId xmlns:a16="http://schemas.microsoft.com/office/drawing/2014/main" id="{8C658B49-1E0B-49FF-AAF6-F6D135C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The task: reach frequent vehicle functions more easily</a:t>
            </a:r>
          </a:p>
        </p:txBody>
      </p:sp>
      <p:sp>
        <p:nvSpPr>
          <p:cNvPr id="7" name="06 / 11">
            <a:extLst xmlns:a="http://schemas.openxmlformats.org/drawingml/2006/main">
              <a:ext uri="{FF2B5EF4-FFF2-40B4-BE49-F238E27FC236}">
                <a16:creationId xmlns:a16="http://schemas.microsoft.com/office/drawing/2014/main" id="{A45AEA34-0B7B-445A-8A03-DD432DA5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06 / 11</a:t>
            </a:r>
          </a:p>
        </p:txBody>
      </p:sp>
      <p:sp>
        <p:nvSpPr>
          <p:cNvPr id="8" name="Digital option: add favorites or shortcuts">
            <a:extLst xmlns:a="http://schemas.openxmlformats.org/drawingml/2006/main">
              <a:ext uri="{FF2B5EF4-FFF2-40B4-BE49-F238E27FC236}">
                <a16:creationId xmlns:a16="http://schemas.microsoft.com/office/drawing/2014/main" id="{43CB0B3C-D104-484B-B9F9-69B2EC10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Digital option: add favorites or shortcuts</a:t>
            </a:r>
          </a:p>
        </p:txBody>
      </p:sp>
      <p:sp>
        <p:nvSpPr>
          <p:cNvPr id="9" name="Physical option: test direct controls for sel">
            <a:extLst xmlns:a="http://schemas.openxmlformats.org/drawingml/2006/main">
              <a:ext uri="{FF2B5EF4-FFF2-40B4-BE49-F238E27FC236}">
                <a16:creationId xmlns:a16="http://schemas.microsoft.com/office/drawing/2014/main" id="{1655EC7F-AD2D-4632-B68A-35D3CA59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Physical option: test direct controls for selected tasks</a:t>
            </a:r>
          </a:p>
        </p:txBody>
      </p:sp>
      <p:sp>
        <p:nvSpPr>
          <p:cNvPr id="10" name="Compare both options with the current vehicle">
            <a:extLst xmlns:a="http://schemas.openxmlformats.org/drawingml/2006/main">
              <a:ext uri="{FF2B5EF4-FFF2-40B4-BE49-F238E27FC236}">
                <a16:creationId xmlns:a16="http://schemas.microsoft.com/office/drawing/2014/main" id="{1ABA820D-7BFE-4AF3-8FA0-3111E3B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Compare both with the current interface</a:t>
            </a:r>
          </a:p>
        </p:txBody>
      </p:sp>
      <p:sp>
        <p:nvSpPr>
          <p:cNvPr id="11" name="Use task testing to decide which approach hel">
            <a:extLst xmlns:a="http://schemas.openxmlformats.org/drawingml/2006/main">
              <a:ext uri="{FF2B5EF4-FFF2-40B4-BE49-F238E27FC236}">
                <a16:creationId xmlns:a16="http://schemas.microsoft.com/office/drawing/2014/main" id="{0B9D60F5-0C84-4B16-91AD-F2FC3C55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Use task testing to decide which approach helps</a:t>
            </a:r>
          </a:p>
        </p:txBody>
      </p:sp>
    </p:spTree>
    <p:extLst>
      <p:ext uri="{BB962C8B-B14F-4D97-AF65-F5344CB8AC3E}">
        <p14:creationId xmlns:p14="http://schemas.microsoft.com/office/powerpoint/2010/main" val="845588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FC2C8-911C-4399-8C0A-57813BA035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0e3e78cbf407e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1F8BD523-5FE4-48DB-86A4-AC320F98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3" name="//">
            <a:extLst xmlns:a="http://schemas.openxmlformats.org/drawingml/2006/main">
              <a:ext uri="{FF2B5EF4-FFF2-40B4-BE49-F238E27FC236}">
                <a16:creationId xmlns:a16="http://schemas.microsoft.com/office/drawing/2014/main" id="{64DDA6A9-C6C4-4332-8647-6A9AD400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4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9EB4B072-FB17-4D48-877A-9A1F82E1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5" name="SETTING PRIORITIES">
            <a:extLst xmlns:a="http://schemas.openxmlformats.org/drawingml/2006/main">
              <a:ext uri="{FF2B5EF4-FFF2-40B4-BE49-F238E27FC236}">
                <a16:creationId xmlns:a16="http://schemas.microsoft.com/office/drawing/2014/main" id="{09D82B20-DDE6-4726-BC1B-2D2F83AF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SETTING PRIORITIES</a:t>
            </a:r>
          </a:p>
        </p:txBody>
      </p:sp>
      <p:sp>
        <p:nvSpPr>
          <p:cNvPr id="6" name="The G60 case needs matched evidence before sc">
            <a:extLst xmlns:a="http://schemas.openxmlformats.org/drawingml/2006/main">
              <a:ext uri="{FF2B5EF4-FFF2-40B4-BE49-F238E27FC236}">
                <a16:creationId xmlns:a16="http://schemas.microsoft.com/office/drawing/2014/main" id="{A3D32E31-9817-4883-B493-0FF82D3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The G60 case needs matched evidence before scoring</a:t>
            </a:r>
          </a:p>
        </p:txBody>
      </p:sp>
      <p:sp>
        <p:nvSpPr>
          <p:cNvPr id="7" name="07 / 11">
            <a:extLst xmlns:a="http://schemas.openxmlformats.org/drawingml/2006/main">
              <a:ext uri="{FF2B5EF4-FFF2-40B4-BE49-F238E27FC236}">
                <a16:creationId xmlns:a16="http://schemas.microsoft.com/office/drawing/2014/main" id="{1E5926BC-2AF1-426A-9482-84D827C1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07 / 11</a:t>
            </a:r>
          </a:p>
        </p:txBody>
      </p:sp>
      <p:sp>
        <p:nvSpPr>
          <p:cNvPr id="8" name="Confirm the exact vehicle and existing featur">
            <a:extLst xmlns:a="http://schemas.openxmlformats.org/drawingml/2006/main">
              <a:ext uri="{FF2B5EF4-FFF2-40B4-BE49-F238E27FC236}">
                <a16:creationId xmlns:a16="http://schemas.microsoft.com/office/drawing/2014/main" id="{93CA1908-BD02-4054-AFB5-1EB997F4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Confirm the exact vehicle and existing features</a:t>
            </a:r>
          </a:p>
        </p:txBody>
      </p:sp>
      <p:sp>
        <p:nvSpPr>
          <p:cNvPr id="9" name="Establish customer impact and target-group re">
            <a:extLst xmlns:a="http://schemas.openxmlformats.org/drawingml/2006/main">
              <a:ext uri="{FF2B5EF4-FFF2-40B4-BE49-F238E27FC236}">
                <a16:creationId xmlns:a16="http://schemas.microsoft.com/office/drawing/2014/main" id="{C88B7AA6-6EC9-412C-9A73-386D0D8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Establish customer impact and target-group reach</a:t>
            </a:r>
          </a:p>
        </p:txBody>
      </p:sp>
      <p:sp>
        <p:nvSpPr>
          <p:cNvPr id="10" name="Check whether the need applies to future vehi">
            <a:extLst xmlns:a="http://schemas.openxmlformats.org/drawingml/2006/main">
              <a:ext uri="{FF2B5EF4-FFF2-40B4-BE49-F238E27FC236}">
                <a16:creationId xmlns:a16="http://schemas.microsoft.com/office/drawing/2014/main" id="{B0F49440-E8B4-4989-8C0F-B3423E78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Check relevance to future vehicles</a:t>
            </a:r>
          </a:p>
        </p:txBody>
      </p:sp>
      <p:sp>
        <p:nvSpPr>
          <p:cNvPr id="11" name="Keep the priority unscored until these checks">
            <a:extLst xmlns:a="http://schemas.openxmlformats.org/drawingml/2006/main">
              <a:ext uri="{FF2B5EF4-FFF2-40B4-BE49-F238E27FC236}">
                <a16:creationId xmlns:a16="http://schemas.microsoft.com/office/drawing/2014/main" id="{54FB6A7E-21C7-4BC8-A8C3-554C68C2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Keep the priority unscored until checks are complete</a:t>
            </a:r>
          </a:p>
        </p:txBody>
      </p:sp>
    </p:spTree>
    <p:extLst>
      <p:ext uri="{BB962C8B-B14F-4D97-AF65-F5344CB8AC3E}">
        <p14:creationId xmlns:p14="http://schemas.microsoft.com/office/powerpoint/2010/main" val="757345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47D6D-3F48-462B-8E30-EC0D8208D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03af9f2d24508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A1C5B72B-CB13-4FC9-9667-95C192A1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3" name="//">
            <a:extLst xmlns:a="http://schemas.openxmlformats.org/drawingml/2006/main">
              <a:ext uri="{FF2B5EF4-FFF2-40B4-BE49-F238E27FC236}">
                <a16:creationId xmlns:a16="http://schemas.microsoft.com/office/drawing/2014/main" id="{6834901F-53CB-4DB7-A1C4-8D0DF53C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4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D8EE4F89-8E21-4348-851E-F1F74CC0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5" name="THE REQUIREMENT">
            <a:extLst xmlns:a="http://schemas.openxmlformats.org/drawingml/2006/main">
              <a:ext uri="{FF2B5EF4-FFF2-40B4-BE49-F238E27FC236}">
                <a16:creationId xmlns:a16="http://schemas.microsoft.com/office/drawing/2014/main" id="{4BF73BE7-5351-4E7C-8A8D-EA9ABB43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THE REQUIREMENT</a:t>
            </a:r>
          </a:p>
        </p:txBody>
      </p:sp>
      <p:sp>
        <p:nvSpPr>
          <p:cNvPr id="6" name="A draft the product manager can review">
            <a:extLst xmlns:a="http://schemas.openxmlformats.org/drawingml/2006/main">
              <a:ext uri="{FF2B5EF4-FFF2-40B4-BE49-F238E27FC236}">
                <a16:creationId xmlns:a16="http://schemas.microsoft.com/office/drawing/2014/main" id="{4D3887FF-402E-4510-A22D-533AC66C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A draft the product manager can review</a:t>
            </a:r>
          </a:p>
        </p:txBody>
      </p:sp>
      <p:sp>
        <p:nvSpPr>
          <p:cNvPr id="7" name="08 / 11">
            <a:extLst xmlns:a="http://schemas.openxmlformats.org/drawingml/2006/main">
              <a:ext uri="{FF2B5EF4-FFF2-40B4-BE49-F238E27FC236}">
                <a16:creationId xmlns:a16="http://schemas.microsoft.com/office/drawing/2014/main" id="{BC6A6A3B-A6BB-4E75-BA94-9EF9A9A3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08 / 11</a:t>
            </a:r>
          </a:p>
        </p:txBody>
      </p:sp>
      <p:sp>
        <p:nvSpPr>
          <p:cNvPr id="8" name="Make frequent functions easier to reach">
            <a:extLst xmlns:a="http://schemas.openxmlformats.org/drawingml/2006/main">
              <a:ext uri="{FF2B5EF4-FFF2-40B4-BE49-F238E27FC236}">
                <a16:creationId xmlns:a16="http://schemas.microsoft.com/office/drawing/2014/main" id="{AA3BF907-A406-43C3-81BA-51182EE6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Make frequent functions easier to reach</a:t>
            </a:r>
          </a:p>
        </p:txBody>
      </p:sp>
      <p:sp>
        <p:nvSpPr>
          <p:cNvPr id="9" name="Link the draft to the original customer feedb">
            <a:extLst xmlns:a="http://schemas.openxmlformats.org/drawingml/2006/main">
              <a:ext uri="{FF2B5EF4-FFF2-40B4-BE49-F238E27FC236}">
                <a16:creationId xmlns:a16="http://schemas.microsoft.com/office/drawing/2014/main" id="{C5DC8B65-DC03-4CC8-8922-5BCC2B0E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Link the draft to customer feedback</a:t>
            </a:r>
          </a:p>
        </p:txBody>
      </p:sp>
      <p:sp>
        <p:nvSpPr>
          <p:cNvPr id="10" name="Check the exact trim, current features and re">
            <a:extLst xmlns:a="http://schemas.openxmlformats.org/drawingml/2006/main">
              <a:ext uri="{FF2B5EF4-FFF2-40B4-BE49-F238E27FC236}">
                <a16:creationId xmlns:a16="http://schemas.microsoft.com/office/drawing/2014/main" id="{14450F8D-2083-4FCC-843A-0E1ED8F3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Check the exact trim, features and reach</a:t>
            </a:r>
          </a:p>
        </p:txBody>
      </p:sp>
      <p:sp>
        <p:nvSpPr>
          <p:cNvPr id="11" name="Keep approval with the product manager">
            <a:extLst xmlns:a="http://schemas.openxmlformats.org/drawingml/2006/main">
              <a:ext uri="{FF2B5EF4-FFF2-40B4-BE49-F238E27FC236}">
                <a16:creationId xmlns:a16="http://schemas.microsoft.com/office/drawing/2014/main" id="{8C1D9D0D-F436-40DF-82C1-1EB3EFF3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Keep approval with the product 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A5459-AE34-4DA0-A48F-87A14578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9875"/>
            <a:ext cx="48196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429F9-A794-4DBA-A8A0-86E9F604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9875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4" name="VehicleLense / Review">
            <a:extLst xmlns:a="http://schemas.openxmlformats.org/drawingml/2006/main">
              <a:ext uri="{FF2B5EF4-FFF2-40B4-BE49-F238E27FC236}">
                <a16:creationId xmlns:a16="http://schemas.microsoft.com/office/drawing/2014/main" id="{83520367-D6C4-4652-92CA-6CDF0F26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 / Review</a:t>
            </a:r>
          </a:p>
        </p:txBody>
      </p:sp>
      <p:sp>
        <p:nvSpPr>
          <p:cNvPr id="15" name="Frequently used functions&#10;within easy reach">
            <a:extLst xmlns:a="http://schemas.openxmlformats.org/drawingml/2006/main">
              <a:ext uri="{FF2B5EF4-FFF2-40B4-BE49-F238E27FC236}">
                <a16:creationId xmlns:a16="http://schemas.microsoft.com/office/drawing/2014/main" id="{F6B875A0-4E66-4545-8E6A-44A87DD4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4286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Frequently used functions</a:t>
            </a:r>
          </a:p>
          <a:p xmlns:a="http://schemas.openxmlformats.org/drawingml/2006/main">
            <a:pPr algn="l">
              <a:defRPr sz="22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within easy 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5A37E-41EB-4B40-A5F0-6156E919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0535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C"/>
          </a:solidFill>
          <a:ln xmlns:a="http://schemas.openxmlformats.org/drawingml/2006/main" w="0">
            <a:noFill/>
          </a:ln>
        </p:spPr>
      </p:sp>
      <p:sp>
        <p:nvSpPr>
          <p:cNvPr id="17" name="BMW 5 Series G60&#10;US customer feedback">
            <a:extLst xmlns:a="http://schemas.openxmlformats.org/drawingml/2006/main">
              <a:ext uri="{FF2B5EF4-FFF2-40B4-BE49-F238E27FC236}">
                <a16:creationId xmlns:a16="http://schemas.microsoft.com/office/drawing/2014/main" id="{12335882-353F-44DC-82C0-9FC4A165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05375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5 Series G60</a:t>
            </a:r>
          </a:p>
          <a:p xmlns:a="http://schemas.openxmlformats.org/drawingml/2006/main">
            <a:pPr algn="l">
              <a:defRPr sz="19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US customer feedback</a:t>
            </a:r>
          </a:p>
        </p:txBody>
      </p:sp>
      <p:sp>
        <p:nvSpPr>
          <p:cNvPr id="18" name="Draft for PM review">
            <a:extLst xmlns:a="http://schemas.openxmlformats.org/drawingml/2006/main">
              <a:ext uri="{FF2B5EF4-FFF2-40B4-BE49-F238E27FC236}">
                <a16:creationId xmlns:a16="http://schemas.microsoft.com/office/drawing/2014/main" id="{22854150-AF2F-4D68-BAC0-E35EFD71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959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Draft for PM review</a:t>
            </a:r>
          </a:p>
        </p:txBody>
      </p:sp>
    </p:spTree>
    <p:extLst>
      <p:ext uri="{BB962C8B-B14F-4D97-AF65-F5344CB8AC3E}">
        <p14:creationId xmlns:p14="http://schemas.microsoft.com/office/powerpoint/2010/main" val="14911975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C559E-4693-4D50-AE0C-A4422E193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7ff83ee2448a9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55C3649C-2584-4929-B051-F214D5B3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3" name="//">
            <a:extLst xmlns:a="http://schemas.openxmlformats.org/drawingml/2006/main">
              <a:ext uri="{FF2B5EF4-FFF2-40B4-BE49-F238E27FC236}">
                <a16:creationId xmlns:a16="http://schemas.microsoft.com/office/drawing/2014/main" id="{A477E331-9DB5-4541-9E22-52690D88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4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7D2C8333-4174-4B07-B9B9-37B7E72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5" name="THE DESIGN CONCEPT">
            <a:extLst xmlns:a="http://schemas.openxmlformats.org/drawingml/2006/main">
              <a:ext uri="{FF2B5EF4-FFF2-40B4-BE49-F238E27FC236}">
                <a16:creationId xmlns:a16="http://schemas.microsoft.com/office/drawing/2014/main" id="{7C9305B4-9523-4C86-A04A-6B1A84A1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THE DESIGN CONCEPT</a:t>
            </a:r>
          </a:p>
        </p:txBody>
      </p:sp>
      <p:sp>
        <p:nvSpPr>
          <p:cNvPr id="6" name="Frequent functions on the vehicle home screen">
            <a:extLst xmlns:a="http://schemas.openxmlformats.org/drawingml/2006/main">
              <a:ext uri="{FF2B5EF4-FFF2-40B4-BE49-F238E27FC236}">
                <a16:creationId xmlns:a16="http://schemas.microsoft.com/office/drawing/2014/main" id="{0353BE95-D724-454A-80DC-2B277193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Frequent functions on the vehicle home screen</a:t>
            </a:r>
          </a:p>
        </p:txBody>
      </p:sp>
      <p:sp>
        <p:nvSpPr>
          <p:cNvPr id="7" name="09 / 11">
            <a:extLst xmlns:a="http://schemas.openxmlformats.org/drawingml/2006/main">
              <a:ext uri="{FF2B5EF4-FFF2-40B4-BE49-F238E27FC236}">
                <a16:creationId xmlns:a16="http://schemas.microsoft.com/office/drawing/2014/main" id="{7B8B809E-ACA8-40BD-8B0F-514A3046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09 / 11</a:t>
            </a:r>
          </a:p>
        </p:txBody>
      </p:sp>
      <p:sp>
        <p:nvSpPr>
          <p:cNvPr id="8" name="Today: find functions through several screens">
            <a:extLst xmlns:a="http://schemas.openxmlformats.org/drawingml/2006/main">
              <a:ext uri="{FF2B5EF4-FFF2-40B4-BE49-F238E27FC236}">
                <a16:creationId xmlns:a16="http://schemas.microsoft.com/office/drawing/2014/main" id="{2350E623-B51D-43C9-B297-92D1E345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Today: search through several screens</a:t>
            </a:r>
          </a:p>
        </p:txBody>
      </p:sp>
      <p:sp>
        <p:nvSpPr>
          <p:cNvPr id="9" name="Concept: save frequent actions on the home sc">
            <a:extLst xmlns:a="http://schemas.openxmlformats.org/drawingml/2006/main">
              <a:ext uri="{FF2B5EF4-FFF2-40B4-BE49-F238E27FC236}">
                <a16:creationId xmlns:a16="http://schemas.microsoft.com/office/drawing/2014/main" id="{7B91F7B1-0AEE-49CB-BB1C-8484C71B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Concept: save frequent actions on the home screen</a:t>
            </a:r>
          </a:p>
        </p:txBody>
      </p:sp>
      <p:sp>
        <p:nvSpPr>
          <p:cNvPr id="10" name="Test the concept before treating it as a solu">
            <a:extLst xmlns:a="http://schemas.openxmlformats.org/drawingml/2006/main">
              <a:ext uri="{FF2B5EF4-FFF2-40B4-BE49-F238E27FC236}">
                <a16:creationId xmlns:a16="http://schemas.microsoft.com/office/drawing/2014/main" id="{AB6A4FF0-828A-4382-AAD8-E49CE2B8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25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Test the concept before choosing a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9B63C-AA97-49A2-B1A3-A20259B2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50101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405CC-A4D5-450B-B3D7-38F5CDDC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501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3" name="Vehicle home">
            <a:extLst xmlns:a="http://schemas.openxmlformats.org/drawingml/2006/main">
              <a:ext uri="{FF2B5EF4-FFF2-40B4-BE49-F238E27FC236}">
                <a16:creationId xmlns:a16="http://schemas.microsoft.com/office/drawing/2014/main" id="{EE7E2DF6-B14A-404F-9374-A54883A0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241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 home</a:t>
            </a:r>
          </a:p>
        </p:txBody>
      </p:sp>
      <p:sp>
        <p:nvSpPr>
          <p:cNvPr id="14" name="Frequent functions">
            <a:extLst xmlns:a="http://schemas.openxmlformats.org/drawingml/2006/main">
              <a:ext uri="{FF2B5EF4-FFF2-40B4-BE49-F238E27FC236}">
                <a16:creationId xmlns:a16="http://schemas.microsoft.com/office/drawing/2014/main" id="{AA25C430-2D2A-44ED-95D8-279FCEE3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Frequent 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7951C-90A7-45D6-BB11-184C9A51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71975"/>
            <a:ext cx="21050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F815A-7EDE-4B0F-AD5A-28A2D00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22002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17" name="Saved&#10;action A">
            <a:extLst xmlns:a="http://schemas.openxmlformats.org/drawingml/2006/main">
              <a:ext uri="{FF2B5EF4-FFF2-40B4-BE49-F238E27FC236}">
                <a16:creationId xmlns:a16="http://schemas.microsoft.com/office/drawing/2014/main" id="{78189C4A-1167-46C5-9ECA-FB478CBB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Saved</a:t>
            </a:r>
          </a:p>
          <a:p xmlns:a="http://schemas.openxmlformats.org/drawingml/2006/main">
            <a:pPr algn="l">
              <a:defRPr sz="1875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action A</a:t>
            </a:r>
          </a:p>
        </p:txBody>
      </p:sp>
      <p:sp>
        <p:nvSpPr>
          <p:cNvPr id="18" name="Saved&#10;action B">
            <a:extLst xmlns:a="http://schemas.openxmlformats.org/drawingml/2006/main">
              <a:ext uri="{FF2B5EF4-FFF2-40B4-BE49-F238E27FC236}">
                <a16:creationId xmlns:a16="http://schemas.microsoft.com/office/drawing/2014/main" id="{F909B6B8-28AF-435A-9EC3-F5D5D140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Saved</a:t>
            </a:r>
          </a:p>
          <a:p xmlns:a="http://schemas.openxmlformats.org/drawingml/2006/main">
            <a:pPr algn="l">
              <a:defRPr sz="1875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action B</a:t>
            </a:r>
          </a:p>
        </p:txBody>
      </p:sp>
      <p:sp>
        <p:nvSpPr>
          <p:cNvPr id="19" name="Proposed concept">
            <a:extLst xmlns:a="http://schemas.openxmlformats.org/drawingml/2006/main">
              <a:ext uri="{FF2B5EF4-FFF2-40B4-BE49-F238E27FC236}">
                <a16:creationId xmlns:a16="http://schemas.microsoft.com/office/drawing/2014/main" id="{C1BEE0EF-4C1A-414F-87FC-FB89E0A7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245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Proposed concept</a:t>
            </a:r>
          </a:p>
        </p:txBody>
      </p:sp>
    </p:spTree>
    <p:extLst>
      <p:ext uri="{BB962C8B-B14F-4D97-AF65-F5344CB8AC3E}">
        <p14:creationId xmlns:p14="http://schemas.microsoft.com/office/powerpoint/2010/main" val="1856437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33C71-D085-40D0-83AB-018E233D75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a08b066ea4bd1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2C71CD17-6A14-4BF8-B1C7-4AF6948D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3" name="//">
            <a:extLst xmlns:a="http://schemas.openxmlformats.org/drawingml/2006/main">
              <a:ext uri="{FF2B5EF4-FFF2-40B4-BE49-F238E27FC236}">
                <a16:creationId xmlns:a16="http://schemas.microsoft.com/office/drawing/2014/main" id="{A909A3DE-D1A7-415C-A5BB-3AFEF52F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4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72BF159A-2222-47E4-A17C-D8325B1D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5" name="PROTOTYPE STATUS">
            <a:extLst xmlns:a="http://schemas.openxmlformats.org/drawingml/2006/main">
              <a:ext uri="{FF2B5EF4-FFF2-40B4-BE49-F238E27FC236}">
                <a16:creationId xmlns:a16="http://schemas.microsoft.com/office/drawing/2014/main" id="{18235444-3BC5-48C2-9872-EEBBDF94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PROTOTYPE STATUS</a:t>
            </a:r>
          </a:p>
        </p:txBody>
      </p:sp>
      <p:sp>
        <p:nvSpPr>
          <p:cNvPr id="6" name="The frontend and backend are connected">
            <a:extLst xmlns:a="http://schemas.openxmlformats.org/drawingml/2006/main">
              <a:ext uri="{FF2B5EF4-FFF2-40B4-BE49-F238E27FC236}">
                <a16:creationId xmlns:a16="http://schemas.microsoft.com/office/drawing/2014/main" id="{0E939F90-4E29-4827-9271-631395E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The frontend and backend are connected</a:t>
            </a:r>
          </a:p>
        </p:txBody>
      </p:sp>
      <p:sp>
        <p:nvSpPr>
          <p:cNvPr id="7" name="10 / 11">
            <a:extLst xmlns:a="http://schemas.openxmlformats.org/drawingml/2006/main">
              <a:ext uri="{FF2B5EF4-FFF2-40B4-BE49-F238E27FC236}">
                <a16:creationId xmlns:a16="http://schemas.microsoft.com/office/drawing/2014/main" id="{4CC2CD8D-28D8-4078-8C4A-B657513B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10 / 11</a:t>
            </a:r>
          </a:p>
        </p:txBody>
      </p:sp>
      <p:sp>
        <p:nvSpPr>
          <p:cNvPr id="8" name="Small real-source samples have exercised the ">
            <a:extLst xmlns:a="http://schemas.openxmlformats.org/drawingml/2006/main">
              <a:ext uri="{FF2B5EF4-FFF2-40B4-BE49-F238E27FC236}">
                <a16:creationId xmlns:a16="http://schemas.microsoft.com/office/drawing/2014/main" id="{597360EE-3612-4567-84AD-03E81661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Small real-source samples have exercised analysis</a:t>
            </a:r>
          </a:p>
        </p:txBody>
      </p:sp>
      <p:sp>
        <p:nvSpPr>
          <p:cNvPr id="9" name="The demo UI and G60 vehicle catalog still use">
            <a:extLst xmlns:a="http://schemas.openxmlformats.org/drawingml/2006/main">
              <a:ext uri="{FF2B5EF4-FFF2-40B4-BE49-F238E27FC236}">
                <a16:creationId xmlns:a16="http://schemas.microsoft.com/office/drawing/2014/main" id="{3A70EBCF-F867-4F2D-AE5A-4CE4A0F1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The demo UI and G60 catalog still use synthetic data</a:t>
            </a:r>
          </a:p>
        </p:txBody>
      </p:sp>
      <p:sp>
        <p:nvSpPr>
          <p:cNvPr id="10" name="The next proof needs feedback matched to the ">
            <a:extLst xmlns:a="http://schemas.openxmlformats.org/drawingml/2006/main">
              <a:ext uri="{FF2B5EF4-FFF2-40B4-BE49-F238E27FC236}">
                <a16:creationId xmlns:a16="http://schemas.microsoft.com/office/drawing/2014/main" id="{F379614A-18B4-4EB1-90E0-6D05CD47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The next proof needs a matched vehicle baseline</a:t>
            </a:r>
          </a:p>
        </p:txBody>
      </p:sp>
      <p:sp>
        <p:nvSpPr>
          <p:cNvPr id="11" name="A PM must review and export a recorded decisi">
            <a:extLst xmlns:a="http://schemas.openxmlformats.org/drawingml/2006/main">
              <a:ext uri="{FF2B5EF4-FFF2-40B4-BE49-F238E27FC236}">
                <a16:creationId xmlns:a16="http://schemas.microsoft.com/office/drawing/2014/main" id="{2BCF6574-607D-4146-BB12-117D856B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A PM must review and export a recorded decision</a:t>
            </a:r>
          </a:p>
        </p:txBody>
      </p:sp>
    </p:spTree>
    <p:extLst>
      <p:ext uri="{BB962C8B-B14F-4D97-AF65-F5344CB8AC3E}">
        <p14:creationId xmlns:p14="http://schemas.microsoft.com/office/powerpoint/2010/main" val="15359198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148EE-6990-4C7C-A20D-3FB6F870C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08a42c9a84de4"/>
          <a:srcRect xmlns:a="http://schemas.openxmlformats.org/drawingml/2006/main" l="0" t="0" r="0" b="690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hicleLense">
            <a:extLst xmlns:a="http://schemas.openxmlformats.org/drawingml/2006/main">
              <a:ext uri="{FF2B5EF4-FFF2-40B4-BE49-F238E27FC236}">
                <a16:creationId xmlns:a16="http://schemas.microsoft.com/office/drawing/2014/main" id="{9FB82754-BCEE-4046-8EAD-DF1F6987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131"/>
                </a:solidFill>
                <a:latin typeface="Calibri"/>
                <a:ea typeface="Calibri"/>
                <a:cs typeface="Calibri"/>
              </a:rPr>
              <a:t>VehicleLense</a:t>
            </a:r>
          </a:p>
        </p:txBody>
      </p:sp>
      <p:sp>
        <p:nvSpPr>
          <p:cNvPr id="3" name="//">
            <a:extLst xmlns:a="http://schemas.openxmlformats.org/drawingml/2006/main">
              <a:ext uri="{FF2B5EF4-FFF2-40B4-BE49-F238E27FC236}">
                <a16:creationId xmlns:a16="http://schemas.microsoft.com/office/drawing/2014/main" id="{4395793C-767E-446F-9350-18DC550E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//</a:t>
            </a:r>
          </a:p>
        </p:txBody>
      </p:sp>
      <p:sp>
        <p:nvSpPr>
          <p:cNvPr id="4" name="BMW VEHICLE REQUIREMENTS">
            <a:extLst xmlns:a="http://schemas.openxmlformats.org/drawingml/2006/main">
              <a:ext uri="{FF2B5EF4-FFF2-40B4-BE49-F238E27FC236}">
                <a16:creationId xmlns:a16="http://schemas.microsoft.com/office/drawing/2014/main" id="{40AB9032-2D9B-4401-B2CA-40280049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BMW VEHICLE REQUIREMENTS</a:t>
            </a:r>
          </a:p>
        </p:txBody>
      </p:sp>
      <p:sp>
        <p:nvSpPr>
          <p:cNvPr id="5" name="THE NEXT STEP">
            <a:extLst xmlns:a="http://schemas.openxmlformats.org/drawingml/2006/main">
              <a:ext uri="{FF2B5EF4-FFF2-40B4-BE49-F238E27FC236}">
                <a16:creationId xmlns:a16="http://schemas.microsoft.com/office/drawing/2014/main" id="{A0F1C054-696F-406C-867C-0C8002F4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D5FF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D5FF4"/>
                </a:solidFill>
                <a:latin typeface="Calibri"/>
                <a:ea typeface="Calibri"/>
                <a:cs typeface="Calibri"/>
              </a:rPr>
              <a:t>THE NEXT STEP</a:t>
            </a:r>
          </a:p>
        </p:txBody>
      </p:sp>
      <p:sp>
        <p:nvSpPr>
          <p:cNvPr id="6" name="Validate VehicleLense on one real G60 case">
            <a:extLst xmlns:a="http://schemas.openxmlformats.org/drawingml/2006/main">
              <a:ext uri="{FF2B5EF4-FFF2-40B4-BE49-F238E27FC236}">
                <a16:creationId xmlns:a16="http://schemas.microsoft.com/office/drawing/2014/main" id="{2C85C48A-BD2F-48B0-BB52-84001762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1087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550" b="1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Validate VehicleLense on one real G60 case</a:t>
            </a:r>
          </a:p>
        </p:txBody>
      </p:sp>
      <p:sp>
        <p:nvSpPr>
          <p:cNvPr id="7" name="11 / 11">
            <a:extLst xmlns:a="http://schemas.openxmlformats.org/drawingml/2006/main">
              <a:ext uri="{FF2B5EF4-FFF2-40B4-BE49-F238E27FC236}">
                <a16:creationId xmlns:a16="http://schemas.microsoft.com/office/drawing/2014/main" id="{95A7727E-083C-4791-84D8-E66DFCF5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055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11 / 11</a:t>
            </a:r>
          </a:p>
        </p:txBody>
      </p:sp>
      <p:sp>
        <p:nvSpPr>
          <p:cNvPr id="8" name="Confirm one US vehicle configuration">
            <a:extLst xmlns:a="http://schemas.openxmlformats.org/drawingml/2006/main">
              <a:ext uri="{FF2B5EF4-FFF2-40B4-BE49-F238E27FC236}">
                <a16:creationId xmlns:a16="http://schemas.microsoft.com/office/drawing/2014/main" id="{9562999D-9085-45E2-9DA2-0F1544EC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Bring one product manager to review</a:t>
            </a:r>
          </a:p>
        </p:txBody>
      </p:sp>
      <p:sp>
        <p:nvSpPr>
          <p:cNvPr id="9" name="Trace a finding to its original source">
            <a:extLst xmlns:a="http://schemas.openxmlformats.org/drawingml/2006/main">
              <a:ext uri="{FF2B5EF4-FFF2-40B4-BE49-F238E27FC236}">
                <a16:creationId xmlns:a16="http://schemas.microsoft.com/office/drawing/2014/main" id="{8E166CB1-D100-45BA-B003-538912FA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Confirm one supported vehicle and market</a:t>
            </a:r>
          </a:p>
        </p:txBody>
      </p:sp>
      <p:sp>
        <p:nvSpPr>
          <p:cNvPr id="10" name="Review a candidate requirement with a product">
            <a:extLst xmlns:a="http://schemas.openxmlformats.org/drawingml/2006/main">
              <a:ext uri="{FF2B5EF4-FFF2-40B4-BE49-F238E27FC236}">
                <a16:creationId xmlns:a16="http://schemas.microsoft.com/office/drawing/2014/main" id="{CE44A272-F943-4E99-8E88-BFB01152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Choose one real requirement to challenge</a:t>
            </a:r>
          </a:p>
        </p:txBody>
      </p:sp>
      <p:sp>
        <p:nvSpPr>
          <p:cNvPr id="11" name="Record the decision and export the exact vers">
            <a:extLst xmlns:a="http://schemas.openxmlformats.org/drawingml/2006/main">
              <a:ext uri="{FF2B5EF4-FFF2-40B4-BE49-F238E27FC236}">
                <a16:creationId xmlns:a16="http://schemas.microsoft.com/office/drawing/2014/main" id="{641F4E4F-C991-4CF8-8E5A-65B6420C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062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457200" indent="-431800" algn="l">
              <a:spcAft>
                <a:spcPts val="0"/>
              </a:spcAft>
              <a:buChar char="•"/>
              <a:defRPr sz="2400" b="0">
                <a:solidFill>
                  <a:srgbClr val="172131"/>
                </a:solidFill>
                <a:latin typeface="Calibri"/>
                <a:ea typeface="Calibri"/>
                <a:cs typeface="Calibri"/>
              </a:defRPr>
            </a:pPr>
            <a:r>
              <a:t>Inspect the sources, decision and exported version</a:t>
            </a:r>
          </a:p>
        </p:txBody>
      </p:sp>
    </p:spTree>
    <p:extLst>
      <p:ext uri="{BB962C8B-B14F-4D97-AF65-F5344CB8AC3E}">
        <p14:creationId xmlns:p14="http://schemas.microsoft.com/office/powerpoint/2010/main" val="46963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2026-10-11T07:47:30.3330000Z</dcterms:created>
  <dcterms:modified xsi:type="dcterms:W3CDTF">2026-10-11T07:47:30.3330000Z</dcterms:modified>
</coreProperties>
</file>